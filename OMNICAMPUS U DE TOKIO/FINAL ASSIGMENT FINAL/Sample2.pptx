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20" roundtripDataSignature="AMtx7mhU2KumhIcTesxifUwIZXcRPXjn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396D72-8856-479B-849B-58ECB45CE94D}">
  <a:tblStyle styleId="{97396D72-8856-479B-849B-58ECB45CE9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b82a97786_0_12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9b82a97786_0_127: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b82a97786_0_17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9b82a97786_0_17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821493b04_0_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39821493b04_0_1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b82a97786_0_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9b82a97786_0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9b82a97786_0_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9b82a97786_0_1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9821493b04_0_25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9821493b04_0_25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3" name="Shape 13"/>
        <p:cNvGrpSpPr/>
        <p:nvPr/>
      </p:nvGrpSpPr>
      <p:grpSpPr>
        <a:xfrm>
          <a:off x="0" y="0"/>
          <a:ext cx="0" cy="0"/>
          <a:chOff x="0" y="0"/>
          <a:chExt cx="0" cy="0"/>
        </a:xfrm>
      </p:grpSpPr>
      <p:sp>
        <p:nvSpPr>
          <p:cNvPr id="14" name="Google Shape;14;p11"/>
          <p:cNvSpPr txBox="1"/>
          <p:nvPr>
            <p:ph type="ctrTitle"/>
          </p:nvPr>
        </p:nvSpPr>
        <p:spPr>
          <a:xfrm>
            <a:off x="3956050" y="2429509"/>
            <a:ext cx="4265295" cy="94170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950">
                <a:solidFill>
                  <a:srgbClr val="001F5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1"/>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55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12"/>
          <p:cNvSpPr txBox="1"/>
          <p:nvPr>
            <p:ph type="title"/>
          </p:nvPr>
        </p:nvSpPr>
        <p:spPr>
          <a:xfrm>
            <a:off x="485457" y="328549"/>
            <a:ext cx="10921365" cy="6508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950">
                <a:solidFill>
                  <a:srgbClr val="001F5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2"/>
          <p:cNvSpPr txBox="1"/>
          <p:nvPr>
            <p:ph idx="1" type="body"/>
          </p:nvPr>
        </p:nvSpPr>
        <p:spPr>
          <a:xfrm>
            <a:off x="867410" y="1735772"/>
            <a:ext cx="10461625" cy="38106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55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25" name="Shape 25"/>
        <p:cNvGrpSpPr/>
        <p:nvPr/>
      </p:nvGrpSpPr>
      <p:grpSpPr>
        <a:xfrm>
          <a:off x="0" y="0"/>
          <a:ext cx="0" cy="0"/>
          <a:chOff x="0" y="0"/>
          <a:chExt cx="0" cy="0"/>
        </a:xfrm>
      </p:grpSpPr>
      <p:sp>
        <p:nvSpPr>
          <p:cNvPr id="26" name="Google Shape;26;p13"/>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 name="Google Shape;27;p13"/>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8" name="Google Shape;28;p13"/>
          <p:cNvPicPr preferRelativeResize="0"/>
          <p:nvPr/>
        </p:nvPicPr>
        <p:blipFill rotWithShape="1">
          <a:blip r:embed="rId2">
            <a:alphaModFix/>
          </a:blip>
          <a:srcRect b="0" l="0" r="0" t="0"/>
          <a:stretch/>
        </p:blipFill>
        <p:spPr>
          <a:xfrm>
            <a:off x="2171700" y="6067423"/>
            <a:ext cx="1514475" cy="676273"/>
          </a:xfrm>
          <a:prstGeom prst="rect">
            <a:avLst/>
          </a:prstGeom>
          <a:noFill/>
          <a:ln>
            <a:noFill/>
          </a:ln>
        </p:spPr>
      </p:pic>
      <p:sp>
        <p:nvSpPr>
          <p:cNvPr id="29" name="Google Shape;29;p13"/>
          <p:cNvSpPr/>
          <p:nvPr/>
        </p:nvSpPr>
        <p:spPr>
          <a:xfrm>
            <a:off x="390525" y="1219200"/>
            <a:ext cx="5172075" cy="5572125"/>
          </a:xfrm>
          <a:custGeom>
            <a:rect b="b" l="l" r="r" t="t"/>
            <a:pathLst>
              <a:path extrusionOk="0" h="5572125" w="5172075">
                <a:moveTo>
                  <a:pt x="9525" y="3278124"/>
                </a:moveTo>
                <a:lnTo>
                  <a:pt x="11899" y="3231261"/>
                </a:lnTo>
                <a:lnTo>
                  <a:pt x="18859" y="3185668"/>
                </a:lnTo>
                <a:lnTo>
                  <a:pt x="30175" y="3141726"/>
                </a:lnTo>
                <a:lnTo>
                  <a:pt x="45618" y="3099562"/>
                </a:lnTo>
                <a:lnTo>
                  <a:pt x="64960" y="3059430"/>
                </a:lnTo>
                <a:lnTo>
                  <a:pt x="87972" y="3021584"/>
                </a:lnTo>
                <a:lnTo>
                  <a:pt x="114414" y="2986278"/>
                </a:lnTo>
                <a:lnTo>
                  <a:pt x="144056" y="2953766"/>
                </a:lnTo>
                <a:lnTo>
                  <a:pt x="176669" y="2924175"/>
                </a:lnTo>
                <a:lnTo>
                  <a:pt x="212026" y="2897759"/>
                </a:lnTo>
                <a:lnTo>
                  <a:pt x="249897" y="2874772"/>
                </a:lnTo>
                <a:lnTo>
                  <a:pt x="290055" y="2855468"/>
                </a:lnTo>
                <a:lnTo>
                  <a:pt x="332257" y="2839974"/>
                </a:lnTo>
                <a:lnTo>
                  <a:pt x="376275" y="2828671"/>
                </a:lnTo>
                <a:lnTo>
                  <a:pt x="421881" y="2821813"/>
                </a:lnTo>
                <a:lnTo>
                  <a:pt x="468845" y="2819400"/>
                </a:lnTo>
                <a:lnTo>
                  <a:pt x="4712462" y="2819400"/>
                </a:lnTo>
                <a:lnTo>
                  <a:pt x="4759452" y="2821813"/>
                </a:lnTo>
                <a:lnTo>
                  <a:pt x="4805045" y="2828671"/>
                </a:lnTo>
                <a:lnTo>
                  <a:pt x="4848987" y="2839974"/>
                </a:lnTo>
                <a:lnTo>
                  <a:pt x="4891278" y="2855468"/>
                </a:lnTo>
                <a:lnTo>
                  <a:pt x="4931410" y="2874772"/>
                </a:lnTo>
                <a:lnTo>
                  <a:pt x="4969256" y="2897759"/>
                </a:lnTo>
                <a:lnTo>
                  <a:pt x="5004562" y="2924175"/>
                </a:lnTo>
                <a:lnTo>
                  <a:pt x="5037201" y="2953766"/>
                </a:lnTo>
                <a:lnTo>
                  <a:pt x="5066919" y="2986278"/>
                </a:lnTo>
                <a:lnTo>
                  <a:pt x="5093335" y="3021584"/>
                </a:lnTo>
                <a:lnTo>
                  <a:pt x="5116322" y="3059430"/>
                </a:lnTo>
                <a:lnTo>
                  <a:pt x="5135626" y="3099562"/>
                </a:lnTo>
                <a:lnTo>
                  <a:pt x="5151120" y="3141726"/>
                </a:lnTo>
                <a:lnTo>
                  <a:pt x="5162423" y="3185668"/>
                </a:lnTo>
                <a:lnTo>
                  <a:pt x="5169408" y="3231261"/>
                </a:lnTo>
                <a:lnTo>
                  <a:pt x="5171694" y="3278124"/>
                </a:lnTo>
                <a:lnTo>
                  <a:pt x="5171694" y="5112880"/>
                </a:lnTo>
                <a:lnTo>
                  <a:pt x="5169408" y="5159781"/>
                </a:lnTo>
                <a:lnTo>
                  <a:pt x="5162423" y="5205323"/>
                </a:lnTo>
                <a:lnTo>
                  <a:pt x="5151120" y="5249291"/>
                </a:lnTo>
                <a:lnTo>
                  <a:pt x="5135626" y="5291429"/>
                </a:lnTo>
                <a:lnTo>
                  <a:pt x="5116322" y="5331523"/>
                </a:lnTo>
                <a:lnTo>
                  <a:pt x="5093335" y="5369356"/>
                </a:lnTo>
                <a:lnTo>
                  <a:pt x="5066919" y="5404662"/>
                </a:lnTo>
                <a:lnTo>
                  <a:pt x="5037201" y="5437238"/>
                </a:lnTo>
                <a:lnTo>
                  <a:pt x="5004562" y="5466842"/>
                </a:lnTo>
                <a:lnTo>
                  <a:pt x="4969256" y="5493245"/>
                </a:lnTo>
                <a:lnTo>
                  <a:pt x="4931410" y="5516225"/>
                </a:lnTo>
                <a:lnTo>
                  <a:pt x="4891278" y="5535542"/>
                </a:lnTo>
                <a:lnTo>
                  <a:pt x="4848987" y="5550966"/>
                </a:lnTo>
                <a:lnTo>
                  <a:pt x="4805045" y="5562271"/>
                </a:lnTo>
                <a:lnTo>
                  <a:pt x="4759452" y="5569221"/>
                </a:lnTo>
                <a:lnTo>
                  <a:pt x="4712462" y="5571590"/>
                </a:lnTo>
                <a:lnTo>
                  <a:pt x="468845" y="5571590"/>
                </a:lnTo>
                <a:lnTo>
                  <a:pt x="421881" y="5569221"/>
                </a:lnTo>
                <a:lnTo>
                  <a:pt x="376275" y="5562271"/>
                </a:lnTo>
                <a:lnTo>
                  <a:pt x="332257" y="5550966"/>
                </a:lnTo>
                <a:lnTo>
                  <a:pt x="290055" y="5535542"/>
                </a:lnTo>
                <a:lnTo>
                  <a:pt x="249897" y="5516225"/>
                </a:lnTo>
                <a:lnTo>
                  <a:pt x="212026" y="5493245"/>
                </a:lnTo>
                <a:lnTo>
                  <a:pt x="176669" y="5466842"/>
                </a:lnTo>
                <a:lnTo>
                  <a:pt x="144056" y="5437238"/>
                </a:lnTo>
                <a:lnTo>
                  <a:pt x="114414" y="5404662"/>
                </a:lnTo>
                <a:lnTo>
                  <a:pt x="87972" y="5369356"/>
                </a:lnTo>
                <a:lnTo>
                  <a:pt x="64960" y="5331523"/>
                </a:lnTo>
                <a:lnTo>
                  <a:pt x="45618" y="5291429"/>
                </a:lnTo>
                <a:lnTo>
                  <a:pt x="30175" y="5249291"/>
                </a:lnTo>
                <a:lnTo>
                  <a:pt x="18859" y="5205323"/>
                </a:lnTo>
                <a:lnTo>
                  <a:pt x="11899" y="5159781"/>
                </a:lnTo>
                <a:lnTo>
                  <a:pt x="9525" y="5112880"/>
                </a:lnTo>
                <a:lnTo>
                  <a:pt x="9525" y="3278124"/>
                </a:lnTo>
                <a:close/>
              </a:path>
              <a:path extrusionOk="0" h="5572125" w="5172075">
                <a:moveTo>
                  <a:pt x="0" y="461899"/>
                </a:moveTo>
                <a:lnTo>
                  <a:pt x="2387" y="414654"/>
                </a:lnTo>
                <a:lnTo>
                  <a:pt x="9372" y="368808"/>
                </a:lnTo>
                <a:lnTo>
                  <a:pt x="20751" y="324612"/>
                </a:lnTo>
                <a:lnTo>
                  <a:pt x="36258" y="282066"/>
                </a:lnTo>
                <a:lnTo>
                  <a:pt x="55702" y="241808"/>
                </a:lnTo>
                <a:lnTo>
                  <a:pt x="78816" y="203708"/>
                </a:lnTo>
                <a:lnTo>
                  <a:pt x="105371" y="168148"/>
                </a:lnTo>
                <a:lnTo>
                  <a:pt x="135166" y="135254"/>
                </a:lnTo>
                <a:lnTo>
                  <a:pt x="167932" y="105537"/>
                </a:lnTo>
                <a:lnTo>
                  <a:pt x="203454" y="78866"/>
                </a:lnTo>
                <a:lnTo>
                  <a:pt x="241503" y="55752"/>
                </a:lnTo>
                <a:lnTo>
                  <a:pt x="281851" y="36322"/>
                </a:lnTo>
                <a:lnTo>
                  <a:pt x="324243" y="20827"/>
                </a:lnTo>
                <a:lnTo>
                  <a:pt x="368465" y="9398"/>
                </a:lnTo>
                <a:lnTo>
                  <a:pt x="414286" y="2412"/>
                </a:lnTo>
                <a:lnTo>
                  <a:pt x="461467" y="0"/>
                </a:lnTo>
                <a:lnTo>
                  <a:pt x="4691253" y="0"/>
                </a:lnTo>
                <a:lnTo>
                  <a:pt x="4738370" y="2412"/>
                </a:lnTo>
                <a:lnTo>
                  <a:pt x="4784217" y="9398"/>
                </a:lnTo>
                <a:lnTo>
                  <a:pt x="4828413" y="20827"/>
                </a:lnTo>
                <a:lnTo>
                  <a:pt x="4870831" y="36322"/>
                </a:lnTo>
                <a:lnTo>
                  <a:pt x="4911217" y="55752"/>
                </a:lnTo>
                <a:lnTo>
                  <a:pt x="4949190" y="78866"/>
                </a:lnTo>
                <a:lnTo>
                  <a:pt x="4984750" y="105537"/>
                </a:lnTo>
                <a:lnTo>
                  <a:pt x="5017516" y="135254"/>
                </a:lnTo>
                <a:lnTo>
                  <a:pt x="5047361" y="168148"/>
                </a:lnTo>
                <a:lnTo>
                  <a:pt x="5073904" y="203708"/>
                </a:lnTo>
                <a:lnTo>
                  <a:pt x="5097018" y="241808"/>
                </a:lnTo>
                <a:lnTo>
                  <a:pt x="5116449" y="282066"/>
                </a:lnTo>
                <a:lnTo>
                  <a:pt x="5131943" y="324612"/>
                </a:lnTo>
                <a:lnTo>
                  <a:pt x="5143373" y="368808"/>
                </a:lnTo>
                <a:lnTo>
                  <a:pt x="5150358" y="414654"/>
                </a:lnTo>
                <a:lnTo>
                  <a:pt x="5152644" y="461899"/>
                </a:lnTo>
                <a:lnTo>
                  <a:pt x="5152644" y="2309622"/>
                </a:lnTo>
                <a:lnTo>
                  <a:pt x="5150358" y="2356866"/>
                </a:lnTo>
                <a:lnTo>
                  <a:pt x="5143373" y="2402713"/>
                </a:lnTo>
                <a:lnTo>
                  <a:pt x="5131943" y="2446909"/>
                </a:lnTo>
                <a:lnTo>
                  <a:pt x="5116449" y="2489454"/>
                </a:lnTo>
                <a:lnTo>
                  <a:pt x="5097018" y="2529840"/>
                </a:lnTo>
                <a:lnTo>
                  <a:pt x="5073904" y="2567813"/>
                </a:lnTo>
                <a:lnTo>
                  <a:pt x="5047361" y="2603373"/>
                </a:lnTo>
                <a:lnTo>
                  <a:pt x="5017516" y="2636266"/>
                </a:lnTo>
                <a:lnTo>
                  <a:pt x="4984750" y="2666111"/>
                </a:lnTo>
                <a:lnTo>
                  <a:pt x="4949190" y="2692654"/>
                </a:lnTo>
                <a:lnTo>
                  <a:pt x="4911217" y="2715768"/>
                </a:lnTo>
                <a:lnTo>
                  <a:pt x="4870831" y="2735199"/>
                </a:lnTo>
                <a:lnTo>
                  <a:pt x="4828413" y="2750820"/>
                </a:lnTo>
                <a:lnTo>
                  <a:pt x="4784217" y="2762123"/>
                </a:lnTo>
                <a:lnTo>
                  <a:pt x="4738370" y="2769108"/>
                </a:lnTo>
                <a:lnTo>
                  <a:pt x="4691253" y="2771521"/>
                </a:lnTo>
                <a:lnTo>
                  <a:pt x="461467" y="2771521"/>
                </a:lnTo>
                <a:lnTo>
                  <a:pt x="414286" y="2769108"/>
                </a:lnTo>
                <a:lnTo>
                  <a:pt x="368465" y="2762123"/>
                </a:lnTo>
                <a:lnTo>
                  <a:pt x="324243" y="2750820"/>
                </a:lnTo>
                <a:lnTo>
                  <a:pt x="281851" y="2735199"/>
                </a:lnTo>
                <a:lnTo>
                  <a:pt x="241503" y="2715768"/>
                </a:lnTo>
                <a:lnTo>
                  <a:pt x="203454" y="2692654"/>
                </a:lnTo>
                <a:lnTo>
                  <a:pt x="167932" y="2666111"/>
                </a:lnTo>
                <a:lnTo>
                  <a:pt x="135166" y="2636266"/>
                </a:lnTo>
                <a:lnTo>
                  <a:pt x="105371" y="2603373"/>
                </a:lnTo>
                <a:lnTo>
                  <a:pt x="78816" y="2567813"/>
                </a:lnTo>
                <a:lnTo>
                  <a:pt x="55702" y="2529840"/>
                </a:lnTo>
                <a:lnTo>
                  <a:pt x="36258" y="2489454"/>
                </a:lnTo>
                <a:lnTo>
                  <a:pt x="20751" y="2446909"/>
                </a:lnTo>
                <a:lnTo>
                  <a:pt x="9372" y="2402713"/>
                </a:lnTo>
                <a:lnTo>
                  <a:pt x="2387" y="2356866"/>
                </a:lnTo>
                <a:lnTo>
                  <a:pt x="0" y="2309622"/>
                </a:lnTo>
                <a:lnTo>
                  <a:pt x="0" y="461899"/>
                </a:lnTo>
                <a:close/>
              </a:path>
            </a:pathLst>
          </a:custGeom>
          <a:noFill/>
          <a:ln cap="flat" cmpd="sng" w="19050">
            <a:solidFill>
              <a:srgbClr val="9DC3E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0" name="Google Shape;30;p13"/>
          <p:cNvPicPr preferRelativeResize="0"/>
          <p:nvPr/>
        </p:nvPicPr>
        <p:blipFill rotWithShape="1">
          <a:blip r:embed="rId3">
            <a:alphaModFix/>
          </a:blip>
          <a:srcRect b="0" l="0" r="0" t="0"/>
          <a:stretch/>
        </p:blipFill>
        <p:spPr>
          <a:xfrm>
            <a:off x="4095750" y="1533525"/>
            <a:ext cx="1371600" cy="828675"/>
          </a:xfrm>
          <a:prstGeom prst="rect">
            <a:avLst/>
          </a:prstGeom>
          <a:noFill/>
          <a:ln>
            <a:noFill/>
          </a:ln>
        </p:spPr>
      </p:pic>
      <p:sp>
        <p:nvSpPr>
          <p:cNvPr id="31" name="Google Shape;31;p13"/>
          <p:cNvSpPr txBox="1"/>
          <p:nvPr>
            <p:ph type="title"/>
          </p:nvPr>
        </p:nvSpPr>
        <p:spPr>
          <a:xfrm>
            <a:off x="485457" y="328549"/>
            <a:ext cx="10921365" cy="6508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950">
                <a:solidFill>
                  <a:srgbClr val="001F5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3"/>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13"/>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 name="Shape 37"/>
        <p:cNvGrpSpPr/>
        <p:nvPr/>
      </p:nvGrpSpPr>
      <p:grpSpPr>
        <a:xfrm>
          <a:off x="0" y="0"/>
          <a:ext cx="0" cy="0"/>
          <a:chOff x="0" y="0"/>
          <a:chExt cx="0" cy="0"/>
        </a:xfrm>
      </p:grpSpPr>
      <p:sp>
        <p:nvSpPr>
          <p:cNvPr id="38" name="Google Shape;38;p14"/>
          <p:cNvSpPr txBox="1"/>
          <p:nvPr>
            <p:ph type="title"/>
          </p:nvPr>
        </p:nvSpPr>
        <p:spPr>
          <a:xfrm>
            <a:off x="485457" y="328549"/>
            <a:ext cx="10921365" cy="6508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950">
                <a:solidFill>
                  <a:srgbClr val="001F5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 name="Shape 42"/>
        <p:cNvGrpSpPr/>
        <p:nvPr/>
      </p:nvGrpSpPr>
      <p:grpSpPr>
        <a:xfrm>
          <a:off x="0" y="0"/>
          <a:ext cx="0" cy="0"/>
          <a:chOff x="0" y="0"/>
          <a:chExt cx="0" cy="0"/>
        </a:xfrm>
      </p:grpSpPr>
      <p:sp>
        <p:nvSpPr>
          <p:cNvPr id="43" name="Google Shape;43;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showMasterSp="0">
  <p:cSld name="OBJECT_1">
    <p:bg>
      <p:bgPr>
        <a:solidFill>
          <a:schemeClr val="lt1"/>
        </a:solidFill>
      </p:bgPr>
    </p:bg>
    <p:spTree>
      <p:nvGrpSpPr>
        <p:cNvPr id="46" name="Shape 46"/>
        <p:cNvGrpSpPr/>
        <p:nvPr/>
      </p:nvGrpSpPr>
      <p:grpSpPr>
        <a:xfrm>
          <a:off x="0" y="0"/>
          <a:ext cx="0" cy="0"/>
          <a:chOff x="0" y="0"/>
          <a:chExt cx="0" cy="0"/>
        </a:xfrm>
      </p:grpSpPr>
      <p:sp>
        <p:nvSpPr>
          <p:cNvPr id="47" name="Google Shape;47;g39b82a97786_0_121"/>
          <p:cNvSpPr txBox="1"/>
          <p:nvPr>
            <p:ph type="title"/>
          </p:nvPr>
        </p:nvSpPr>
        <p:spPr>
          <a:xfrm>
            <a:off x="587057" y="350138"/>
            <a:ext cx="2557200" cy="6324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950">
                <a:solidFill>
                  <a:srgbClr val="001F5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g39b82a97786_0_121"/>
          <p:cNvSpPr txBox="1"/>
          <p:nvPr>
            <p:ph idx="1" type="body"/>
          </p:nvPr>
        </p:nvSpPr>
        <p:spPr>
          <a:xfrm>
            <a:off x="640715" y="1236916"/>
            <a:ext cx="10644000" cy="27903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2000">
                <a:solidFill>
                  <a:srgbClr val="001F5F"/>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g39b82a97786_0_121"/>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g39b82a97786_0_121"/>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g39b82a97786_0_121"/>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60" name="Shape 60"/>
        <p:cNvGrpSpPr/>
        <p:nvPr/>
      </p:nvGrpSpPr>
      <p:grpSpPr>
        <a:xfrm>
          <a:off x="0" y="0"/>
          <a:ext cx="0" cy="0"/>
          <a:chOff x="0" y="0"/>
          <a:chExt cx="0" cy="0"/>
        </a:xfrm>
      </p:grpSpPr>
      <p:sp>
        <p:nvSpPr>
          <p:cNvPr id="61" name="Google Shape;61;g39821493b04_0_290"/>
          <p:cNvSpPr txBox="1"/>
          <p:nvPr>
            <p:ph type="ctrTitle"/>
          </p:nvPr>
        </p:nvSpPr>
        <p:spPr>
          <a:xfrm>
            <a:off x="3952875" y="2483611"/>
            <a:ext cx="4286400" cy="939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rgbClr val="00206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g39821493b04_0_290"/>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000">
                <a:solidFill>
                  <a:srgbClr val="002060"/>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g39821493b04_0_290"/>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g39821493b04_0_290"/>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g39821493b04_0_290"/>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6" name="Shape 66"/>
        <p:cNvGrpSpPr/>
        <p:nvPr/>
      </p:nvGrpSpPr>
      <p:grpSpPr>
        <a:xfrm>
          <a:off x="0" y="0"/>
          <a:ext cx="0" cy="0"/>
          <a:chOff x="0" y="0"/>
          <a:chExt cx="0" cy="0"/>
        </a:xfrm>
      </p:grpSpPr>
      <p:sp>
        <p:nvSpPr>
          <p:cNvPr id="67" name="Google Shape;67;g39821493b04_0_296"/>
          <p:cNvSpPr txBox="1"/>
          <p:nvPr>
            <p:ph type="title"/>
          </p:nvPr>
        </p:nvSpPr>
        <p:spPr>
          <a:xfrm>
            <a:off x="485140" y="366267"/>
            <a:ext cx="10958100" cy="6564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rgbClr val="00206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g39821493b04_0_296"/>
          <p:cNvSpPr txBox="1"/>
          <p:nvPr>
            <p:ph idx="1" type="body"/>
          </p:nvPr>
        </p:nvSpPr>
        <p:spPr>
          <a:xfrm>
            <a:off x="640114" y="1254252"/>
            <a:ext cx="10680600" cy="28815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2000">
                <a:solidFill>
                  <a:srgbClr val="002060"/>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9" name="Google Shape;69;g39821493b04_0_296"/>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g39821493b04_0_296"/>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g39821493b04_0_296"/>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72" name="Shape 72"/>
        <p:cNvGrpSpPr/>
        <p:nvPr/>
      </p:nvGrpSpPr>
      <p:grpSpPr>
        <a:xfrm>
          <a:off x="0" y="0"/>
          <a:ext cx="0" cy="0"/>
          <a:chOff x="0" y="0"/>
          <a:chExt cx="0" cy="0"/>
        </a:xfrm>
      </p:grpSpPr>
      <p:sp>
        <p:nvSpPr>
          <p:cNvPr id="73" name="Google Shape;73;g39821493b04_0_302"/>
          <p:cNvSpPr txBox="1"/>
          <p:nvPr>
            <p:ph type="title"/>
          </p:nvPr>
        </p:nvSpPr>
        <p:spPr>
          <a:xfrm>
            <a:off x="485140" y="366267"/>
            <a:ext cx="10958100" cy="6564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rgbClr val="00206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g39821493b04_0_302"/>
          <p:cNvSpPr txBox="1"/>
          <p:nvPr>
            <p:ph idx="1" type="body"/>
          </p:nvPr>
        </p:nvSpPr>
        <p:spPr>
          <a:xfrm>
            <a:off x="609600" y="1577340"/>
            <a:ext cx="5303400" cy="4526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5" name="Google Shape;75;g39821493b04_0_302"/>
          <p:cNvSpPr txBox="1"/>
          <p:nvPr>
            <p:ph idx="2" type="body"/>
          </p:nvPr>
        </p:nvSpPr>
        <p:spPr>
          <a:xfrm>
            <a:off x="6250144" y="1508252"/>
            <a:ext cx="4902300" cy="4474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6" name="Google Shape;76;g39821493b04_0_302"/>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g39821493b04_0_302"/>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g39821493b04_0_302"/>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 name="Shape 79"/>
        <p:cNvGrpSpPr/>
        <p:nvPr/>
      </p:nvGrpSpPr>
      <p:grpSpPr>
        <a:xfrm>
          <a:off x="0" y="0"/>
          <a:ext cx="0" cy="0"/>
          <a:chOff x="0" y="0"/>
          <a:chExt cx="0" cy="0"/>
        </a:xfrm>
      </p:grpSpPr>
      <p:sp>
        <p:nvSpPr>
          <p:cNvPr id="80" name="Google Shape;80;g39821493b04_0_309"/>
          <p:cNvSpPr txBox="1"/>
          <p:nvPr>
            <p:ph type="title"/>
          </p:nvPr>
        </p:nvSpPr>
        <p:spPr>
          <a:xfrm>
            <a:off x="485140" y="366267"/>
            <a:ext cx="10958100" cy="6564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rgbClr val="00206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g39821493b04_0_309"/>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g39821493b04_0_309"/>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g39821493b04_0_309"/>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4" name="Shape 84"/>
        <p:cNvGrpSpPr/>
        <p:nvPr/>
      </p:nvGrpSpPr>
      <p:grpSpPr>
        <a:xfrm>
          <a:off x="0" y="0"/>
          <a:ext cx="0" cy="0"/>
          <a:chOff x="0" y="0"/>
          <a:chExt cx="0" cy="0"/>
        </a:xfrm>
      </p:grpSpPr>
      <p:sp>
        <p:nvSpPr>
          <p:cNvPr id="85" name="Google Shape;85;g39821493b04_0_314"/>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g39821493b04_0_314"/>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g39821493b04_0_314"/>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0"/>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0"/>
          <p:cNvSpPr txBox="1"/>
          <p:nvPr>
            <p:ph type="title"/>
          </p:nvPr>
        </p:nvSpPr>
        <p:spPr>
          <a:xfrm>
            <a:off x="485457" y="328549"/>
            <a:ext cx="10921365" cy="65087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950" u="none" cap="none" strike="noStrike">
                <a:solidFill>
                  <a:srgbClr val="001F5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0"/>
          <p:cNvSpPr txBox="1"/>
          <p:nvPr>
            <p:ph idx="1" type="body"/>
          </p:nvPr>
        </p:nvSpPr>
        <p:spPr>
          <a:xfrm>
            <a:off x="867410" y="1735772"/>
            <a:ext cx="10461625" cy="381063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55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g39821493b04_0_282"/>
          <p:cNvSpPr/>
          <p:nvPr/>
        </p:nvSpPr>
        <p:spPr>
          <a:xfrm>
            <a:off x="0" y="0"/>
            <a:ext cx="12192000" cy="308610"/>
          </a:xfrm>
          <a:custGeom>
            <a:rect b="b" l="l" r="r" t="t"/>
            <a:pathLst>
              <a:path extrusionOk="0" h="308610" w="12192000">
                <a:moveTo>
                  <a:pt x="12192000" y="0"/>
                </a:moveTo>
                <a:lnTo>
                  <a:pt x="0" y="0"/>
                </a:lnTo>
                <a:lnTo>
                  <a:pt x="0" y="308344"/>
                </a:lnTo>
                <a:lnTo>
                  <a:pt x="12192000" y="308344"/>
                </a:lnTo>
                <a:lnTo>
                  <a:pt x="12192000" y="0"/>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 name="Google Shape;54;g39821493b04_0_282"/>
          <p:cNvSpPr/>
          <p:nvPr/>
        </p:nvSpPr>
        <p:spPr>
          <a:xfrm>
            <a:off x="0" y="0"/>
            <a:ext cx="12192000" cy="308610"/>
          </a:xfrm>
          <a:custGeom>
            <a:rect b="b" l="l" r="r" t="t"/>
            <a:pathLst>
              <a:path extrusionOk="0" h="308610" w="12192000">
                <a:moveTo>
                  <a:pt x="0" y="0"/>
                </a:moveTo>
                <a:lnTo>
                  <a:pt x="12192000" y="0"/>
                </a:lnTo>
                <a:lnTo>
                  <a:pt x="12192000" y="308344"/>
                </a:lnTo>
                <a:lnTo>
                  <a:pt x="0" y="308344"/>
                </a:lnTo>
                <a:lnTo>
                  <a:pt x="0" y="0"/>
                </a:lnTo>
                <a:close/>
              </a:path>
            </a:pathLst>
          </a:custGeom>
          <a:noFill/>
          <a:ln cap="flat" cmpd="sng" w="12700">
            <a:solidFill>
              <a:srgbClr val="2F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 name="Google Shape;55;g39821493b04_0_282"/>
          <p:cNvSpPr txBox="1"/>
          <p:nvPr>
            <p:ph type="title"/>
          </p:nvPr>
        </p:nvSpPr>
        <p:spPr>
          <a:xfrm>
            <a:off x="485140" y="366267"/>
            <a:ext cx="10958100" cy="656400"/>
          </a:xfrm>
          <a:prstGeom prst="rect">
            <a:avLst/>
          </a:prstGeom>
          <a:noFill/>
          <a:ln>
            <a:noFill/>
          </a:ln>
        </p:spPr>
        <p:txBody>
          <a:bodyPr anchorCtr="0" anchor="t" bIns="0" lIns="0" spcFirstLastPara="1" rIns="0" wrap="square" tIns="0">
            <a:spAutoFit/>
          </a:bodyPr>
          <a:lstStyle>
            <a:lvl1pPr lvl="0" marR="0" algn="l">
              <a:spcBef>
                <a:spcPts val="0"/>
              </a:spcBef>
              <a:spcAft>
                <a:spcPts val="0"/>
              </a:spcAft>
              <a:buSzPts val="1400"/>
              <a:buNone/>
              <a:defRPr b="0" i="0" sz="40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6" name="Google Shape;56;g39821493b04_0_282"/>
          <p:cNvSpPr txBox="1"/>
          <p:nvPr>
            <p:ph idx="1" type="body"/>
          </p:nvPr>
        </p:nvSpPr>
        <p:spPr>
          <a:xfrm>
            <a:off x="640114" y="1254252"/>
            <a:ext cx="10680600" cy="2881500"/>
          </a:xfrm>
          <a:prstGeom prst="rect">
            <a:avLst/>
          </a:prstGeom>
          <a:noFill/>
          <a:ln>
            <a:noFill/>
          </a:ln>
        </p:spPr>
        <p:txBody>
          <a:bodyPr anchorCtr="0" anchor="t" bIns="0" lIns="0" spcFirstLastPara="1" rIns="0" wrap="square" tIns="0">
            <a:spAutoFit/>
          </a:bodyPr>
          <a:lstStyle>
            <a:lvl1pPr indent="-228600" lvl="0" marL="457200" marR="0" algn="l">
              <a:spcBef>
                <a:spcPts val="0"/>
              </a:spcBef>
              <a:spcAft>
                <a:spcPts val="0"/>
              </a:spcAft>
              <a:buSzPts val="1400"/>
              <a:buNone/>
              <a:defRPr b="1" i="0" sz="2000" u="none" cap="none" strike="noStrike">
                <a:solidFill>
                  <a:srgbClr val="002060"/>
                </a:solidFill>
                <a:latin typeface="Arial"/>
                <a:ea typeface="Arial"/>
                <a:cs typeface="Arial"/>
                <a:sym typeface="Arial"/>
              </a:defRPr>
            </a:lvl1pPr>
            <a:lvl2pPr indent="-228600" lvl="1" marL="914400" marR="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57" name="Google Shape;57;g39821493b04_0_282"/>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8" name="Google Shape;58;g39821493b04_0_282"/>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g39821493b04_0_282"/>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8.cao.go.jp/kisei-kaikaku/suishin/meeting/wg/toushi/20190411/190411toushi05.pdf" TargetMode="External"/><Relationship Id="rId4" Type="http://schemas.openxmlformats.org/officeDocument/2006/relationships/hyperlink" Target="https://www8.cao.go.jp/kisei-kaikaku/suishin/meeting/wg/toushi/20190411/190411toushi05.pdf" TargetMode="External"/><Relationship Id="rId5" Type="http://schemas.openxmlformats.org/officeDocument/2006/relationships/hyperlink" Target="http://www.homecredit.net/~/media/Files/H/Home-Credit-" TargetMode="External"/><Relationship Id="rId6" Type="http://schemas.openxmlformats.org/officeDocument/2006/relationships/hyperlink" Target="http://www.kaggle.com/c/home-credit-default-risk/overview" TargetMode="External"/></Relationships>
</file>

<file path=ppt/slides/_rels/slide3.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19.png"/><Relationship Id="rId13" Type="http://schemas.openxmlformats.org/officeDocument/2006/relationships/image" Target="../media/image6.png"/><Relationship Id="rId12"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2.png"/><Relationship Id="rId1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3.png"/><Relationship Id="rId8"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18.jpg"/><Relationship Id="rId5"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5.jpg"/><Relationship Id="rId6" Type="http://schemas.openxmlformats.org/officeDocument/2006/relationships/image" Target="../media/image2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 name="Shape 91"/>
        <p:cNvGrpSpPr/>
        <p:nvPr/>
      </p:nvGrpSpPr>
      <p:grpSpPr>
        <a:xfrm>
          <a:off x="0" y="0"/>
          <a:ext cx="0" cy="0"/>
          <a:chOff x="0" y="0"/>
          <a:chExt cx="0" cy="0"/>
        </a:xfrm>
      </p:grpSpPr>
      <p:sp>
        <p:nvSpPr>
          <p:cNvPr id="92" name="Google Shape;92;g39b82a97786_0_127"/>
          <p:cNvSpPr txBox="1"/>
          <p:nvPr>
            <p:ph type="ctrTitle"/>
          </p:nvPr>
        </p:nvSpPr>
        <p:spPr>
          <a:xfrm>
            <a:off x="3952875" y="2483600"/>
            <a:ext cx="5173800" cy="6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GCI Final Project</a:t>
            </a:r>
            <a:endParaRPr/>
          </a:p>
        </p:txBody>
      </p:sp>
      <p:sp>
        <p:nvSpPr>
          <p:cNvPr id="93" name="Google Shape;93;g39b82a97786_0_127"/>
          <p:cNvSpPr txBox="1"/>
          <p:nvPr/>
        </p:nvSpPr>
        <p:spPr>
          <a:xfrm>
            <a:off x="1053150" y="3646500"/>
            <a:ext cx="100857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solidFill>
                  <a:srgbClr val="002060"/>
                </a:solidFill>
                <a:latin typeface="Arial"/>
                <a:ea typeface="Arial"/>
                <a:cs typeface="Arial"/>
                <a:sym typeface="Arial"/>
              </a:rPr>
              <a:t>〜</a:t>
            </a:r>
            <a:r>
              <a:rPr lang="en-US" sz="2000">
                <a:solidFill>
                  <a:schemeClr val="dk1"/>
                </a:solidFill>
              </a:rPr>
              <a:t>Delivering AI Technology to HomeCredit, Which Has Entered the Japanese Market</a:t>
            </a:r>
            <a:r>
              <a:rPr lang="en-US" sz="2000">
                <a:solidFill>
                  <a:srgbClr val="002060"/>
                </a:solidFill>
                <a:latin typeface="Arial"/>
                <a:ea typeface="Arial"/>
                <a:cs typeface="Arial"/>
                <a:sym typeface="Arial"/>
              </a:rPr>
              <a:t>〜</a:t>
            </a:r>
            <a:endParaRPr sz="2000">
              <a:latin typeface="Arial"/>
              <a:ea typeface="Arial"/>
              <a:cs typeface="Arial"/>
              <a:sym typeface="Arial"/>
            </a:endParaRPr>
          </a:p>
        </p:txBody>
      </p:sp>
      <p:grpSp>
        <p:nvGrpSpPr>
          <p:cNvPr id="94" name="Google Shape;94;g39b82a97786_0_127"/>
          <p:cNvGrpSpPr/>
          <p:nvPr/>
        </p:nvGrpSpPr>
        <p:grpSpPr>
          <a:xfrm>
            <a:off x="0" y="0"/>
            <a:ext cx="12192000" cy="308610"/>
            <a:chOff x="0" y="0"/>
            <a:chExt cx="12192000" cy="308610"/>
          </a:xfrm>
        </p:grpSpPr>
        <p:sp>
          <p:nvSpPr>
            <p:cNvPr id="95" name="Google Shape;95;g39b82a97786_0_127"/>
            <p:cNvSpPr/>
            <p:nvPr/>
          </p:nvSpPr>
          <p:spPr>
            <a:xfrm>
              <a:off x="0" y="0"/>
              <a:ext cx="12192000" cy="308610"/>
            </a:xfrm>
            <a:custGeom>
              <a:rect b="b" l="l" r="r" t="t"/>
              <a:pathLst>
                <a:path extrusionOk="0" h="308610" w="12192000">
                  <a:moveTo>
                    <a:pt x="12192000" y="0"/>
                  </a:moveTo>
                  <a:lnTo>
                    <a:pt x="0" y="0"/>
                  </a:lnTo>
                  <a:lnTo>
                    <a:pt x="0" y="308344"/>
                  </a:lnTo>
                  <a:lnTo>
                    <a:pt x="12192000" y="308344"/>
                  </a:lnTo>
                  <a:lnTo>
                    <a:pt x="12192000" y="0"/>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6" name="Google Shape;96;g39b82a97786_0_127"/>
            <p:cNvSpPr/>
            <p:nvPr/>
          </p:nvSpPr>
          <p:spPr>
            <a:xfrm>
              <a:off x="0" y="0"/>
              <a:ext cx="12192000" cy="308610"/>
            </a:xfrm>
            <a:custGeom>
              <a:rect b="b" l="l" r="r" t="t"/>
              <a:pathLst>
                <a:path extrusionOk="0" h="308610" w="12192000">
                  <a:moveTo>
                    <a:pt x="0" y="0"/>
                  </a:moveTo>
                  <a:lnTo>
                    <a:pt x="12192000" y="0"/>
                  </a:lnTo>
                  <a:lnTo>
                    <a:pt x="12192000" y="308344"/>
                  </a:lnTo>
                  <a:lnTo>
                    <a:pt x="0" y="308344"/>
                  </a:lnTo>
                  <a:lnTo>
                    <a:pt x="0" y="0"/>
                  </a:lnTo>
                  <a:close/>
                </a:path>
              </a:pathLst>
            </a:custGeom>
            <a:noFill/>
            <a:ln cap="flat" cmpd="sng" w="12700">
              <a:solidFill>
                <a:srgbClr val="2F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9b82a97786_0_171"/>
          <p:cNvSpPr txBox="1"/>
          <p:nvPr>
            <p:ph type="title"/>
          </p:nvPr>
        </p:nvSpPr>
        <p:spPr>
          <a:xfrm>
            <a:off x="586757" y="384550"/>
            <a:ext cx="3573600" cy="6207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a:t>Introduction</a:t>
            </a:r>
            <a:endParaRPr/>
          </a:p>
        </p:txBody>
      </p:sp>
      <p:sp>
        <p:nvSpPr>
          <p:cNvPr id="102" name="Google Shape;102;g39b82a97786_0_171"/>
          <p:cNvSpPr/>
          <p:nvPr/>
        </p:nvSpPr>
        <p:spPr>
          <a:xfrm>
            <a:off x="0" y="1095152"/>
            <a:ext cx="12192000" cy="0"/>
          </a:xfrm>
          <a:custGeom>
            <a:rect b="b" l="l" r="r" t="t"/>
            <a:pathLst>
              <a:path extrusionOk="0" h="120000" w="12192000">
                <a:moveTo>
                  <a:pt x="0" y="0"/>
                </a:moveTo>
                <a:lnTo>
                  <a:pt x="12192000"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3" name="Google Shape;103;g39b82a97786_0_171"/>
          <p:cNvSpPr txBox="1"/>
          <p:nvPr/>
        </p:nvSpPr>
        <p:spPr>
          <a:xfrm>
            <a:off x="866850" y="1740925"/>
            <a:ext cx="10399500" cy="4235400"/>
          </a:xfrm>
          <a:prstGeom prst="rect">
            <a:avLst/>
          </a:prstGeom>
          <a:noFill/>
          <a:ln>
            <a:noFill/>
          </a:ln>
        </p:spPr>
        <p:txBody>
          <a:bodyPr anchorCtr="0" anchor="t" bIns="0" lIns="0" spcFirstLastPara="1" rIns="0" wrap="square" tIns="43175">
            <a:spAutoFit/>
          </a:bodyPr>
          <a:lstStyle/>
          <a:p>
            <a:pPr indent="-234950" lvl="0" marL="241300" marR="135255" rtl="0" algn="just">
              <a:lnSpc>
                <a:spcPct val="106250"/>
              </a:lnSpc>
              <a:spcBef>
                <a:spcPts val="0"/>
              </a:spcBef>
              <a:spcAft>
                <a:spcPts val="0"/>
              </a:spcAft>
              <a:buSzPts val="1700"/>
              <a:buFont typeface="Arial"/>
              <a:buChar char="•"/>
            </a:pPr>
            <a:r>
              <a:rPr lang="en-US" sz="1500">
                <a:solidFill>
                  <a:schemeClr val="dk1"/>
                </a:solidFill>
              </a:rPr>
              <a:t>In this business proposal, we assume that HomeCredit has entered Japan since 2018 and is seeking for new business opportunities. Based on that, we set several assumptions to smoothly carry out the business plan.</a:t>
            </a:r>
            <a:endParaRPr sz="1500">
              <a:latin typeface="Arial"/>
              <a:ea typeface="Arial"/>
              <a:cs typeface="Arial"/>
              <a:sym typeface="Arial"/>
            </a:endParaRPr>
          </a:p>
          <a:p>
            <a:pPr indent="-227328" lvl="1" marL="696595" marR="5080" rtl="0" algn="just">
              <a:lnSpc>
                <a:spcPct val="89500"/>
              </a:lnSpc>
              <a:spcBef>
                <a:spcPts val="525"/>
              </a:spcBef>
              <a:spcAft>
                <a:spcPts val="0"/>
              </a:spcAft>
              <a:buSzPts val="1400"/>
              <a:buFont typeface="Arial"/>
              <a:buChar char="•"/>
            </a:pPr>
            <a:r>
              <a:rPr lang="en-US">
                <a:solidFill>
                  <a:schemeClr val="dk1"/>
                </a:solidFill>
              </a:rPr>
              <a:t>The absolute values of the monetary amounts used in the slides </a:t>
            </a:r>
            <a:r>
              <a:rPr lang="en-US">
                <a:solidFill>
                  <a:schemeClr val="dk1"/>
                </a:solidFill>
              </a:rPr>
              <a:t>remain the same as in the original data</a:t>
            </a:r>
            <a:r>
              <a:rPr lang="en-US">
                <a:solidFill>
                  <a:schemeClr val="dk1"/>
                </a:solidFill>
              </a:rPr>
              <a:t>, but we proceed with the discussion using Japanese yen for all currency units.</a:t>
            </a:r>
            <a:r>
              <a:rPr lang="en-US"/>
              <a:t> </a:t>
            </a:r>
            <a:br>
              <a:rPr lang="en-US"/>
            </a:br>
            <a:r>
              <a:rPr lang="en-US">
                <a:solidFill>
                  <a:schemeClr val="dk1"/>
                </a:solidFill>
              </a:rPr>
              <a:t>Therefore, when calculating actual amounts, conversion from Japanese yen to the true currency is necessary; however, ratios between amounts do not change, so we adopted the above assumptions. The quotation is also made under this process, so you can obtain the true values by converting (multiplying) as needed.</a:t>
            </a:r>
            <a:endParaRPr>
              <a:latin typeface="Arial"/>
              <a:ea typeface="Arial"/>
              <a:cs typeface="Arial"/>
              <a:sym typeface="Arial"/>
            </a:endParaRPr>
          </a:p>
          <a:p>
            <a:pPr indent="-227328" lvl="1" marL="696595" marR="1609725" rtl="0" algn="just">
              <a:lnSpc>
                <a:spcPct val="115000"/>
              </a:lnSpc>
              <a:spcBef>
                <a:spcPts val="425"/>
              </a:spcBef>
              <a:spcAft>
                <a:spcPts val="0"/>
              </a:spcAft>
              <a:buSzPts val="1400"/>
              <a:buFont typeface="Arial"/>
              <a:buChar char="•"/>
            </a:pPr>
            <a:r>
              <a:rPr lang="en-US">
                <a:solidFill>
                  <a:schemeClr val="dk1"/>
                </a:solidFill>
              </a:rPr>
              <a:t>When predicting interest, we needed features representing interest rate and repayment period, but these were not in application_train, so we used previous_application to predict features representing the repayment period and used those to compute interest.</a:t>
            </a:r>
            <a:endParaRPr sz="1600">
              <a:latin typeface="Arial"/>
              <a:ea typeface="Arial"/>
              <a:cs typeface="Arial"/>
              <a:sym typeface="Arial"/>
            </a:endParaRPr>
          </a:p>
          <a:p>
            <a:pPr indent="-230503" lvl="0" marL="243203" rtl="0" algn="just">
              <a:lnSpc>
                <a:spcPct val="100000"/>
              </a:lnSpc>
              <a:spcBef>
                <a:spcPts val="885"/>
              </a:spcBef>
              <a:spcAft>
                <a:spcPts val="0"/>
              </a:spcAft>
              <a:buSzPts val="1600"/>
              <a:buFont typeface="Arial"/>
              <a:buChar char="•"/>
            </a:pPr>
            <a:r>
              <a:rPr lang="en-US" sz="1600"/>
              <a:t>Main References</a:t>
            </a:r>
            <a:r>
              <a:rPr lang="en-US" sz="1600">
                <a:latin typeface="Arial"/>
                <a:ea typeface="Arial"/>
                <a:cs typeface="Arial"/>
                <a:sym typeface="Arial"/>
              </a:rPr>
              <a:t>：</a:t>
            </a:r>
            <a:endParaRPr sz="1600">
              <a:latin typeface="Arial"/>
              <a:ea typeface="Arial"/>
              <a:cs typeface="Arial"/>
              <a:sym typeface="Arial"/>
            </a:endParaRPr>
          </a:p>
          <a:p>
            <a:pPr indent="444500" lvl="0" marL="12700" marR="1235710" rtl="0" algn="l">
              <a:lnSpc>
                <a:spcPct val="106428"/>
              </a:lnSpc>
              <a:spcBef>
                <a:spcPts val="985"/>
              </a:spcBef>
              <a:spcAft>
                <a:spcPts val="0"/>
              </a:spcAft>
              <a:buNone/>
            </a:pPr>
            <a:r>
              <a:rPr lang="en-US" sz="1200">
                <a:solidFill>
                  <a:schemeClr val="dk1"/>
                </a:solidFill>
              </a:rPr>
              <a:t>“Current State of the Money Lending Industry and the Actual Conditions of Funding for Businesses” (Japan Moneylenders Association)</a:t>
            </a:r>
            <a:r>
              <a:rPr lang="en-US" sz="1200">
                <a:solidFill>
                  <a:schemeClr val="dk1"/>
                </a:solidFill>
                <a:uFill>
                  <a:noFill/>
                </a:uFill>
                <a:hlinkClick r:id="rId3">
                  <a:extLst>
                    <a:ext uri="{A12FA001-AC4F-418D-AE19-62706E023703}">
                      <ahyp:hlinkClr val="tx"/>
                    </a:ext>
                  </a:extLst>
                </a:hlinkClick>
              </a:rPr>
              <a:t> </a:t>
            </a:r>
            <a:r>
              <a:rPr lang="en-US" u="sng">
                <a:solidFill>
                  <a:srgbClr val="0563C1"/>
                </a:solidFill>
              </a:rPr>
              <a:t>	</a:t>
            </a:r>
            <a:r>
              <a:rPr lang="en-US" sz="1100" u="sng">
                <a:solidFill>
                  <a:srgbClr val="1155CC"/>
                </a:solidFill>
                <a:hlinkClick r:id="rId4">
                  <a:extLst>
                    <a:ext uri="{A12FA001-AC4F-418D-AE19-62706E023703}">
                      <ahyp:hlinkClr val="tx"/>
                    </a:ext>
                  </a:extLst>
                </a:hlinkClick>
              </a:rPr>
              <a:t>https://www8.cao.go.jp/kisei-kaikaku/suishin/meeting/wg/toushi/20190411/190411toushi05.pdf</a:t>
            </a:r>
            <a:endParaRPr sz="1400">
              <a:latin typeface="Arial"/>
              <a:ea typeface="Arial"/>
              <a:cs typeface="Arial"/>
              <a:sym typeface="Arial"/>
            </a:endParaRPr>
          </a:p>
          <a:p>
            <a:pPr indent="0" lvl="0" marL="12700" marR="1016635" rtl="0" algn="l">
              <a:lnSpc>
                <a:spcPct val="115000"/>
              </a:lnSpc>
              <a:spcBef>
                <a:spcPts val="910"/>
              </a:spcBef>
              <a:spcAft>
                <a:spcPts val="0"/>
              </a:spcAft>
              <a:buNone/>
            </a:pPr>
            <a:r>
              <a:rPr lang="en-US" sz="1400">
                <a:latin typeface="Arial"/>
                <a:ea typeface="Arial"/>
                <a:cs typeface="Arial"/>
                <a:sym typeface="Arial"/>
              </a:rPr>
              <a:t>「Home-credit-annual-report-2017」（HomeCredit）</a:t>
            </a:r>
            <a:r>
              <a:rPr lang="en-US" sz="1400" u="sng">
                <a:solidFill>
                  <a:srgbClr val="0563C1"/>
                </a:solidFill>
                <a:latin typeface="Arial"/>
                <a:ea typeface="Arial"/>
                <a:cs typeface="Arial"/>
                <a:sym typeface="Arial"/>
              </a:rPr>
              <a:t>https://</a:t>
            </a:r>
            <a:r>
              <a:rPr lang="en-US" sz="1400" u="sng">
                <a:solidFill>
                  <a:srgbClr val="0563C1"/>
                </a:solidFill>
                <a:latin typeface="Arial"/>
                <a:ea typeface="Arial"/>
                <a:cs typeface="Arial"/>
                <a:sym typeface="Arial"/>
                <a:hlinkClick r:id="rId5">
                  <a:extLst>
                    <a:ext uri="{A12FA001-AC4F-418D-AE19-62706E023703}">
                      <ahyp:hlinkClr val="tx"/>
                    </a:ext>
                  </a:extLst>
                </a:hlinkClick>
              </a:rPr>
              <a:t>www.homecredit.net/~/media/Files/H/Home-Credit-</a:t>
            </a:r>
            <a:r>
              <a:rPr lang="en-US" sz="1400">
                <a:solidFill>
                  <a:srgbClr val="0563C1"/>
                </a:solidFill>
                <a:latin typeface="Arial"/>
                <a:ea typeface="Arial"/>
                <a:cs typeface="Arial"/>
                <a:sym typeface="Arial"/>
              </a:rPr>
              <a:t> </a:t>
            </a:r>
            <a:r>
              <a:rPr lang="en-US" sz="1400" u="sng">
                <a:solidFill>
                  <a:srgbClr val="0563C1"/>
                </a:solidFill>
                <a:latin typeface="Arial"/>
                <a:ea typeface="Arial"/>
                <a:cs typeface="Arial"/>
                <a:sym typeface="Arial"/>
              </a:rPr>
              <a:t>Group/documents/reports/2018/home-credit-annual-report-2017.pdf</a:t>
            </a:r>
            <a:endParaRPr sz="1400">
              <a:latin typeface="Arial"/>
              <a:ea typeface="Arial"/>
              <a:cs typeface="Arial"/>
              <a:sym typeface="Arial"/>
            </a:endParaRPr>
          </a:p>
          <a:p>
            <a:pPr indent="0" lvl="0" marL="12700" rtl="0" algn="l">
              <a:lnSpc>
                <a:spcPct val="100000"/>
              </a:lnSpc>
              <a:spcBef>
                <a:spcPts val="770"/>
              </a:spcBef>
              <a:spcAft>
                <a:spcPts val="0"/>
              </a:spcAft>
              <a:buNone/>
            </a:pPr>
            <a:r>
              <a:rPr lang="en-US" sz="1400">
                <a:latin typeface="Arial"/>
                <a:ea typeface="Arial"/>
                <a:cs typeface="Arial"/>
                <a:sym typeface="Arial"/>
              </a:rPr>
              <a:t>「Home Credit Default Risk」（Kaggle）</a:t>
            </a:r>
            <a:r>
              <a:rPr lang="en-US" sz="1400" u="sng">
                <a:solidFill>
                  <a:srgbClr val="0563C1"/>
                </a:solidFill>
                <a:latin typeface="Arial"/>
                <a:ea typeface="Arial"/>
                <a:cs typeface="Arial"/>
                <a:sym typeface="Arial"/>
              </a:rPr>
              <a:t>https://</a:t>
            </a:r>
            <a:r>
              <a:rPr lang="en-US" sz="1400" u="sng">
                <a:solidFill>
                  <a:srgbClr val="0563C1"/>
                </a:solidFill>
                <a:latin typeface="Arial"/>
                <a:ea typeface="Arial"/>
                <a:cs typeface="Arial"/>
                <a:sym typeface="Arial"/>
                <a:hlinkClick r:id="rId6">
                  <a:extLst>
                    <a:ext uri="{A12FA001-AC4F-418D-AE19-62706E023703}">
                      <ahyp:hlinkClr val="tx"/>
                    </a:ext>
                  </a:extLst>
                </a:hlinkClick>
              </a:rPr>
              <a:t>www.kaggle.com/c/home-credit-default-risk/overview</a:t>
            </a:r>
            <a:endParaRPr sz="1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grpSp>
        <p:nvGrpSpPr>
          <p:cNvPr id="108" name="Google Shape;108;p3"/>
          <p:cNvGrpSpPr/>
          <p:nvPr/>
        </p:nvGrpSpPr>
        <p:grpSpPr>
          <a:xfrm>
            <a:off x="6272966" y="1457325"/>
            <a:ext cx="3718759" cy="533400"/>
            <a:chOff x="6272966" y="1457325"/>
            <a:chExt cx="3718759" cy="533400"/>
          </a:xfrm>
        </p:grpSpPr>
        <p:pic>
          <p:nvPicPr>
            <p:cNvPr id="109" name="Google Shape;109;p3"/>
            <p:cNvPicPr preferRelativeResize="0"/>
            <p:nvPr/>
          </p:nvPicPr>
          <p:blipFill rotWithShape="1">
            <a:blip r:embed="rId3">
              <a:alphaModFix/>
            </a:blip>
            <a:srcRect b="0" l="0" r="0" t="0"/>
            <a:stretch/>
          </p:blipFill>
          <p:spPr>
            <a:xfrm>
              <a:off x="6272966" y="1556562"/>
              <a:ext cx="1803571" cy="235688"/>
            </a:xfrm>
            <a:prstGeom prst="rect">
              <a:avLst/>
            </a:prstGeom>
            <a:noFill/>
            <a:ln>
              <a:noFill/>
            </a:ln>
          </p:spPr>
        </p:pic>
        <p:pic>
          <p:nvPicPr>
            <p:cNvPr id="110" name="Google Shape;110;p3"/>
            <p:cNvPicPr preferRelativeResize="0"/>
            <p:nvPr/>
          </p:nvPicPr>
          <p:blipFill rotWithShape="1">
            <a:blip r:embed="rId4">
              <a:alphaModFix/>
            </a:blip>
            <a:srcRect b="0" l="0" r="0" t="0"/>
            <a:stretch/>
          </p:blipFill>
          <p:spPr>
            <a:xfrm>
              <a:off x="7943850" y="1457325"/>
              <a:ext cx="447675" cy="533400"/>
            </a:xfrm>
            <a:prstGeom prst="rect">
              <a:avLst/>
            </a:prstGeom>
            <a:noFill/>
            <a:ln>
              <a:noFill/>
            </a:ln>
          </p:spPr>
        </p:pic>
        <p:pic>
          <p:nvPicPr>
            <p:cNvPr id="111" name="Google Shape;111;p3"/>
            <p:cNvPicPr preferRelativeResize="0"/>
            <p:nvPr/>
          </p:nvPicPr>
          <p:blipFill rotWithShape="1">
            <a:blip r:embed="rId5">
              <a:alphaModFix/>
            </a:blip>
            <a:srcRect b="0" l="0" r="0" t="0"/>
            <a:stretch/>
          </p:blipFill>
          <p:spPr>
            <a:xfrm>
              <a:off x="8067675" y="1457325"/>
              <a:ext cx="1924050" cy="533400"/>
            </a:xfrm>
            <a:prstGeom prst="rect">
              <a:avLst/>
            </a:prstGeom>
            <a:noFill/>
            <a:ln>
              <a:noFill/>
            </a:ln>
          </p:spPr>
        </p:pic>
      </p:grpSp>
      <p:grpSp>
        <p:nvGrpSpPr>
          <p:cNvPr id="112" name="Google Shape;112;p3"/>
          <p:cNvGrpSpPr/>
          <p:nvPr/>
        </p:nvGrpSpPr>
        <p:grpSpPr>
          <a:xfrm>
            <a:off x="6562725" y="4752975"/>
            <a:ext cx="2728341" cy="1652016"/>
            <a:chOff x="6562725" y="4752975"/>
            <a:chExt cx="2728341" cy="1652016"/>
          </a:xfrm>
        </p:grpSpPr>
        <p:pic>
          <p:nvPicPr>
            <p:cNvPr id="113" name="Google Shape;113;p3"/>
            <p:cNvPicPr preferRelativeResize="0"/>
            <p:nvPr/>
          </p:nvPicPr>
          <p:blipFill rotWithShape="1">
            <a:blip r:embed="rId6">
              <a:alphaModFix/>
            </a:blip>
            <a:srcRect b="0" l="0" r="0" t="0"/>
            <a:stretch/>
          </p:blipFill>
          <p:spPr>
            <a:xfrm>
              <a:off x="8239125" y="5353050"/>
              <a:ext cx="1047750" cy="1047750"/>
            </a:xfrm>
            <a:prstGeom prst="rect">
              <a:avLst/>
            </a:prstGeom>
            <a:noFill/>
            <a:ln>
              <a:noFill/>
            </a:ln>
          </p:spPr>
        </p:pic>
        <p:sp>
          <p:nvSpPr>
            <p:cNvPr id="114" name="Google Shape;114;p3"/>
            <p:cNvSpPr/>
            <p:nvPr/>
          </p:nvSpPr>
          <p:spPr>
            <a:xfrm>
              <a:off x="8243951" y="5357876"/>
              <a:ext cx="1047115" cy="1047115"/>
            </a:xfrm>
            <a:custGeom>
              <a:rect b="b" l="l" r="r" t="t"/>
              <a:pathLst>
                <a:path extrusionOk="0" h="1047114" w="1047115">
                  <a:moveTo>
                    <a:pt x="0" y="523519"/>
                  </a:moveTo>
                  <a:lnTo>
                    <a:pt x="2031" y="475856"/>
                  </a:lnTo>
                  <a:lnTo>
                    <a:pt x="8381" y="429399"/>
                  </a:lnTo>
                  <a:lnTo>
                    <a:pt x="18669" y="384327"/>
                  </a:lnTo>
                  <a:lnTo>
                    <a:pt x="32639" y="340817"/>
                  </a:lnTo>
                  <a:lnTo>
                    <a:pt x="50292" y="299072"/>
                  </a:lnTo>
                  <a:lnTo>
                    <a:pt x="71374" y="259257"/>
                  </a:lnTo>
                  <a:lnTo>
                    <a:pt x="95757" y="221615"/>
                  </a:lnTo>
                  <a:lnTo>
                    <a:pt x="123063" y="186182"/>
                  </a:lnTo>
                  <a:lnTo>
                    <a:pt x="153289" y="153289"/>
                  </a:lnTo>
                  <a:lnTo>
                    <a:pt x="186181" y="123062"/>
                  </a:lnTo>
                  <a:lnTo>
                    <a:pt x="221615" y="95758"/>
                  </a:lnTo>
                  <a:lnTo>
                    <a:pt x="259206" y="71374"/>
                  </a:lnTo>
                  <a:lnTo>
                    <a:pt x="299084" y="50292"/>
                  </a:lnTo>
                  <a:lnTo>
                    <a:pt x="340868" y="32639"/>
                  </a:lnTo>
                  <a:lnTo>
                    <a:pt x="384301" y="18668"/>
                  </a:lnTo>
                  <a:lnTo>
                    <a:pt x="429387" y="8382"/>
                  </a:lnTo>
                  <a:lnTo>
                    <a:pt x="475869" y="2032"/>
                  </a:lnTo>
                  <a:lnTo>
                    <a:pt x="523494" y="0"/>
                  </a:lnTo>
                  <a:lnTo>
                    <a:pt x="571119" y="2032"/>
                  </a:lnTo>
                  <a:lnTo>
                    <a:pt x="617601" y="8382"/>
                  </a:lnTo>
                  <a:lnTo>
                    <a:pt x="662685" y="18668"/>
                  </a:lnTo>
                  <a:lnTo>
                    <a:pt x="706247" y="32639"/>
                  </a:lnTo>
                  <a:lnTo>
                    <a:pt x="747902" y="50292"/>
                  </a:lnTo>
                  <a:lnTo>
                    <a:pt x="787780" y="71374"/>
                  </a:lnTo>
                  <a:lnTo>
                    <a:pt x="825500" y="95758"/>
                  </a:lnTo>
                  <a:lnTo>
                    <a:pt x="860805" y="123062"/>
                  </a:lnTo>
                  <a:lnTo>
                    <a:pt x="893699" y="153289"/>
                  </a:lnTo>
                  <a:lnTo>
                    <a:pt x="923925" y="186182"/>
                  </a:lnTo>
                  <a:lnTo>
                    <a:pt x="951356" y="221615"/>
                  </a:lnTo>
                  <a:lnTo>
                    <a:pt x="975614" y="259257"/>
                  </a:lnTo>
                  <a:lnTo>
                    <a:pt x="996696" y="299072"/>
                  </a:lnTo>
                  <a:lnTo>
                    <a:pt x="1014349" y="340817"/>
                  </a:lnTo>
                  <a:lnTo>
                    <a:pt x="1028446" y="384327"/>
                  </a:lnTo>
                  <a:lnTo>
                    <a:pt x="1038605" y="429399"/>
                  </a:lnTo>
                  <a:lnTo>
                    <a:pt x="1044955" y="475856"/>
                  </a:lnTo>
                  <a:lnTo>
                    <a:pt x="1047115" y="523519"/>
                  </a:lnTo>
                  <a:lnTo>
                    <a:pt x="1044955" y="571169"/>
                  </a:lnTo>
                  <a:lnTo>
                    <a:pt x="1038605" y="617626"/>
                  </a:lnTo>
                  <a:lnTo>
                    <a:pt x="1028446" y="662711"/>
                  </a:lnTo>
                  <a:lnTo>
                    <a:pt x="1014349" y="706208"/>
                  </a:lnTo>
                  <a:lnTo>
                    <a:pt x="996696" y="747966"/>
                  </a:lnTo>
                  <a:lnTo>
                    <a:pt x="975614" y="787781"/>
                  </a:lnTo>
                  <a:lnTo>
                    <a:pt x="951356" y="825474"/>
                  </a:lnTo>
                  <a:lnTo>
                    <a:pt x="923925" y="860856"/>
                  </a:lnTo>
                  <a:lnTo>
                    <a:pt x="893699" y="893749"/>
                  </a:lnTo>
                  <a:lnTo>
                    <a:pt x="860805" y="923963"/>
                  </a:lnTo>
                  <a:lnTo>
                    <a:pt x="825500" y="951306"/>
                  </a:lnTo>
                  <a:lnTo>
                    <a:pt x="787780" y="975614"/>
                  </a:lnTo>
                  <a:lnTo>
                    <a:pt x="747902" y="996683"/>
                  </a:lnTo>
                  <a:lnTo>
                    <a:pt x="706247" y="1014349"/>
                  </a:lnTo>
                  <a:lnTo>
                    <a:pt x="662685" y="1028395"/>
                  </a:lnTo>
                  <a:lnTo>
                    <a:pt x="617601" y="1038656"/>
                  </a:lnTo>
                  <a:lnTo>
                    <a:pt x="571119" y="1044956"/>
                  </a:lnTo>
                  <a:lnTo>
                    <a:pt x="523494" y="1047102"/>
                  </a:lnTo>
                  <a:lnTo>
                    <a:pt x="475869" y="1044956"/>
                  </a:lnTo>
                  <a:lnTo>
                    <a:pt x="429387" y="1038656"/>
                  </a:lnTo>
                  <a:lnTo>
                    <a:pt x="384301" y="1028395"/>
                  </a:lnTo>
                  <a:lnTo>
                    <a:pt x="340868" y="1014349"/>
                  </a:lnTo>
                  <a:lnTo>
                    <a:pt x="299084" y="996683"/>
                  </a:lnTo>
                  <a:lnTo>
                    <a:pt x="259206" y="975614"/>
                  </a:lnTo>
                  <a:lnTo>
                    <a:pt x="221615" y="951306"/>
                  </a:lnTo>
                  <a:lnTo>
                    <a:pt x="186181" y="923963"/>
                  </a:lnTo>
                  <a:lnTo>
                    <a:pt x="153289" y="893749"/>
                  </a:lnTo>
                  <a:lnTo>
                    <a:pt x="123063" y="860856"/>
                  </a:lnTo>
                  <a:lnTo>
                    <a:pt x="95757" y="825474"/>
                  </a:lnTo>
                  <a:lnTo>
                    <a:pt x="71374" y="787781"/>
                  </a:lnTo>
                  <a:lnTo>
                    <a:pt x="50292" y="747966"/>
                  </a:lnTo>
                  <a:lnTo>
                    <a:pt x="32639" y="706208"/>
                  </a:lnTo>
                  <a:lnTo>
                    <a:pt x="18669" y="662711"/>
                  </a:lnTo>
                  <a:lnTo>
                    <a:pt x="8381" y="617626"/>
                  </a:lnTo>
                  <a:lnTo>
                    <a:pt x="2031" y="571169"/>
                  </a:lnTo>
                  <a:lnTo>
                    <a:pt x="0" y="523519"/>
                  </a:lnTo>
                  <a:close/>
                </a:path>
              </a:pathLst>
            </a:custGeom>
            <a:noFill/>
            <a:ln cap="flat" cmpd="sng" w="9525">
              <a:solidFill>
                <a:srgbClr val="6FAC4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5" name="Google Shape;115;p3"/>
            <p:cNvSpPr/>
            <p:nvPr/>
          </p:nvSpPr>
          <p:spPr>
            <a:xfrm>
              <a:off x="7124700" y="5048250"/>
              <a:ext cx="1095375" cy="647700"/>
            </a:xfrm>
            <a:custGeom>
              <a:rect b="b" l="l" r="r" t="t"/>
              <a:pathLst>
                <a:path extrusionOk="0" h="647700" w="1095375">
                  <a:moveTo>
                    <a:pt x="70866" y="0"/>
                  </a:moveTo>
                  <a:lnTo>
                    <a:pt x="0" y="150368"/>
                  </a:lnTo>
                  <a:lnTo>
                    <a:pt x="935354" y="597166"/>
                  </a:lnTo>
                  <a:lnTo>
                    <a:pt x="911732" y="647280"/>
                  </a:lnTo>
                  <a:lnTo>
                    <a:pt x="1095121" y="581418"/>
                  </a:lnTo>
                  <a:lnTo>
                    <a:pt x="1029716" y="396747"/>
                  </a:lnTo>
                  <a:lnTo>
                    <a:pt x="1006094" y="446786"/>
                  </a:lnTo>
                  <a:lnTo>
                    <a:pt x="70866" y="0"/>
                  </a:lnTo>
                  <a:close/>
                </a:path>
              </a:pathLst>
            </a:custGeom>
            <a:solidFill>
              <a:srgbClr val="EC7C3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16" name="Google Shape;116;p3"/>
            <p:cNvPicPr preferRelativeResize="0"/>
            <p:nvPr/>
          </p:nvPicPr>
          <p:blipFill rotWithShape="1">
            <a:blip r:embed="rId7">
              <a:alphaModFix/>
            </a:blip>
            <a:srcRect b="0" l="0" r="0" t="0"/>
            <a:stretch/>
          </p:blipFill>
          <p:spPr>
            <a:xfrm>
              <a:off x="6562725" y="4752975"/>
              <a:ext cx="1181100" cy="733425"/>
            </a:xfrm>
            <a:prstGeom prst="rect">
              <a:avLst/>
            </a:prstGeom>
            <a:noFill/>
            <a:ln>
              <a:noFill/>
            </a:ln>
          </p:spPr>
        </p:pic>
        <p:sp>
          <p:nvSpPr>
            <p:cNvPr id="117" name="Google Shape;117;p3"/>
            <p:cNvSpPr/>
            <p:nvPr/>
          </p:nvSpPr>
          <p:spPr>
            <a:xfrm>
              <a:off x="6567550" y="4757800"/>
              <a:ext cx="1190625" cy="733425"/>
            </a:xfrm>
            <a:custGeom>
              <a:rect b="b" l="l" r="r" t="t"/>
              <a:pathLst>
                <a:path extrusionOk="0" h="733425" w="1190625">
                  <a:moveTo>
                    <a:pt x="0" y="73279"/>
                  </a:moveTo>
                  <a:lnTo>
                    <a:pt x="5842" y="44704"/>
                  </a:lnTo>
                  <a:lnTo>
                    <a:pt x="21717" y="21462"/>
                  </a:lnTo>
                  <a:lnTo>
                    <a:pt x="45339" y="5715"/>
                  </a:lnTo>
                  <a:lnTo>
                    <a:pt x="74295" y="0"/>
                  </a:lnTo>
                  <a:lnTo>
                    <a:pt x="1115822" y="0"/>
                  </a:lnTo>
                  <a:lnTo>
                    <a:pt x="1144777" y="5715"/>
                  </a:lnTo>
                  <a:lnTo>
                    <a:pt x="1168400" y="21462"/>
                  </a:lnTo>
                  <a:lnTo>
                    <a:pt x="1184275" y="44704"/>
                  </a:lnTo>
                  <a:lnTo>
                    <a:pt x="1190117" y="73279"/>
                  </a:lnTo>
                  <a:lnTo>
                    <a:pt x="1190117" y="659892"/>
                  </a:lnTo>
                  <a:lnTo>
                    <a:pt x="1184275" y="688467"/>
                  </a:lnTo>
                  <a:lnTo>
                    <a:pt x="1168400" y="711835"/>
                  </a:lnTo>
                  <a:lnTo>
                    <a:pt x="1144777" y="727456"/>
                  </a:lnTo>
                  <a:lnTo>
                    <a:pt x="1115822" y="733298"/>
                  </a:lnTo>
                  <a:lnTo>
                    <a:pt x="74295" y="733298"/>
                  </a:lnTo>
                  <a:lnTo>
                    <a:pt x="45339" y="727456"/>
                  </a:lnTo>
                  <a:lnTo>
                    <a:pt x="21717" y="711835"/>
                  </a:lnTo>
                  <a:lnTo>
                    <a:pt x="5842" y="688467"/>
                  </a:lnTo>
                  <a:lnTo>
                    <a:pt x="0" y="659892"/>
                  </a:lnTo>
                  <a:lnTo>
                    <a:pt x="0" y="73279"/>
                  </a:lnTo>
                  <a:close/>
                </a:path>
              </a:pathLst>
            </a:custGeom>
            <a:noFill/>
            <a:ln cap="flat" cmpd="sng" w="9525">
              <a:solidFill>
                <a:srgbClr val="EC7C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8" name="Google Shape;118;p3"/>
          <p:cNvSpPr txBox="1"/>
          <p:nvPr/>
        </p:nvSpPr>
        <p:spPr>
          <a:xfrm>
            <a:off x="6690994" y="4847009"/>
            <a:ext cx="931500" cy="3003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600">
                <a:latin typeface="Calibri"/>
                <a:ea typeface="Calibri"/>
                <a:cs typeface="Calibri"/>
                <a:sym typeface="Calibri"/>
              </a:rPr>
              <a:t>New customers</a:t>
            </a:r>
            <a:endParaRPr sz="1600">
              <a:latin typeface="Calibri"/>
              <a:ea typeface="Calibri"/>
              <a:cs typeface="Calibri"/>
              <a:sym typeface="Calibri"/>
            </a:endParaRPr>
          </a:p>
        </p:txBody>
      </p:sp>
      <p:grpSp>
        <p:nvGrpSpPr>
          <p:cNvPr id="119" name="Google Shape;119;p3"/>
          <p:cNvGrpSpPr/>
          <p:nvPr/>
        </p:nvGrpSpPr>
        <p:grpSpPr>
          <a:xfrm>
            <a:off x="8172450" y="4229100"/>
            <a:ext cx="2795650" cy="1471675"/>
            <a:chOff x="8172450" y="4229100"/>
            <a:chExt cx="2795650" cy="1471675"/>
          </a:xfrm>
        </p:grpSpPr>
        <p:pic>
          <p:nvPicPr>
            <p:cNvPr id="120" name="Google Shape;120;p3"/>
            <p:cNvPicPr preferRelativeResize="0"/>
            <p:nvPr/>
          </p:nvPicPr>
          <p:blipFill rotWithShape="1">
            <a:blip r:embed="rId8">
              <a:alphaModFix/>
            </a:blip>
            <a:srcRect b="0" l="0" r="0" t="0"/>
            <a:stretch/>
          </p:blipFill>
          <p:spPr>
            <a:xfrm>
              <a:off x="8620125" y="4600575"/>
              <a:ext cx="276225" cy="714375"/>
            </a:xfrm>
            <a:prstGeom prst="rect">
              <a:avLst/>
            </a:prstGeom>
            <a:noFill/>
            <a:ln>
              <a:noFill/>
            </a:ln>
          </p:spPr>
        </p:pic>
        <p:sp>
          <p:nvSpPr>
            <p:cNvPr id="121" name="Google Shape;121;p3"/>
            <p:cNvSpPr/>
            <p:nvPr/>
          </p:nvSpPr>
          <p:spPr>
            <a:xfrm>
              <a:off x="8624951" y="4605400"/>
              <a:ext cx="276225" cy="713740"/>
            </a:xfrm>
            <a:custGeom>
              <a:rect b="b" l="l" r="r" t="t"/>
              <a:pathLst>
                <a:path extrusionOk="0" h="713739" w="276225">
                  <a:moveTo>
                    <a:pt x="137795" y="713740"/>
                  </a:moveTo>
                  <a:lnTo>
                    <a:pt x="0" y="574294"/>
                  </a:lnTo>
                  <a:lnTo>
                    <a:pt x="55118" y="574294"/>
                  </a:lnTo>
                  <a:lnTo>
                    <a:pt x="55118" y="0"/>
                  </a:lnTo>
                  <a:lnTo>
                    <a:pt x="220472" y="0"/>
                  </a:lnTo>
                  <a:lnTo>
                    <a:pt x="220472" y="574294"/>
                  </a:lnTo>
                  <a:lnTo>
                    <a:pt x="275717" y="574294"/>
                  </a:lnTo>
                  <a:lnTo>
                    <a:pt x="137795" y="713740"/>
                  </a:lnTo>
                  <a:close/>
                </a:path>
              </a:pathLst>
            </a:custGeom>
            <a:noFill/>
            <a:ln cap="flat" cmpd="sng" w="9525">
              <a:solidFill>
                <a:srgbClr val="4471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2" name="Google Shape;122;p3"/>
            <p:cNvPicPr preferRelativeResize="0"/>
            <p:nvPr/>
          </p:nvPicPr>
          <p:blipFill rotWithShape="1">
            <a:blip r:embed="rId9">
              <a:alphaModFix/>
            </a:blip>
            <a:srcRect b="0" l="0" r="0" t="0"/>
            <a:stretch/>
          </p:blipFill>
          <p:spPr>
            <a:xfrm>
              <a:off x="8172450" y="4229100"/>
              <a:ext cx="1181100" cy="742950"/>
            </a:xfrm>
            <a:prstGeom prst="rect">
              <a:avLst/>
            </a:prstGeom>
            <a:noFill/>
            <a:ln>
              <a:noFill/>
            </a:ln>
          </p:spPr>
        </p:pic>
        <p:sp>
          <p:nvSpPr>
            <p:cNvPr id="123" name="Google Shape;123;p3"/>
            <p:cNvSpPr/>
            <p:nvPr/>
          </p:nvSpPr>
          <p:spPr>
            <a:xfrm>
              <a:off x="8177275" y="4233925"/>
              <a:ext cx="1181100" cy="742950"/>
            </a:xfrm>
            <a:custGeom>
              <a:rect b="b" l="l" r="r" t="t"/>
              <a:pathLst>
                <a:path extrusionOk="0" h="742950" w="1181100">
                  <a:moveTo>
                    <a:pt x="0" y="74168"/>
                  </a:moveTo>
                  <a:lnTo>
                    <a:pt x="5715" y="45338"/>
                  </a:lnTo>
                  <a:lnTo>
                    <a:pt x="21590" y="21717"/>
                  </a:lnTo>
                  <a:lnTo>
                    <a:pt x="44957" y="5715"/>
                  </a:lnTo>
                  <a:lnTo>
                    <a:pt x="73659" y="0"/>
                  </a:lnTo>
                  <a:lnTo>
                    <a:pt x="1106931" y="0"/>
                  </a:lnTo>
                  <a:lnTo>
                    <a:pt x="1135633" y="5715"/>
                  </a:lnTo>
                  <a:lnTo>
                    <a:pt x="1159002" y="21717"/>
                  </a:lnTo>
                  <a:lnTo>
                    <a:pt x="1174877" y="45338"/>
                  </a:lnTo>
                  <a:lnTo>
                    <a:pt x="1180592" y="74168"/>
                  </a:lnTo>
                  <a:lnTo>
                    <a:pt x="1180592" y="668528"/>
                  </a:lnTo>
                  <a:lnTo>
                    <a:pt x="1174877" y="697484"/>
                  </a:lnTo>
                  <a:lnTo>
                    <a:pt x="1159002" y="721106"/>
                  </a:lnTo>
                  <a:lnTo>
                    <a:pt x="1135633" y="736981"/>
                  </a:lnTo>
                  <a:lnTo>
                    <a:pt x="1106931" y="742823"/>
                  </a:lnTo>
                  <a:lnTo>
                    <a:pt x="73659" y="742823"/>
                  </a:lnTo>
                  <a:lnTo>
                    <a:pt x="44957" y="736981"/>
                  </a:lnTo>
                  <a:lnTo>
                    <a:pt x="21590" y="721106"/>
                  </a:lnTo>
                  <a:lnTo>
                    <a:pt x="5715" y="697484"/>
                  </a:lnTo>
                  <a:lnTo>
                    <a:pt x="0" y="668528"/>
                  </a:lnTo>
                  <a:lnTo>
                    <a:pt x="0" y="74168"/>
                  </a:lnTo>
                  <a:close/>
                </a:path>
              </a:pathLst>
            </a:custGeom>
            <a:noFill/>
            <a:ln cap="flat" cmpd="sng" w="9525">
              <a:solidFill>
                <a:srgbClr val="4471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4" name="Google Shape;124;p3"/>
            <p:cNvPicPr preferRelativeResize="0"/>
            <p:nvPr/>
          </p:nvPicPr>
          <p:blipFill rotWithShape="1">
            <a:blip r:embed="rId10">
              <a:alphaModFix/>
            </a:blip>
            <a:srcRect b="0" l="0" r="0" t="0"/>
            <a:stretch/>
          </p:blipFill>
          <p:spPr>
            <a:xfrm>
              <a:off x="9296400" y="5057775"/>
              <a:ext cx="1114425" cy="638175"/>
            </a:xfrm>
            <a:prstGeom prst="rect">
              <a:avLst/>
            </a:prstGeom>
            <a:noFill/>
            <a:ln>
              <a:noFill/>
            </a:ln>
          </p:spPr>
        </p:pic>
        <p:sp>
          <p:nvSpPr>
            <p:cNvPr id="125" name="Google Shape;125;p3"/>
            <p:cNvSpPr/>
            <p:nvPr/>
          </p:nvSpPr>
          <p:spPr>
            <a:xfrm>
              <a:off x="9301225" y="5062600"/>
              <a:ext cx="1114425" cy="638175"/>
            </a:xfrm>
            <a:custGeom>
              <a:rect b="b" l="l" r="r" t="t"/>
              <a:pathLst>
                <a:path extrusionOk="0" h="638175" w="1114425">
                  <a:moveTo>
                    <a:pt x="0" y="569620"/>
                  </a:moveTo>
                  <a:lnTo>
                    <a:pt x="68325" y="385445"/>
                  </a:lnTo>
                  <a:lnTo>
                    <a:pt x="91694" y="435864"/>
                  </a:lnTo>
                  <a:lnTo>
                    <a:pt x="1044067" y="0"/>
                  </a:lnTo>
                  <a:lnTo>
                    <a:pt x="1114171" y="151256"/>
                  </a:lnTo>
                  <a:lnTo>
                    <a:pt x="161798" y="587222"/>
                  </a:lnTo>
                  <a:lnTo>
                    <a:pt x="185166" y="637667"/>
                  </a:lnTo>
                  <a:lnTo>
                    <a:pt x="0" y="569620"/>
                  </a:lnTo>
                  <a:close/>
                </a:path>
              </a:pathLst>
            </a:custGeom>
            <a:noFill/>
            <a:ln cap="flat" cmpd="sng" w="9525">
              <a:solidFill>
                <a:srgbClr val="FFC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6" name="Google Shape;126;p3"/>
            <p:cNvPicPr preferRelativeResize="0"/>
            <p:nvPr/>
          </p:nvPicPr>
          <p:blipFill rotWithShape="1">
            <a:blip r:embed="rId11">
              <a:alphaModFix/>
            </a:blip>
            <a:srcRect b="0" l="0" r="0" t="0"/>
            <a:stretch/>
          </p:blipFill>
          <p:spPr>
            <a:xfrm>
              <a:off x="9782175" y="4772025"/>
              <a:ext cx="1181100" cy="733425"/>
            </a:xfrm>
            <a:prstGeom prst="rect">
              <a:avLst/>
            </a:prstGeom>
            <a:noFill/>
            <a:ln>
              <a:noFill/>
            </a:ln>
          </p:spPr>
        </p:pic>
        <p:sp>
          <p:nvSpPr>
            <p:cNvPr id="127" name="Google Shape;127;p3"/>
            <p:cNvSpPr/>
            <p:nvPr/>
          </p:nvSpPr>
          <p:spPr>
            <a:xfrm>
              <a:off x="9787000" y="4776851"/>
              <a:ext cx="1181100" cy="733425"/>
            </a:xfrm>
            <a:custGeom>
              <a:rect b="b" l="l" r="r" t="t"/>
              <a:pathLst>
                <a:path extrusionOk="0" h="733425" w="1181100">
                  <a:moveTo>
                    <a:pt x="0" y="73279"/>
                  </a:moveTo>
                  <a:lnTo>
                    <a:pt x="5715" y="44704"/>
                  </a:lnTo>
                  <a:lnTo>
                    <a:pt x="21590" y="21462"/>
                  </a:lnTo>
                  <a:lnTo>
                    <a:pt x="44957" y="5715"/>
                  </a:lnTo>
                  <a:lnTo>
                    <a:pt x="73659" y="0"/>
                  </a:lnTo>
                  <a:lnTo>
                    <a:pt x="1106931" y="0"/>
                  </a:lnTo>
                  <a:lnTo>
                    <a:pt x="1135633" y="5715"/>
                  </a:lnTo>
                  <a:lnTo>
                    <a:pt x="1159002" y="21462"/>
                  </a:lnTo>
                  <a:lnTo>
                    <a:pt x="1174877" y="44704"/>
                  </a:lnTo>
                  <a:lnTo>
                    <a:pt x="1180592" y="73279"/>
                  </a:lnTo>
                  <a:lnTo>
                    <a:pt x="1180592" y="659892"/>
                  </a:lnTo>
                  <a:lnTo>
                    <a:pt x="1174877" y="688467"/>
                  </a:lnTo>
                  <a:lnTo>
                    <a:pt x="1159002" y="711835"/>
                  </a:lnTo>
                  <a:lnTo>
                    <a:pt x="1135633" y="727456"/>
                  </a:lnTo>
                  <a:lnTo>
                    <a:pt x="1106931" y="733298"/>
                  </a:lnTo>
                  <a:lnTo>
                    <a:pt x="73659" y="733298"/>
                  </a:lnTo>
                  <a:lnTo>
                    <a:pt x="44957" y="727456"/>
                  </a:lnTo>
                  <a:lnTo>
                    <a:pt x="21590" y="711835"/>
                  </a:lnTo>
                  <a:lnTo>
                    <a:pt x="5715" y="688467"/>
                  </a:lnTo>
                  <a:lnTo>
                    <a:pt x="0" y="659892"/>
                  </a:lnTo>
                  <a:lnTo>
                    <a:pt x="0" y="73279"/>
                  </a:lnTo>
                  <a:close/>
                </a:path>
              </a:pathLst>
            </a:custGeom>
            <a:noFill/>
            <a:ln cap="flat" cmpd="sng" w="9525">
              <a:solidFill>
                <a:srgbClr val="FFC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28" name="Google Shape;128;p3"/>
          <p:cNvSpPr txBox="1"/>
          <p:nvPr/>
        </p:nvSpPr>
        <p:spPr>
          <a:xfrm>
            <a:off x="6255123" y="1575383"/>
            <a:ext cx="5138100" cy="309600"/>
          </a:xfrm>
          <a:prstGeom prst="rect">
            <a:avLst/>
          </a:prstGeom>
          <a:solidFill>
            <a:schemeClr val="lt1"/>
          </a:solid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900">
                <a:solidFill>
                  <a:srgbClr val="935200"/>
                </a:solidFill>
                <a:latin typeface="Calibri"/>
                <a:ea typeface="Calibri"/>
                <a:cs typeface="Calibri"/>
                <a:sym typeface="Calibri"/>
              </a:rPr>
              <a:t>Three targets supporting new business</a:t>
            </a:r>
            <a:endParaRPr sz="1900">
              <a:latin typeface="Calibri"/>
              <a:ea typeface="Calibri"/>
              <a:cs typeface="Calibri"/>
              <a:sym typeface="Calibri"/>
            </a:endParaRPr>
          </a:p>
        </p:txBody>
      </p:sp>
      <p:sp>
        <p:nvSpPr>
          <p:cNvPr id="129" name="Google Shape;129;p3"/>
          <p:cNvSpPr txBox="1"/>
          <p:nvPr/>
        </p:nvSpPr>
        <p:spPr>
          <a:xfrm>
            <a:off x="6255123" y="2139874"/>
            <a:ext cx="5082000" cy="300300"/>
          </a:xfrm>
          <a:prstGeom prst="rect">
            <a:avLst/>
          </a:prstGeom>
          <a:noFill/>
          <a:ln>
            <a:noFill/>
          </a:ln>
        </p:spPr>
        <p:txBody>
          <a:bodyPr anchorCtr="0" anchor="t" bIns="0" lIns="18275" spcFirstLastPara="1" rIns="18275" wrap="square" tIns="0">
            <a:noAutofit/>
          </a:bodyPr>
          <a:lstStyle/>
          <a:p>
            <a:pPr indent="0" lvl="0" marL="12700" rtl="0" algn="l">
              <a:spcBef>
                <a:spcPts val="0"/>
              </a:spcBef>
              <a:spcAft>
                <a:spcPts val="0"/>
              </a:spcAft>
              <a:buClr>
                <a:schemeClr val="dk1"/>
              </a:buClr>
              <a:buFont typeface="Arial"/>
              <a:buNone/>
            </a:pPr>
            <a:r>
              <a:rPr lang="en-US" sz="1500">
                <a:solidFill>
                  <a:schemeClr val="dk1"/>
                </a:solidFill>
                <a:latin typeface="Calibri"/>
                <a:ea typeface="Calibri"/>
                <a:cs typeface="Calibri"/>
                <a:sym typeface="Calibri"/>
              </a:rPr>
              <a:t>By breaking down into these three points, more stable business profits can be expected.</a:t>
            </a:r>
            <a:endParaRPr sz="1500">
              <a:solidFill>
                <a:schemeClr val="dk1"/>
              </a:solidFill>
              <a:latin typeface="Calibri"/>
              <a:ea typeface="Calibri"/>
              <a:cs typeface="Calibri"/>
              <a:sym typeface="Calibri"/>
            </a:endParaRPr>
          </a:p>
          <a:p>
            <a:pPr indent="0" lvl="0" marL="12700" rtl="0" algn="l">
              <a:lnSpc>
                <a:spcPct val="100000"/>
              </a:lnSpc>
              <a:spcBef>
                <a:spcPts val="0"/>
              </a:spcBef>
              <a:spcAft>
                <a:spcPts val="0"/>
              </a:spcAft>
              <a:buNone/>
            </a:pPr>
            <a:r>
              <a:t/>
            </a:r>
            <a:endParaRPr sz="1500">
              <a:latin typeface="Calibri"/>
              <a:ea typeface="Calibri"/>
              <a:cs typeface="Calibri"/>
              <a:sym typeface="Calibri"/>
            </a:endParaRPr>
          </a:p>
        </p:txBody>
      </p:sp>
      <p:sp>
        <p:nvSpPr>
          <p:cNvPr id="130" name="Google Shape;130;p3"/>
          <p:cNvSpPr txBox="1"/>
          <p:nvPr/>
        </p:nvSpPr>
        <p:spPr>
          <a:xfrm>
            <a:off x="6255121" y="2825625"/>
            <a:ext cx="5698800" cy="662400"/>
          </a:xfrm>
          <a:prstGeom prst="rect">
            <a:avLst/>
          </a:prstGeom>
          <a:noFill/>
          <a:ln>
            <a:noFill/>
          </a:ln>
        </p:spPr>
        <p:txBody>
          <a:bodyPr anchorCtr="0" anchor="t" bIns="0" lIns="18275" spcFirstLastPara="1" rIns="18275" wrap="square" tIns="0">
            <a:noAutofit/>
          </a:bodyPr>
          <a:lstStyle/>
          <a:p>
            <a:pPr indent="0" lvl="0" marL="12700" rtl="0" algn="l">
              <a:lnSpc>
                <a:spcPct val="184888"/>
              </a:lnSpc>
              <a:spcBef>
                <a:spcPts val="0"/>
              </a:spcBef>
              <a:spcAft>
                <a:spcPts val="0"/>
              </a:spcAft>
              <a:buNone/>
            </a:pPr>
            <a:r>
              <a:rPr b="1" lang="en-US" sz="1500">
                <a:latin typeface="Calibri"/>
                <a:ea typeface="Calibri"/>
                <a:cs typeface="Calibri"/>
                <a:sym typeface="Calibri"/>
              </a:rPr>
              <a:t>- Acquisition of new customers</a:t>
            </a:r>
            <a:endParaRPr sz="1600">
              <a:latin typeface="Calibri"/>
              <a:ea typeface="Calibri"/>
              <a:cs typeface="Calibri"/>
              <a:sym typeface="Calibri"/>
            </a:endParaRPr>
          </a:p>
          <a:p>
            <a:pPr indent="0" lvl="0" marL="12700" rtl="0" algn="l">
              <a:lnSpc>
                <a:spcPct val="183333"/>
              </a:lnSpc>
              <a:spcBef>
                <a:spcPts val="0"/>
              </a:spcBef>
              <a:spcAft>
                <a:spcPts val="0"/>
              </a:spcAft>
              <a:buNone/>
            </a:pPr>
            <a:r>
              <a:rPr b="1" lang="en-US" sz="1500">
                <a:latin typeface="Calibri"/>
                <a:ea typeface="Calibri"/>
                <a:cs typeface="Calibri"/>
                <a:sym typeface="Calibri"/>
              </a:rPr>
              <a:t>- Retention of existing customers</a:t>
            </a:r>
            <a:endParaRPr sz="1600">
              <a:latin typeface="Calibri"/>
              <a:ea typeface="Calibri"/>
              <a:cs typeface="Calibri"/>
              <a:sym typeface="Calibri"/>
            </a:endParaRPr>
          </a:p>
          <a:p>
            <a:pPr indent="0" lvl="0" marL="12700" rtl="0" algn="l">
              <a:lnSpc>
                <a:spcPct val="184888"/>
              </a:lnSpc>
              <a:spcBef>
                <a:spcPts val="0"/>
              </a:spcBef>
              <a:spcAft>
                <a:spcPts val="0"/>
              </a:spcAft>
              <a:buNone/>
            </a:pPr>
            <a:r>
              <a:rPr b="1" lang="en-US" sz="1500">
                <a:latin typeface="Calibri"/>
                <a:ea typeface="Calibri"/>
                <a:cs typeface="Calibri"/>
                <a:sym typeface="Calibri"/>
              </a:rPr>
              <a:t>- Business level improvement through long-term operation</a:t>
            </a:r>
            <a:endParaRPr sz="1600">
              <a:latin typeface="Calibri"/>
              <a:ea typeface="Calibri"/>
              <a:cs typeface="Calibri"/>
              <a:sym typeface="Calibri"/>
            </a:endParaRPr>
          </a:p>
        </p:txBody>
      </p:sp>
      <p:sp>
        <p:nvSpPr>
          <p:cNvPr id="131" name="Google Shape;131;p3"/>
          <p:cNvSpPr txBox="1"/>
          <p:nvPr/>
        </p:nvSpPr>
        <p:spPr>
          <a:xfrm>
            <a:off x="8329300" y="4322914"/>
            <a:ext cx="930900" cy="533400"/>
          </a:xfrm>
          <a:prstGeom prst="rect">
            <a:avLst/>
          </a:prstGeom>
          <a:noFill/>
          <a:ln>
            <a:noFill/>
          </a:ln>
        </p:spPr>
        <p:txBody>
          <a:bodyPr anchorCtr="0" anchor="ctr" bIns="0" lIns="18275" spcFirstLastPara="1" rIns="18275" wrap="square" tIns="0">
            <a:noAutofit/>
          </a:bodyPr>
          <a:lstStyle/>
          <a:p>
            <a:pPr indent="0" lvl="0" marL="12700" rtl="0" algn="ctr">
              <a:lnSpc>
                <a:spcPct val="100000"/>
              </a:lnSpc>
              <a:spcBef>
                <a:spcPts val="0"/>
              </a:spcBef>
              <a:spcAft>
                <a:spcPts val="0"/>
              </a:spcAft>
              <a:buNone/>
            </a:pPr>
            <a:r>
              <a:rPr lang="en-US" sz="1600">
                <a:latin typeface="Calibri"/>
                <a:ea typeface="Calibri"/>
                <a:cs typeface="Calibri"/>
                <a:sym typeface="Calibri"/>
              </a:rPr>
              <a:t>Existing customers</a:t>
            </a:r>
            <a:endParaRPr sz="1600">
              <a:latin typeface="Calibri"/>
              <a:ea typeface="Calibri"/>
              <a:cs typeface="Calibri"/>
              <a:sym typeface="Calibri"/>
            </a:endParaRPr>
          </a:p>
        </p:txBody>
      </p:sp>
      <p:sp>
        <p:nvSpPr>
          <p:cNvPr id="132" name="Google Shape;132;p3"/>
          <p:cNvSpPr txBox="1"/>
          <p:nvPr/>
        </p:nvSpPr>
        <p:spPr>
          <a:xfrm>
            <a:off x="9926325" y="4908557"/>
            <a:ext cx="930900" cy="6624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600">
                <a:latin typeface="Calibri"/>
                <a:ea typeface="Calibri"/>
                <a:cs typeface="Calibri"/>
                <a:sym typeface="Calibri"/>
              </a:rPr>
              <a:t>long-term operation</a:t>
            </a:r>
            <a:endParaRPr sz="1600">
              <a:latin typeface="Calibri"/>
              <a:ea typeface="Calibri"/>
              <a:cs typeface="Calibri"/>
              <a:sym typeface="Calibri"/>
            </a:endParaRPr>
          </a:p>
        </p:txBody>
      </p:sp>
      <p:sp>
        <p:nvSpPr>
          <p:cNvPr id="133" name="Google Shape;133;p3"/>
          <p:cNvSpPr txBox="1"/>
          <p:nvPr/>
        </p:nvSpPr>
        <p:spPr>
          <a:xfrm>
            <a:off x="8357328" y="5608216"/>
            <a:ext cx="800100" cy="7524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600">
                <a:latin typeface="Calibri"/>
                <a:ea typeface="Calibri"/>
                <a:cs typeface="Calibri"/>
                <a:sym typeface="Calibri"/>
              </a:rPr>
              <a:t>Business profit</a:t>
            </a:r>
            <a:endParaRPr sz="1600">
              <a:latin typeface="Calibri"/>
              <a:ea typeface="Calibri"/>
              <a:cs typeface="Calibri"/>
              <a:sym typeface="Calibri"/>
            </a:endParaRPr>
          </a:p>
        </p:txBody>
      </p:sp>
      <p:grpSp>
        <p:nvGrpSpPr>
          <p:cNvPr id="134" name="Google Shape;134;p3"/>
          <p:cNvGrpSpPr/>
          <p:nvPr/>
        </p:nvGrpSpPr>
        <p:grpSpPr>
          <a:xfrm>
            <a:off x="0" y="12"/>
            <a:ext cx="12192318" cy="309499"/>
            <a:chOff x="0" y="12"/>
            <a:chExt cx="12192318" cy="309499"/>
          </a:xfrm>
        </p:grpSpPr>
        <p:sp>
          <p:nvSpPr>
            <p:cNvPr id="135" name="Google Shape;135;p3"/>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6" name="Google Shape;136;p3"/>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37" name="Google Shape;137;p3"/>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8" name="Google Shape;138;p3"/>
          <p:cNvSpPr txBox="1"/>
          <p:nvPr/>
        </p:nvSpPr>
        <p:spPr>
          <a:xfrm>
            <a:off x="729615" y="2880677"/>
            <a:ext cx="4486910" cy="752475"/>
          </a:xfrm>
          <a:prstGeom prst="rect">
            <a:avLst/>
          </a:prstGeom>
          <a:noFill/>
          <a:ln>
            <a:noFill/>
          </a:ln>
        </p:spPr>
        <p:txBody>
          <a:bodyPr anchorCtr="0" anchor="t" bIns="0" lIns="18275" spcFirstLastPara="1" rIns="18275" wrap="square" tIns="0">
            <a:noAutofit/>
          </a:bodyPr>
          <a:lstStyle/>
          <a:p>
            <a:pPr indent="0" lvl="0" marL="12700" marR="5080" rtl="0" algn="just">
              <a:lnSpc>
                <a:spcPct val="103000"/>
              </a:lnSpc>
              <a:spcBef>
                <a:spcPts val="0"/>
              </a:spcBef>
              <a:spcAft>
                <a:spcPts val="0"/>
              </a:spcAft>
              <a:buNone/>
            </a:pPr>
            <a:r>
              <a:rPr lang="en-US" sz="1500">
                <a:latin typeface="Calibri"/>
                <a:ea typeface="Calibri"/>
                <a:cs typeface="Calibri"/>
                <a:sym typeface="Calibri"/>
              </a:rPr>
              <a:t>Among customers who applied </a:t>
            </a:r>
            <a:r>
              <a:rPr lang="en-US" sz="1500">
                <a:latin typeface="Calibri"/>
                <a:ea typeface="Calibri"/>
                <a:cs typeface="Calibri"/>
                <a:sym typeface="Calibri"/>
              </a:rPr>
              <a:t>for loans</a:t>
            </a:r>
            <a:r>
              <a:rPr lang="en-US" sz="1500">
                <a:latin typeface="Calibri"/>
                <a:ea typeface="Calibri"/>
                <a:cs typeface="Calibri"/>
                <a:sym typeface="Calibri"/>
              </a:rPr>
              <a:t>, AI automatically identifies those who are likely to fall behind on repayments or become unable to repay.</a:t>
            </a:r>
            <a:endParaRPr sz="1500">
              <a:latin typeface="Calibri"/>
              <a:ea typeface="Calibri"/>
              <a:cs typeface="Calibri"/>
              <a:sym typeface="Calibri"/>
            </a:endParaRPr>
          </a:p>
        </p:txBody>
      </p:sp>
      <p:sp>
        <p:nvSpPr>
          <p:cNvPr id="139" name="Google Shape;139;p3"/>
          <p:cNvSpPr txBox="1"/>
          <p:nvPr/>
        </p:nvSpPr>
        <p:spPr>
          <a:xfrm>
            <a:off x="1347039" y="2256687"/>
            <a:ext cx="3300900" cy="392400"/>
          </a:xfrm>
          <a:prstGeom prst="rect">
            <a:avLst/>
          </a:prstGeom>
          <a:noFill/>
          <a:ln>
            <a:noFill/>
          </a:ln>
        </p:spPr>
        <p:txBody>
          <a:bodyPr anchorCtr="0" anchor="t" bIns="0" lIns="18275" spcFirstLastPara="1" rIns="18275" wrap="square" tIns="0">
            <a:noAutofit/>
          </a:bodyPr>
          <a:lstStyle/>
          <a:p>
            <a:pPr indent="0" lvl="0" marL="231775" rtl="0" algn="ctr">
              <a:spcBef>
                <a:spcPts val="2830"/>
              </a:spcBef>
              <a:spcAft>
                <a:spcPts val="0"/>
              </a:spcAft>
              <a:buClr>
                <a:schemeClr val="dk1"/>
              </a:buClr>
              <a:buFont typeface="Arial"/>
              <a:buNone/>
            </a:pPr>
            <a:r>
              <a:rPr lang="en-US" sz="1700">
                <a:solidFill>
                  <a:srgbClr val="002060"/>
                </a:solidFill>
              </a:rPr>
              <a:t>①Default customer prediction</a:t>
            </a:r>
            <a:endParaRPr sz="1700">
              <a:solidFill>
                <a:schemeClr val="dk1"/>
              </a:solidFill>
            </a:endParaRPr>
          </a:p>
          <a:p>
            <a:pPr indent="0" lvl="0" marL="12700" rtl="0" algn="l">
              <a:lnSpc>
                <a:spcPct val="100000"/>
              </a:lnSpc>
              <a:spcBef>
                <a:spcPts val="0"/>
              </a:spcBef>
              <a:spcAft>
                <a:spcPts val="0"/>
              </a:spcAft>
              <a:buNone/>
            </a:pPr>
            <a:r>
              <a:t/>
            </a:r>
            <a:endParaRPr sz="1500">
              <a:solidFill>
                <a:srgbClr val="001F5F"/>
              </a:solidFill>
              <a:latin typeface="Calibri"/>
              <a:ea typeface="Calibri"/>
              <a:cs typeface="Calibri"/>
              <a:sym typeface="Calibri"/>
            </a:endParaRPr>
          </a:p>
        </p:txBody>
      </p:sp>
      <p:sp>
        <p:nvSpPr>
          <p:cNvPr id="140" name="Google Shape;140;p3"/>
          <p:cNvSpPr/>
          <p:nvPr/>
        </p:nvSpPr>
        <p:spPr>
          <a:xfrm>
            <a:off x="1590675" y="2590800"/>
            <a:ext cx="2886075" cy="0"/>
          </a:xfrm>
          <a:custGeom>
            <a:rect b="b" l="l" r="r" t="t"/>
            <a:pathLst>
              <a:path extrusionOk="0" h="120000" w="2886075">
                <a:moveTo>
                  <a:pt x="0" y="0"/>
                </a:moveTo>
                <a:lnTo>
                  <a:pt x="2885821" y="0"/>
                </a:lnTo>
              </a:path>
            </a:pathLst>
          </a:custGeom>
          <a:noFill/>
          <a:ln cap="flat" cmpd="sng" w="19050">
            <a:solidFill>
              <a:srgbClr val="00919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141" name="Google Shape;141;p3"/>
          <p:cNvGrpSpPr/>
          <p:nvPr/>
        </p:nvGrpSpPr>
        <p:grpSpPr>
          <a:xfrm>
            <a:off x="561975" y="4463831"/>
            <a:ext cx="4972050" cy="1952625"/>
            <a:chOff x="561975" y="4467225"/>
            <a:chExt cx="4972050" cy="1952625"/>
          </a:xfrm>
        </p:grpSpPr>
        <p:sp>
          <p:nvSpPr>
            <p:cNvPr id="142" name="Google Shape;142;p3"/>
            <p:cNvSpPr/>
            <p:nvPr/>
          </p:nvSpPr>
          <p:spPr>
            <a:xfrm>
              <a:off x="561975" y="4533900"/>
              <a:ext cx="4972050" cy="1885950"/>
            </a:xfrm>
            <a:custGeom>
              <a:rect b="b" l="l" r="r" t="t"/>
              <a:pathLst>
                <a:path extrusionOk="0" h="1885950" w="4972050">
                  <a:moveTo>
                    <a:pt x="0" y="314325"/>
                  </a:moveTo>
                  <a:lnTo>
                    <a:pt x="3403" y="267843"/>
                  </a:lnTo>
                  <a:lnTo>
                    <a:pt x="13296" y="223519"/>
                  </a:lnTo>
                  <a:lnTo>
                    <a:pt x="29197" y="181863"/>
                  </a:lnTo>
                  <a:lnTo>
                    <a:pt x="50609" y="143129"/>
                  </a:lnTo>
                  <a:lnTo>
                    <a:pt x="77050" y="108076"/>
                  </a:lnTo>
                  <a:lnTo>
                    <a:pt x="108038" y="77088"/>
                  </a:lnTo>
                  <a:lnTo>
                    <a:pt x="143090" y="50673"/>
                  </a:lnTo>
                  <a:lnTo>
                    <a:pt x="181711" y="29210"/>
                  </a:lnTo>
                  <a:lnTo>
                    <a:pt x="223405" y="13335"/>
                  </a:lnTo>
                  <a:lnTo>
                    <a:pt x="267716" y="3429"/>
                  </a:lnTo>
                  <a:lnTo>
                    <a:pt x="314134" y="0"/>
                  </a:lnTo>
                  <a:lnTo>
                    <a:pt x="4657471" y="0"/>
                  </a:lnTo>
                  <a:lnTo>
                    <a:pt x="4703826" y="3429"/>
                  </a:lnTo>
                  <a:lnTo>
                    <a:pt x="4748149" y="13335"/>
                  </a:lnTo>
                  <a:lnTo>
                    <a:pt x="4789932" y="29210"/>
                  </a:lnTo>
                  <a:lnTo>
                    <a:pt x="4828540" y="50673"/>
                  </a:lnTo>
                  <a:lnTo>
                    <a:pt x="4863592" y="77088"/>
                  </a:lnTo>
                  <a:lnTo>
                    <a:pt x="4894580" y="108076"/>
                  </a:lnTo>
                  <a:lnTo>
                    <a:pt x="4920996" y="143129"/>
                  </a:lnTo>
                  <a:lnTo>
                    <a:pt x="4942332" y="181863"/>
                  </a:lnTo>
                  <a:lnTo>
                    <a:pt x="4958334" y="223519"/>
                  </a:lnTo>
                  <a:lnTo>
                    <a:pt x="4968240" y="267843"/>
                  </a:lnTo>
                  <a:lnTo>
                    <a:pt x="4971542" y="314325"/>
                  </a:lnTo>
                  <a:lnTo>
                    <a:pt x="4971542" y="1571548"/>
                  </a:lnTo>
                  <a:lnTo>
                    <a:pt x="4968240" y="1617992"/>
                  </a:lnTo>
                  <a:lnTo>
                    <a:pt x="4958334" y="1662328"/>
                  </a:lnTo>
                  <a:lnTo>
                    <a:pt x="4942332" y="1704060"/>
                  </a:lnTo>
                  <a:lnTo>
                    <a:pt x="4920996" y="1742694"/>
                  </a:lnTo>
                  <a:lnTo>
                    <a:pt x="4894580" y="1777758"/>
                  </a:lnTo>
                  <a:lnTo>
                    <a:pt x="4863592" y="1808772"/>
                  </a:lnTo>
                  <a:lnTo>
                    <a:pt x="4828540" y="1835226"/>
                  </a:lnTo>
                  <a:lnTo>
                    <a:pt x="4789932" y="1856651"/>
                  </a:lnTo>
                  <a:lnTo>
                    <a:pt x="4748149" y="1872551"/>
                  </a:lnTo>
                  <a:lnTo>
                    <a:pt x="4703826" y="1882457"/>
                  </a:lnTo>
                  <a:lnTo>
                    <a:pt x="4657471" y="1885861"/>
                  </a:lnTo>
                  <a:lnTo>
                    <a:pt x="314134" y="1885861"/>
                  </a:lnTo>
                  <a:lnTo>
                    <a:pt x="267716" y="1882457"/>
                  </a:lnTo>
                  <a:lnTo>
                    <a:pt x="223405" y="1872551"/>
                  </a:lnTo>
                  <a:lnTo>
                    <a:pt x="181711" y="1856651"/>
                  </a:lnTo>
                  <a:lnTo>
                    <a:pt x="143090" y="1835226"/>
                  </a:lnTo>
                  <a:lnTo>
                    <a:pt x="108038" y="1808772"/>
                  </a:lnTo>
                  <a:lnTo>
                    <a:pt x="77050" y="1777758"/>
                  </a:lnTo>
                  <a:lnTo>
                    <a:pt x="50609" y="1742694"/>
                  </a:lnTo>
                  <a:lnTo>
                    <a:pt x="29197" y="1704060"/>
                  </a:lnTo>
                  <a:lnTo>
                    <a:pt x="13296" y="1662328"/>
                  </a:lnTo>
                  <a:lnTo>
                    <a:pt x="3403" y="1617992"/>
                  </a:lnTo>
                  <a:lnTo>
                    <a:pt x="0" y="1571548"/>
                  </a:lnTo>
                  <a:lnTo>
                    <a:pt x="0" y="314325"/>
                  </a:lnTo>
                  <a:close/>
                </a:path>
              </a:pathLst>
            </a:custGeom>
            <a:noFill/>
            <a:ln cap="flat" cmpd="sng" w="38100">
              <a:solidFill>
                <a:srgbClr val="00919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43" name="Google Shape;143;p3"/>
            <p:cNvPicPr preferRelativeResize="0"/>
            <p:nvPr/>
          </p:nvPicPr>
          <p:blipFill rotWithShape="1">
            <a:blip r:embed="rId12">
              <a:alphaModFix/>
            </a:blip>
            <a:srcRect b="0" l="0" r="0" t="0"/>
            <a:stretch/>
          </p:blipFill>
          <p:spPr>
            <a:xfrm>
              <a:off x="1571625" y="4467225"/>
              <a:ext cx="723900" cy="704850"/>
            </a:xfrm>
            <a:prstGeom prst="rect">
              <a:avLst/>
            </a:prstGeom>
            <a:noFill/>
            <a:ln>
              <a:noFill/>
            </a:ln>
          </p:spPr>
        </p:pic>
        <p:pic>
          <p:nvPicPr>
            <p:cNvPr id="144" name="Google Shape;144;p3"/>
            <p:cNvPicPr preferRelativeResize="0"/>
            <p:nvPr/>
          </p:nvPicPr>
          <p:blipFill rotWithShape="1">
            <a:blip r:embed="rId13">
              <a:alphaModFix/>
            </a:blip>
            <a:srcRect b="0" l="0" r="0" t="0"/>
            <a:stretch/>
          </p:blipFill>
          <p:spPr>
            <a:xfrm>
              <a:off x="1876425" y="4467225"/>
              <a:ext cx="1457325" cy="704850"/>
            </a:xfrm>
            <a:prstGeom prst="rect">
              <a:avLst/>
            </a:prstGeom>
            <a:noFill/>
            <a:ln>
              <a:noFill/>
            </a:ln>
          </p:spPr>
        </p:pic>
        <p:pic>
          <p:nvPicPr>
            <p:cNvPr id="145" name="Google Shape;145;p3"/>
            <p:cNvPicPr preferRelativeResize="0"/>
            <p:nvPr/>
          </p:nvPicPr>
          <p:blipFill rotWithShape="1">
            <a:blip r:embed="rId14">
              <a:alphaModFix/>
            </a:blip>
            <a:srcRect b="0" l="0" r="0" t="0"/>
            <a:stretch/>
          </p:blipFill>
          <p:spPr>
            <a:xfrm>
              <a:off x="2914650" y="4467225"/>
              <a:ext cx="1638300" cy="704850"/>
            </a:xfrm>
            <a:prstGeom prst="rect">
              <a:avLst/>
            </a:prstGeom>
            <a:noFill/>
            <a:ln>
              <a:noFill/>
            </a:ln>
          </p:spPr>
        </p:pic>
      </p:grpSp>
      <p:sp>
        <p:nvSpPr>
          <p:cNvPr id="146" name="Google Shape;146;p3"/>
          <p:cNvSpPr txBox="1"/>
          <p:nvPr/>
        </p:nvSpPr>
        <p:spPr>
          <a:xfrm>
            <a:off x="1756410" y="4599885"/>
            <a:ext cx="2569200" cy="391800"/>
          </a:xfrm>
          <a:prstGeom prst="rect">
            <a:avLst/>
          </a:prstGeom>
          <a:solidFill>
            <a:schemeClr val="lt1"/>
          </a:solid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900">
                <a:solidFill>
                  <a:srgbClr val="001F5F"/>
                </a:solidFill>
                <a:latin typeface="Calibri"/>
                <a:ea typeface="Calibri"/>
                <a:cs typeface="Calibri"/>
                <a:sym typeface="Calibri"/>
              </a:rPr>
              <a:t>②Default Trend Analysis</a:t>
            </a:r>
            <a:endParaRPr sz="1900">
              <a:latin typeface="Calibri"/>
              <a:ea typeface="Calibri"/>
              <a:cs typeface="Calibri"/>
              <a:sym typeface="Calibri"/>
            </a:endParaRPr>
          </a:p>
        </p:txBody>
      </p:sp>
      <p:sp>
        <p:nvSpPr>
          <p:cNvPr id="147" name="Google Shape;147;p3"/>
          <p:cNvSpPr txBox="1"/>
          <p:nvPr/>
        </p:nvSpPr>
        <p:spPr>
          <a:xfrm>
            <a:off x="729625" y="5308680"/>
            <a:ext cx="4487400" cy="1096200"/>
          </a:xfrm>
          <a:prstGeom prst="rect">
            <a:avLst/>
          </a:prstGeom>
          <a:noFill/>
          <a:ln>
            <a:noFill/>
          </a:ln>
        </p:spPr>
        <p:txBody>
          <a:bodyPr anchorCtr="0" anchor="t" bIns="0" lIns="18275" spcFirstLastPara="1" rIns="18275" wrap="square" tIns="0">
            <a:noAutofit/>
          </a:bodyPr>
          <a:lstStyle/>
          <a:p>
            <a:pPr indent="0" lvl="0" marL="12700" marR="5080" rtl="0" algn="just">
              <a:lnSpc>
                <a:spcPct val="102899"/>
              </a:lnSpc>
              <a:spcBef>
                <a:spcPts val="0"/>
              </a:spcBef>
              <a:spcAft>
                <a:spcPts val="0"/>
              </a:spcAft>
              <a:buNone/>
            </a:pPr>
            <a:r>
              <a:rPr lang="en-US" sz="1500">
                <a:latin typeface="Calibri"/>
                <a:ea typeface="Calibri"/>
                <a:cs typeface="Calibri"/>
                <a:sym typeface="Calibri"/>
              </a:rPr>
              <a:t>We analyze the tendencies of customers who have previously fallen behind on repayments or become unable to repay, and support management strategies and sales advertising based on the insights.</a:t>
            </a:r>
            <a:endParaRPr sz="1500">
              <a:latin typeface="Calibri"/>
              <a:ea typeface="Calibri"/>
              <a:cs typeface="Calibri"/>
              <a:sym typeface="Calibri"/>
            </a:endParaRPr>
          </a:p>
        </p:txBody>
      </p:sp>
      <p:grpSp>
        <p:nvGrpSpPr>
          <p:cNvPr id="148" name="Google Shape;148;p3"/>
          <p:cNvGrpSpPr/>
          <p:nvPr/>
        </p:nvGrpSpPr>
        <p:grpSpPr>
          <a:xfrm>
            <a:off x="1590675" y="4124959"/>
            <a:ext cx="2886075" cy="866141"/>
            <a:chOff x="1590675" y="4124959"/>
            <a:chExt cx="2886075" cy="866141"/>
          </a:xfrm>
        </p:grpSpPr>
        <p:sp>
          <p:nvSpPr>
            <p:cNvPr id="149" name="Google Shape;149;p3"/>
            <p:cNvSpPr/>
            <p:nvPr/>
          </p:nvSpPr>
          <p:spPr>
            <a:xfrm>
              <a:off x="1590675" y="4991100"/>
              <a:ext cx="2886075" cy="0"/>
            </a:xfrm>
            <a:custGeom>
              <a:rect b="b" l="l" r="r" t="t"/>
              <a:pathLst>
                <a:path extrusionOk="0" h="120000" w="2886075">
                  <a:moveTo>
                    <a:pt x="0" y="0"/>
                  </a:moveTo>
                  <a:lnTo>
                    <a:pt x="2885821" y="0"/>
                  </a:lnTo>
                </a:path>
              </a:pathLst>
            </a:custGeom>
            <a:noFill/>
            <a:ln cap="flat" cmpd="sng" w="19050">
              <a:solidFill>
                <a:srgbClr val="00919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0" name="Google Shape;150;p3"/>
            <p:cNvSpPr/>
            <p:nvPr/>
          </p:nvSpPr>
          <p:spPr>
            <a:xfrm>
              <a:off x="2876550" y="4124959"/>
              <a:ext cx="314325" cy="294640"/>
            </a:xfrm>
            <a:custGeom>
              <a:rect b="b" l="l" r="r" t="t"/>
              <a:pathLst>
                <a:path extrusionOk="0" h="294639" w="314325">
                  <a:moveTo>
                    <a:pt x="314071" y="125730"/>
                  </a:moveTo>
                  <a:lnTo>
                    <a:pt x="184150" y="125730"/>
                  </a:lnTo>
                  <a:lnTo>
                    <a:pt x="184150" y="0"/>
                  </a:lnTo>
                  <a:lnTo>
                    <a:pt x="129921" y="0"/>
                  </a:lnTo>
                  <a:lnTo>
                    <a:pt x="129921" y="125730"/>
                  </a:lnTo>
                  <a:lnTo>
                    <a:pt x="0" y="125730"/>
                  </a:lnTo>
                  <a:lnTo>
                    <a:pt x="0" y="167640"/>
                  </a:lnTo>
                  <a:lnTo>
                    <a:pt x="129921" y="167640"/>
                  </a:lnTo>
                  <a:lnTo>
                    <a:pt x="129921" y="294640"/>
                  </a:lnTo>
                  <a:lnTo>
                    <a:pt x="184150" y="294640"/>
                  </a:lnTo>
                  <a:lnTo>
                    <a:pt x="184150" y="167640"/>
                  </a:lnTo>
                  <a:lnTo>
                    <a:pt x="314071" y="167640"/>
                  </a:lnTo>
                  <a:lnTo>
                    <a:pt x="314071" y="125730"/>
                  </a:lnTo>
                  <a:close/>
                </a:path>
              </a:pathLst>
            </a:custGeom>
            <a:solidFill>
              <a:srgbClr val="00919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1" name="Google Shape;151;p3"/>
            <p:cNvSpPr/>
            <p:nvPr/>
          </p:nvSpPr>
          <p:spPr>
            <a:xfrm>
              <a:off x="2881375" y="4129151"/>
              <a:ext cx="314325" cy="295275"/>
            </a:xfrm>
            <a:custGeom>
              <a:rect b="b" l="l" r="r" t="t"/>
              <a:pathLst>
                <a:path extrusionOk="0" h="295275" w="314325">
                  <a:moveTo>
                    <a:pt x="0" y="126492"/>
                  </a:moveTo>
                  <a:lnTo>
                    <a:pt x="129921" y="126492"/>
                  </a:lnTo>
                  <a:lnTo>
                    <a:pt x="129921" y="0"/>
                  </a:lnTo>
                  <a:lnTo>
                    <a:pt x="184023" y="0"/>
                  </a:lnTo>
                  <a:lnTo>
                    <a:pt x="184023" y="126492"/>
                  </a:lnTo>
                  <a:lnTo>
                    <a:pt x="313944" y="126492"/>
                  </a:lnTo>
                  <a:lnTo>
                    <a:pt x="313944" y="168656"/>
                  </a:lnTo>
                  <a:lnTo>
                    <a:pt x="184023" y="168656"/>
                  </a:lnTo>
                  <a:lnTo>
                    <a:pt x="184023" y="295148"/>
                  </a:lnTo>
                  <a:lnTo>
                    <a:pt x="129921" y="295148"/>
                  </a:lnTo>
                  <a:lnTo>
                    <a:pt x="129921" y="168656"/>
                  </a:lnTo>
                  <a:lnTo>
                    <a:pt x="0" y="168656"/>
                  </a:lnTo>
                  <a:lnTo>
                    <a:pt x="0" y="126492"/>
                  </a:lnTo>
                  <a:close/>
                </a:path>
              </a:pathLst>
            </a:custGeom>
            <a:noFill/>
            <a:ln cap="flat" cmpd="sng" w="12700">
              <a:solidFill>
                <a:srgbClr val="00919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52" name="Google Shape;152;p3"/>
          <p:cNvSpPr/>
          <p:nvPr/>
        </p:nvSpPr>
        <p:spPr>
          <a:xfrm>
            <a:off x="6129125" y="1990725"/>
            <a:ext cx="5334000" cy="4467225"/>
          </a:xfrm>
          <a:custGeom>
            <a:rect b="b" l="l" r="r" t="t"/>
            <a:pathLst>
              <a:path extrusionOk="0" h="4467225" w="5334000">
                <a:moveTo>
                  <a:pt x="0" y="456691"/>
                </a:moveTo>
                <a:lnTo>
                  <a:pt x="2412" y="409955"/>
                </a:lnTo>
                <a:lnTo>
                  <a:pt x="9271" y="364616"/>
                </a:lnTo>
                <a:lnTo>
                  <a:pt x="20574" y="320928"/>
                </a:lnTo>
                <a:lnTo>
                  <a:pt x="35940" y="278891"/>
                </a:lnTo>
                <a:lnTo>
                  <a:pt x="55117" y="239013"/>
                </a:lnTo>
                <a:lnTo>
                  <a:pt x="77977" y="201295"/>
                </a:lnTo>
                <a:lnTo>
                  <a:pt x="104266" y="166242"/>
                </a:lnTo>
                <a:lnTo>
                  <a:pt x="133730" y="133730"/>
                </a:lnTo>
                <a:lnTo>
                  <a:pt x="166242" y="104266"/>
                </a:lnTo>
                <a:lnTo>
                  <a:pt x="201295" y="77977"/>
                </a:lnTo>
                <a:lnTo>
                  <a:pt x="239013" y="55117"/>
                </a:lnTo>
                <a:lnTo>
                  <a:pt x="278891" y="35940"/>
                </a:lnTo>
                <a:lnTo>
                  <a:pt x="320801" y="20574"/>
                </a:lnTo>
                <a:lnTo>
                  <a:pt x="364616" y="9271"/>
                </a:lnTo>
                <a:lnTo>
                  <a:pt x="409955" y="2412"/>
                </a:lnTo>
                <a:lnTo>
                  <a:pt x="456691" y="0"/>
                </a:lnTo>
                <a:lnTo>
                  <a:pt x="4877308" y="0"/>
                </a:lnTo>
                <a:lnTo>
                  <a:pt x="4923917" y="2412"/>
                </a:lnTo>
                <a:lnTo>
                  <a:pt x="4969256" y="9271"/>
                </a:lnTo>
                <a:lnTo>
                  <a:pt x="5013071" y="20574"/>
                </a:lnTo>
                <a:lnTo>
                  <a:pt x="5054981" y="35940"/>
                </a:lnTo>
                <a:lnTo>
                  <a:pt x="5094985" y="55117"/>
                </a:lnTo>
                <a:lnTo>
                  <a:pt x="5132578" y="77977"/>
                </a:lnTo>
                <a:lnTo>
                  <a:pt x="5167757" y="104266"/>
                </a:lnTo>
                <a:lnTo>
                  <a:pt x="5200142" y="133730"/>
                </a:lnTo>
                <a:lnTo>
                  <a:pt x="5229606" y="166242"/>
                </a:lnTo>
                <a:lnTo>
                  <a:pt x="5255895" y="201295"/>
                </a:lnTo>
                <a:lnTo>
                  <a:pt x="5278882" y="239013"/>
                </a:lnTo>
                <a:lnTo>
                  <a:pt x="5298058" y="278891"/>
                </a:lnTo>
                <a:lnTo>
                  <a:pt x="5313426" y="320928"/>
                </a:lnTo>
                <a:lnTo>
                  <a:pt x="5324729" y="364616"/>
                </a:lnTo>
                <a:lnTo>
                  <a:pt x="5331586" y="409955"/>
                </a:lnTo>
                <a:lnTo>
                  <a:pt x="5334000" y="456691"/>
                </a:lnTo>
                <a:lnTo>
                  <a:pt x="5334000" y="4010456"/>
                </a:lnTo>
                <a:lnTo>
                  <a:pt x="5331586" y="4057154"/>
                </a:lnTo>
                <a:lnTo>
                  <a:pt x="5324729" y="4102493"/>
                </a:lnTo>
                <a:lnTo>
                  <a:pt x="5313426" y="4146257"/>
                </a:lnTo>
                <a:lnTo>
                  <a:pt x="5298058" y="4188218"/>
                </a:lnTo>
                <a:lnTo>
                  <a:pt x="5278882" y="4228134"/>
                </a:lnTo>
                <a:lnTo>
                  <a:pt x="5255895" y="4265790"/>
                </a:lnTo>
                <a:lnTo>
                  <a:pt x="5229606" y="4300943"/>
                </a:lnTo>
                <a:lnTo>
                  <a:pt x="5200142" y="4333379"/>
                </a:lnTo>
                <a:lnTo>
                  <a:pt x="5167757" y="4362843"/>
                </a:lnTo>
                <a:lnTo>
                  <a:pt x="5132578" y="4389145"/>
                </a:lnTo>
                <a:lnTo>
                  <a:pt x="5094985" y="4412018"/>
                </a:lnTo>
                <a:lnTo>
                  <a:pt x="5054981" y="4431245"/>
                </a:lnTo>
                <a:lnTo>
                  <a:pt x="5013071" y="4446600"/>
                </a:lnTo>
                <a:lnTo>
                  <a:pt x="4969256" y="4457852"/>
                </a:lnTo>
                <a:lnTo>
                  <a:pt x="4923917" y="4464773"/>
                </a:lnTo>
                <a:lnTo>
                  <a:pt x="4877308" y="4467136"/>
                </a:lnTo>
                <a:lnTo>
                  <a:pt x="456691" y="4467136"/>
                </a:lnTo>
                <a:lnTo>
                  <a:pt x="409955" y="4464773"/>
                </a:lnTo>
                <a:lnTo>
                  <a:pt x="364616" y="4457852"/>
                </a:lnTo>
                <a:lnTo>
                  <a:pt x="320801" y="4446600"/>
                </a:lnTo>
                <a:lnTo>
                  <a:pt x="278891" y="4431245"/>
                </a:lnTo>
                <a:lnTo>
                  <a:pt x="239013" y="4412018"/>
                </a:lnTo>
                <a:lnTo>
                  <a:pt x="201295" y="4389145"/>
                </a:lnTo>
                <a:lnTo>
                  <a:pt x="166242" y="4362843"/>
                </a:lnTo>
                <a:lnTo>
                  <a:pt x="133730" y="4333379"/>
                </a:lnTo>
                <a:lnTo>
                  <a:pt x="104266" y="4300943"/>
                </a:lnTo>
                <a:lnTo>
                  <a:pt x="77977" y="4265790"/>
                </a:lnTo>
                <a:lnTo>
                  <a:pt x="55117" y="4228134"/>
                </a:lnTo>
                <a:lnTo>
                  <a:pt x="35940" y="4188218"/>
                </a:lnTo>
                <a:lnTo>
                  <a:pt x="20574" y="4146257"/>
                </a:lnTo>
                <a:lnTo>
                  <a:pt x="9271" y="4102493"/>
                </a:lnTo>
                <a:lnTo>
                  <a:pt x="2412" y="4057154"/>
                </a:lnTo>
                <a:lnTo>
                  <a:pt x="0" y="4010456"/>
                </a:lnTo>
                <a:lnTo>
                  <a:pt x="0" y="456691"/>
                </a:lnTo>
                <a:close/>
              </a:path>
            </a:pathLst>
          </a:custGeom>
          <a:noFill/>
          <a:ln cap="flat" cmpd="sng" w="38100">
            <a:solidFill>
              <a:srgbClr val="9352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3" name="Google Shape;153;p3"/>
          <p:cNvSpPr txBox="1"/>
          <p:nvPr/>
        </p:nvSpPr>
        <p:spPr>
          <a:xfrm>
            <a:off x="377724" y="418375"/>
            <a:ext cx="7524600" cy="5055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lang="en-US" sz="3200">
                <a:solidFill>
                  <a:srgbClr val="002060"/>
                </a:solidFill>
              </a:rPr>
              <a:t>Overview of the new AI Business</a:t>
            </a:r>
            <a:endParaRPr sz="3200">
              <a:solidFill>
                <a:srgbClr val="002060"/>
              </a:solidFill>
            </a:endParaRPr>
          </a:p>
        </p:txBody>
      </p:sp>
      <p:sp>
        <p:nvSpPr>
          <p:cNvPr id="154" name="Google Shape;154;p3"/>
          <p:cNvSpPr txBox="1"/>
          <p:nvPr/>
        </p:nvSpPr>
        <p:spPr>
          <a:xfrm>
            <a:off x="7318863" y="513775"/>
            <a:ext cx="4495800" cy="4431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0"/>
              </a:spcBef>
              <a:spcAft>
                <a:spcPts val="0"/>
              </a:spcAft>
              <a:buSzPts val="1100"/>
              <a:buNone/>
            </a:pPr>
            <a:r>
              <a:rPr lang="en-US" sz="1300">
                <a:solidFill>
                  <a:srgbClr val="000000"/>
                </a:solidFill>
              </a:rPr>
              <a:t>We</a:t>
            </a:r>
            <a:r>
              <a:rPr lang="en-US" sz="1300"/>
              <a:t> realize</a:t>
            </a:r>
            <a:r>
              <a:rPr lang="en-US" sz="1300">
                <a:solidFill>
                  <a:srgbClr val="000000"/>
                </a:solidFill>
              </a:rPr>
              <a:t> diverse data analysis with AI from large volumes of customer data.</a:t>
            </a:r>
            <a:endParaRPr sz="1300">
              <a:latin typeface="Arial"/>
              <a:ea typeface="Arial"/>
              <a:cs typeface="Arial"/>
              <a:sym typeface="Arial"/>
            </a:endParaRPr>
          </a:p>
        </p:txBody>
      </p:sp>
      <p:sp>
        <p:nvSpPr>
          <p:cNvPr id="155" name="Google Shape;155;p3"/>
          <p:cNvSpPr/>
          <p:nvPr/>
        </p:nvSpPr>
        <p:spPr>
          <a:xfrm>
            <a:off x="561975" y="2040324"/>
            <a:ext cx="4972050" cy="1885950"/>
          </a:xfrm>
          <a:custGeom>
            <a:rect b="b" l="l" r="r" t="t"/>
            <a:pathLst>
              <a:path extrusionOk="0" h="1885950" w="4972050">
                <a:moveTo>
                  <a:pt x="0" y="314325"/>
                </a:moveTo>
                <a:lnTo>
                  <a:pt x="3403" y="267842"/>
                </a:lnTo>
                <a:lnTo>
                  <a:pt x="13296" y="223520"/>
                </a:lnTo>
                <a:lnTo>
                  <a:pt x="29197" y="181863"/>
                </a:lnTo>
                <a:lnTo>
                  <a:pt x="50609" y="143128"/>
                </a:lnTo>
                <a:lnTo>
                  <a:pt x="77050" y="108076"/>
                </a:lnTo>
                <a:lnTo>
                  <a:pt x="108038" y="77088"/>
                </a:lnTo>
                <a:lnTo>
                  <a:pt x="143090" y="50673"/>
                </a:lnTo>
                <a:lnTo>
                  <a:pt x="181711" y="29210"/>
                </a:lnTo>
                <a:lnTo>
                  <a:pt x="223405" y="13335"/>
                </a:lnTo>
                <a:lnTo>
                  <a:pt x="267716" y="3428"/>
                </a:lnTo>
                <a:lnTo>
                  <a:pt x="314134" y="0"/>
                </a:lnTo>
                <a:lnTo>
                  <a:pt x="4657471" y="0"/>
                </a:lnTo>
                <a:lnTo>
                  <a:pt x="4703826" y="3428"/>
                </a:lnTo>
                <a:lnTo>
                  <a:pt x="4748149" y="13335"/>
                </a:lnTo>
                <a:lnTo>
                  <a:pt x="4789932" y="29210"/>
                </a:lnTo>
                <a:lnTo>
                  <a:pt x="4828540" y="50673"/>
                </a:lnTo>
                <a:lnTo>
                  <a:pt x="4863592" y="77088"/>
                </a:lnTo>
                <a:lnTo>
                  <a:pt x="4894580" y="108076"/>
                </a:lnTo>
                <a:lnTo>
                  <a:pt x="4920996" y="143128"/>
                </a:lnTo>
                <a:lnTo>
                  <a:pt x="4942332" y="181863"/>
                </a:lnTo>
                <a:lnTo>
                  <a:pt x="4958334" y="223520"/>
                </a:lnTo>
                <a:lnTo>
                  <a:pt x="4968240" y="267842"/>
                </a:lnTo>
                <a:lnTo>
                  <a:pt x="4971542" y="314325"/>
                </a:lnTo>
                <a:lnTo>
                  <a:pt x="4971542" y="1571498"/>
                </a:lnTo>
                <a:lnTo>
                  <a:pt x="4968240" y="1617980"/>
                </a:lnTo>
                <a:lnTo>
                  <a:pt x="4958334" y="1662302"/>
                </a:lnTo>
                <a:lnTo>
                  <a:pt x="4942332" y="1704086"/>
                </a:lnTo>
                <a:lnTo>
                  <a:pt x="4920996" y="1742694"/>
                </a:lnTo>
                <a:lnTo>
                  <a:pt x="4894580" y="1777745"/>
                </a:lnTo>
                <a:lnTo>
                  <a:pt x="4863592" y="1808733"/>
                </a:lnTo>
                <a:lnTo>
                  <a:pt x="4828540" y="1835277"/>
                </a:lnTo>
                <a:lnTo>
                  <a:pt x="4789932" y="1856613"/>
                </a:lnTo>
                <a:lnTo>
                  <a:pt x="4748149" y="1872614"/>
                </a:lnTo>
                <a:lnTo>
                  <a:pt x="4703826" y="1882394"/>
                </a:lnTo>
                <a:lnTo>
                  <a:pt x="4657471" y="1885823"/>
                </a:lnTo>
                <a:lnTo>
                  <a:pt x="314134" y="1885823"/>
                </a:lnTo>
                <a:lnTo>
                  <a:pt x="267716" y="1882394"/>
                </a:lnTo>
                <a:lnTo>
                  <a:pt x="223405" y="1872614"/>
                </a:lnTo>
                <a:lnTo>
                  <a:pt x="181711" y="1856613"/>
                </a:lnTo>
                <a:lnTo>
                  <a:pt x="143090" y="1835277"/>
                </a:lnTo>
                <a:lnTo>
                  <a:pt x="108038" y="1808733"/>
                </a:lnTo>
                <a:lnTo>
                  <a:pt x="77050" y="1777745"/>
                </a:lnTo>
                <a:lnTo>
                  <a:pt x="50609" y="1742694"/>
                </a:lnTo>
                <a:lnTo>
                  <a:pt x="29197" y="1704086"/>
                </a:lnTo>
                <a:lnTo>
                  <a:pt x="13296" y="1662302"/>
                </a:lnTo>
                <a:lnTo>
                  <a:pt x="3403" y="1617980"/>
                </a:lnTo>
                <a:lnTo>
                  <a:pt x="0" y="1571498"/>
                </a:lnTo>
                <a:lnTo>
                  <a:pt x="0" y="314325"/>
                </a:lnTo>
                <a:close/>
              </a:path>
            </a:pathLst>
          </a:custGeom>
          <a:noFill/>
          <a:ln cap="flat" cmpd="sng" w="38100">
            <a:solidFill>
              <a:srgbClr val="00919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6" name="Google Shape;156;p3"/>
          <p:cNvSpPr txBox="1"/>
          <p:nvPr/>
        </p:nvSpPr>
        <p:spPr>
          <a:xfrm>
            <a:off x="547675" y="1462388"/>
            <a:ext cx="5391300" cy="4770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lang="en-US" sz="1900">
                <a:solidFill>
                  <a:schemeClr val="dk1"/>
                </a:solidFill>
              </a:rPr>
              <a:t>Two core business proposals</a:t>
            </a:r>
            <a:endParaRPr sz="19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0" name="Shape 160"/>
        <p:cNvGrpSpPr/>
        <p:nvPr/>
      </p:nvGrpSpPr>
      <p:grpSpPr>
        <a:xfrm>
          <a:off x="0" y="0"/>
          <a:ext cx="0" cy="0"/>
          <a:chOff x="0" y="0"/>
          <a:chExt cx="0" cy="0"/>
        </a:xfrm>
      </p:grpSpPr>
      <p:sp>
        <p:nvSpPr>
          <p:cNvPr id="161" name="Google Shape;161;p4"/>
          <p:cNvSpPr txBox="1"/>
          <p:nvPr>
            <p:ph type="title"/>
          </p:nvPr>
        </p:nvSpPr>
        <p:spPr>
          <a:xfrm>
            <a:off x="391923" y="381501"/>
            <a:ext cx="5304600" cy="6324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3100">
                <a:latin typeface="Calibri"/>
                <a:ea typeface="Calibri"/>
                <a:cs typeface="Calibri"/>
                <a:sym typeface="Calibri"/>
              </a:rPr>
              <a:t>Proposal for New AI Business </a:t>
            </a:r>
            <a:r>
              <a:rPr lang="en-US" sz="2500">
                <a:latin typeface="Calibri"/>
                <a:ea typeface="Calibri"/>
                <a:cs typeface="Calibri"/>
                <a:sym typeface="Calibri"/>
              </a:rPr>
              <a:t>①</a:t>
            </a:r>
            <a:endParaRPr sz="2500"/>
          </a:p>
        </p:txBody>
      </p:sp>
      <p:sp>
        <p:nvSpPr>
          <p:cNvPr id="162" name="Google Shape;162;p4"/>
          <p:cNvSpPr txBox="1"/>
          <p:nvPr/>
        </p:nvSpPr>
        <p:spPr>
          <a:xfrm>
            <a:off x="672147" y="2981007"/>
            <a:ext cx="3905885" cy="485140"/>
          </a:xfrm>
          <a:prstGeom prst="rect">
            <a:avLst/>
          </a:prstGeom>
          <a:noFill/>
          <a:ln>
            <a:noFill/>
          </a:ln>
        </p:spPr>
        <p:txBody>
          <a:bodyPr anchorCtr="0" anchor="t" bIns="0" lIns="18275" spcFirstLastPara="1" rIns="18275" wrap="square" tIns="0">
            <a:noAutofit/>
          </a:bodyPr>
          <a:lstStyle/>
          <a:p>
            <a:pPr indent="-229234" lvl="0" marL="241300" marR="5080" rtl="0" algn="l">
              <a:lnSpc>
                <a:spcPct val="115333"/>
              </a:lnSpc>
              <a:spcBef>
                <a:spcPts val="0"/>
              </a:spcBef>
              <a:spcAft>
                <a:spcPts val="0"/>
              </a:spcAft>
              <a:buClr>
                <a:srgbClr val="252525"/>
              </a:buClr>
              <a:buSzPts val="1500"/>
              <a:buFont typeface="Arial"/>
              <a:buChar char="•"/>
            </a:pPr>
            <a:r>
              <a:rPr lang="en-US" sz="1500">
                <a:solidFill>
                  <a:srgbClr val="252525"/>
                </a:solidFill>
                <a:latin typeface="Calibri"/>
                <a:ea typeface="Calibri"/>
                <a:cs typeface="Calibri"/>
                <a:sym typeface="Calibri"/>
              </a:rPr>
              <a:t>Newly applied customers may become delinquent on their repayments or may be unable to repay.</a:t>
            </a:r>
            <a:endParaRPr sz="1500">
              <a:latin typeface="Calibri"/>
              <a:ea typeface="Calibri"/>
              <a:cs typeface="Calibri"/>
              <a:sym typeface="Calibri"/>
            </a:endParaRPr>
          </a:p>
        </p:txBody>
      </p:sp>
      <p:sp>
        <p:nvSpPr>
          <p:cNvPr id="163" name="Google Shape;163;p4"/>
          <p:cNvSpPr txBox="1"/>
          <p:nvPr/>
        </p:nvSpPr>
        <p:spPr>
          <a:xfrm>
            <a:off x="672147" y="4241482"/>
            <a:ext cx="4095750" cy="485140"/>
          </a:xfrm>
          <a:prstGeom prst="rect">
            <a:avLst/>
          </a:prstGeom>
          <a:noFill/>
          <a:ln>
            <a:noFill/>
          </a:ln>
        </p:spPr>
        <p:txBody>
          <a:bodyPr anchorCtr="0" anchor="t" bIns="0" lIns="18275" spcFirstLastPara="1" rIns="18275" wrap="square" tIns="0">
            <a:noAutofit/>
          </a:bodyPr>
          <a:lstStyle/>
          <a:p>
            <a:pPr indent="-235584" lvl="0" marL="241300" marR="5080" rtl="0" algn="l">
              <a:lnSpc>
                <a:spcPct val="123571"/>
              </a:lnSpc>
              <a:spcBef>
                <a:spcPts val="0"/>
              </a:spcBef>
              <a:spcAft>
                <a:spcPts val="0"/>
              </a:spcAft>
              <a:buClr>
                <a:srgbClr val="252525"/>
              </a:buClr>
              <a:buSzPts val="1500"/>
              <a:buFont typeface="Arial"/>
              <a:buChar char="•"/>
            </a:pPr>
            <a:r>
              <a:rPr lang="en-US" sz="1500">
                <a:solidFill>
                  <a:srgbClr val="252525"/>
                </a:solidFill>
                <a:latin typeface="Calibri"/>
                <a:ea typeface="Calibri"/>
                <a:cs typeface="Calibri"/>
                <a:sym typeface="Calibri"/>
              </a:rPr>
              <a:t>C</a:t>
            </a:r>
            <a:r>
              <a:rPr lang="en-US" sz="1500">
                <a:solidFill>
                  <a:srgbClr val="252525"/>
                </a:solidFill>
                <a:latin typeface="Calibri"/>
                <a:ea typeface="Calibri"/>
                <a:cs typeface="Calibri"/>
                <a:sym typeface="Calibri"/>
              </a:rPr>
              <a:t>ustomers who did not delay their repayments previously may become delinquent with the new plan.</a:t>
            </a:r>
            <a:endParaRPr sz="1500">
              <a:latin typeface="Calibri"/>
              <a:ea typeface="Calibri"/>
              <a:cs typeface="Calibri"/>
              <a:sym typeface="Calibri"/>
            </a:endParaRPr>
          </a:p>
        </p:txBody>
      </p:sp>
      <p:sp>
        <p:nvSpPr>
          <p:cNvPr id="164" name="Google Shape;164;p4"/>
          <p:cNvSpPr txBox="1"/>
          <p:nvPr/>
        </p:nvSpPr>
        <p:spPr>
          <a:xfrm>
            <a:off x="672147" y="5499100"/>
            <a:ext cx="4095750" cy="485775"/>
          </a:xfrm>
          <a:prstGeom prst="rect">
            <a:avLst/>
          </a:prstGeom>
          <a:noFill/>
          <a:ln>
            <a:noFill/>
          </a:ln>
        </p:spPr>
        <p:txBody>
          <a:bodyPr anchorCtr="0" anchor="t" bIns="0" lIns="18275" spcFirstLastPara="1" rIns="18275" wrap="square" tIns="0">
            <a:noAutofit/>
          </a:bodyPr>
          <a:lstStyle/>
          <a:p>
            <a:pPr indent="-241934" lvl="0" marL="241300" marR="5080" rtl="0" algn="l">
              <a:lnSpc>
                <a:spcPct val="133076"/>
              </a:lnSpc>
              <a:spcBef>
                <a:spcPts val="0"/>
              </a:spcBef>
              <a:spcAft>
                <a:spcPts val="0"/>
              </a:spcAft>
              <a:buClr>
                <a:srgbClr val="252525"/>
              </a:buClr>
              <a:buSzPts val="1500"/>
              <a:buFont typeface="Calibri"/>
              <a:buChar char="•"/>
            </a:pPr>
            <a:r>
              <a:rPr lang="en-US" sz="1500">
                <a:solidFill>
                  <a:srgbClr val="444746"/>
                </a:solidFill>
                <a:latin typeface="Calibri"/>
                <a:ea typeface="Calibri"/>
                <a:cs typeface="Calibri"/>
                <a:sym typeface="Calibri"/>
              </a:rPr>
              <a:t>Sudden recession may make customer acquisition and retention difficult with the current sales methods</a:t>
            </a:r>
            <a:endParaRPr sz="1500">
              <a:latin typeface="Calibri"/>
              <a:ea typeface="Calibri"/>
              <a:cs typeface="Calibri"/>
              <a:sym typeface="Calibri"/>
            </a:endParaRPr>
          </a:p>
        </p:txBody>
      </p:sp>
      <p:sp>
        <p:nvSpPr>
          <p:cNvPr id="165" name="Google Shape;165;p4"/>
          <p:cNvSpPr txBox="1"/>
          <p:nvPr/>
        </p:nvSpPr>
        <p:spPr>
          <a:xfrm>
            <a:off x="7705470" y="2981007"/>
            <a:ext cx="4107815" cy="704850"/>
          </a:xfrm>
          <a:prstGeom prst="rect">
            <a:avLst/>
          </a:prstGeom>
          <a:noFill/>
          <a:ln>
            <a:noFill/>
          </a:ln>
        </p:spPr>
        <p:txBody>
          <a:bodyPr anchorCtr="0" anchor="t" bIns="0" lIns="18275" spcFirstLastPara="1" rIns="18275" wrap="square" tIns="0">
            <a:noAutofit/>
          </a:bodyPr>
          <a:lstStyle/>
          <a:p>
            <a:pPr indent="-241934" lvl="0" marL="241300" marR="5080" rtl="0" algn="l">
              <a:lnSpc>
                <a:spcPct val="144166"/>
              </a:lnSpc>
              <a:spcBef>
                <a:spcPts val="0"/>
              </a:spcBef>
              <a:spcAft>
                <a:spcPts val="0"/>
              </a:spcAft>
              <a:buClr>
                <a:srgbClr val="252525"/>
              </a:buClr>
              <a:buSzPts val="1400"/>
              <a:buFont typeface="Noto Sans Symbols"/>
              <a:buChar char="✔"/>
            </a:pPr>
            <a:r>
              <a:rPr lang="en-US">
                <a:solidFill>
                  <a:srgbClr val="252525"/>
                </a:solidFill>
                <a:latin typeface="Calibri"/>
                <a:ea typeface="Calibri"/>
                <a:cs typeface="Calibri"/>
                <a:sym typeface="Calibri"/>
              </a:rPr>
              <a:t>Among the new applicants, AI automatically extracts those who are highly likely to become delinquent or unable to repay.</a:t>
            </a:r>
            <a:endParaRPr>
              <a:latin typeface="Calibri"/>
              <a:ea typeface="Calibri"/>
              <a:cs typeface="Calibri"/>
              <a:sym typeface="Calibri"/>
            </a:endParaRPr>
          </a:p>
        </p:txBody>
      </p:sp>
      <p:sp>
        <p:nvSpPr>
          <p:cNvPr id="166" name="Google Shape;166;p4"/>
          <p:cNvSpPr txBox="1"/>
          <p:nvPr/>
        </p:nvSpPr>
        <p:spPr>
          <a:xfrm>
            <a:off x="7705470" y="4103687"/>
            <a:ext cx="4178935" cy="714375"/>
          </a:xfrm>
          <a:prstGeom prst="rect">
            <a:avLst/>
          </a:prstGeom>
          <a:noFill/>
          <a:ln>
            <a:noFill/>
          </a:ln>
        </p:spPr>
        <p:txBody>
          <a:bodyPr anchorCtr="0" anchor="t" bIns="0" lIns="18275" spcFirstLastPara="1" rIns="18275" wrap="square" tIns="0">
            <a:noAutofit/>
          </a:bodyPr>
          <a:lstStyle/>
          <a:p>
            <a:pPr indent="-229234" lvl="0" marL="241300" marR="5080" rtl="0" algn="l">
              <a:lnSpc>
                <a:spcPct val="94900"/>
              </a:lnSpc>
              <a:spcBef>
                <a:spcPts val="0"/>
              </a:spcBef>
              <a:spcAft>
                <a:spcPts val="0"/>
              </a:spcAft>
              <a:buClr>
                <a:srgbClr val="252525"/>
              </a:buClr>
              <a:buSzPts val="1400"/>
              <a:buFont typeface="Noto Sans Symbols"/>
              <a:buChar char="✔"/>
            </a:pPr>
            <a:r>
              <a:rPr lang="en-US">
                <a:solidFill>
                  <a:srgbClr val="252525"/>
                </a:solidFill>
                <a:latin typeface="Calibri"/>
                <a:ea typeface="Calibri"/>
                <a:cs typeface="Calibri"/>
                <a:sym typeface="Calibri"/>
              </a:rPr>
              <a:t>As the amount of accumulated historical data increases, the probability of extracting valuable information rises, leading to improvement in default judgement..</a:t>
            </a:r>
            <a:endParaRPr sz="1400">
              <a:latin typeface="Calibri"/>
              <a:ea typeface="Calibri"/>
              <a:cs typeface="Calibri"/>
              <a:sym typeface="Calibri"/>
            </a:endParaRPr>
          </a:p>
        </p:txBody>
      </p:sp>
      <p:sp>
        <p:nvSpPr>
          <p:cNvPr id="167" name="Google Shape;167;p4"/>
          <p:cNvSpPr txBox="1"/>
          <p:nvPr/>
        </p:nvSpPr>
        <p:spPr>
          <a:xfrm>
            <a:off x="7705470" y="5236146"/>
            <a:ext cx="4104004" cy="714375"/>
          </a:xfrm>
          <a:prstGeom prst="rect">
            <a:avLst/>
          </a:prstGeom>
          <a:noFill/>
          <a:ln>
            <a:noFill/>
          </a:ln>
        </p:spPr>
        <p:txBody>
          <a:bodyPr anchorCtr="0" anchor="t" bIns="0" lIns="18275" spcFirstLastPara="1" rIns="18275" wrap="square" tIns="0">
            <a:noAutofit/>
          </a:bodyPr>
          <a:lstStyle/>
          <a:p>
            <a:pPr indent="-222884" lvl="0" marL="241300" marR="5080" rtl="0" algn="just">
              <a:lnSpc>
                <a:spcPct val="94900"/>
              </a:lnSpc>
              <a:spcBef>
                <a:spcPts val="0"/>
              </a:spcBef>
              <a:spcAft>
                <a:spcPts val="0"/>
              </a:spcAft>
              <a:buClr>
                <a:srgbClr val="252525"/>
              </a:buClr>
              <a:buSzPts val="1400"/>
              <a:buFont typeface="Calibri"/>
              <a:buChar char="✔"/>
            </a:pPr>
            <a:r>
              <a:rPr lang="en-US">
                <a:solidFill>
                  <a:srgbClr val="444746"/>
                </a:solidFill>
                <a:latin typeface="Calibri"/>
                <a:ea typeface="Calibri"/>
                <a:cs typeface="Calibri"/>
                <a:sym typeface="Calibri"/>
              </a:rPr>
              <a:t>We swiftly propose multiple countermeasures that cover the worst-case scenario, and can help you with loss-cutting.</a:t>
            </a:r>
            <a:endParaRPr>
              <a:latin typeface="Calibri"/>
              <a:ea typeface="Calibri"/>
              <a:cs typeface="Calibri"/>
              <a:sym typeface="Calibri"/>
            </a:endParaRPr>
          </a:p>
        </p:txBody>
      </p:sp>
      <p:sp>
        <p:nvSpPr>
          <p:cNvPr id="168" name="Google Shape;168;p4"/>
          <p:cNvSpPr txBox="1"/>
          <p:nvPr/>
        </p:nvSpPr>
        <p:spPr>
          <a:xfrm>
            <a:off x="648650" y="1245876"/>
            <a:ext cx="7314300" cy="3003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700">
                <a:solidFill>
                  <a:srgbClr val="001F5F"/>
                </a:solidFill>
                <a:latin typeface="Calibri"/>
                <a:ea typeface="Calibri"/>
                <a:cs typeface="Calibri"/>
                <a:sym typeface="Calibri"/>
              </a:rPr>
              <a:t>AI enables diversified data analysis from a large volume of customer data.</a:t>
            </a:r>
            <a:endParaRPr sz="1700">
              <a:latin typeface="Calibri"/>
              <a:ea typeface="Calibri"/>
              <a:cs typeface="Calibri"/>
              <a:sym typeface="Calibri"/>
            </a:endParaRPr>
          </a:p>
        </p:txBody>
      </p:sp>
      <p:grpSp>
        <p:nvGrpSpPr>
          <p:cNvPr id="169" name="Google Shape;169;p4"/>
          <p:cNvGrpSpPr/>
          <p:nvPr/>
        </p:nvGrpSpPr>
        <p:grpSpPr>
          <a:xfrm>
            <a:off x="0" y="12"/>
            <a:ext cx="12192318" cy="309499"/>
            <a:chOff x="0" y="12"/>
            <a:chExt cx="12192318" cy="309499"/>
          </a:xfrm>
        </p:grpSpPr>
        <p:sp>
          <p:nvSpPr>
            <p:cNvPr id="170" name="Google Shape;170;p4"/>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1" name="Google Shape;171;p4"/>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72" name="Google Shape;172;p4"/>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3" name="Google Shape;173;p4"/>
          <p:cNvSpPr txBox="1"/>
          <p:nvPr/>
        </p:nvSpPr>
        <p:spPr>
          <a:xfrm>
            <a:off x="5885560" y="499173"/>
            <a:ext cx="6118225" cy="391795"/>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800">
                <a:solidFill>
                  <a:srgbClr val="001F5F"/>
                </a:solidFill>
                <a:latin typeface="Calibri"/>
                <a:ea typeface="Calibri"/>
                <a:cs typeface="Calibri"/>
                <a:sym typeface="Calibri"/>
              </a:rPr>
              <a:t>Default Customer Prediction – Never Miss a Repayment Delay –</a:t>
            </a:r>
            <a:endParaRPr sz="1800">
              <a:latin typeface="Calibri"/>
              <a:ea typeface="Calibri"/>
              <a:cs typeface="Calibri"/>
              <a:sym typeface="Calibri"/>
            </a:endParaRPr>
          </a:p>
        </p:txBody>
      </p:sp>
      <p:grpSp>
        <p:nvGrpSpPr>
          <p:cNvPr id="174" name="Google Shape;174;p4"/>
          <p:cNvGrpSpPr/>
          <p:nvPr/>
        </p:nvGrpSpPr>
        <p:grpSpPr>
          <a:xfrm>
            <a:off x="1476374" y="1838325"/>
            <a:ext cx="2452116" cy="489966"/>
            <a:chOff x="1476374" y="1838325"/>
            <a:chExt cx="2452116" cy="489966"/>
          </a:xfrm>
        </p:grpSpPr>
        <p:sp>
          <p:nvSpPr>
            <p:cNvPr id="175" name="Google Shape;175;p4"/>
            <p:cNvSpPr/>
            <p:nvPr/>
          </p:nvSpPr>
          <p:spPr>
            <a:xfrm>
              <a:off x="1476374" y="1838325"/>
              <a:ext cx="2447925" cy="485775"/>
            </a:xfrm>
            <a:custGeom>
              <a:rect b="b" l="l" r="r" t="t"/>
              <a:pathLst>
                <a:path extrusionOk="0" h="485775" w="2447925">
                  <a:moveTo>
                    <a:pt x="2208022" y="0"/>
                  </a:moveTo>
                  <a:lnTo>
                    <a:pt x="0" y="0"/>
                  </a:lnTo>
                  <a:lnTo>
                    <a:pt x="239268" y="242570"/>
                  </a:lnTo>
                  <a:lnTo>
                    <a:pt x="0" y="485266"/>
                  </a:lnTo>
                  <a:lnTo>
                    <a:pt x="2208022" y="485266"/>
                  </a:lnTo>
                  <a:lnTo>
                    <a:pt x="2447416" y="242570"/>
                  </a:lnTo>
                  <a:lnTo>
                    <a:pt x="2208022" y="0"/>
                  </a:lnTo>
                  <a:close/>
                </a:path>
              </a:pathLst>
            </a:custGeom>
            <a:solidFill>
              <a:srgbClr val="DAE2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6" name="Google Shape;176;p4"/>
            <p:cNvSpPr/>
            <p:nvPr/>
          </p:nvSpPr>
          <p:spPr>
            <a:xfrm>
              <a:off x="1481200" y="1843151"/>
              <a:ext cx="2447290" cy="485140"/>
            </a:xfrm>
            <a:custGeom>
              <a:rect b="b" l="l" r="r" t="t"/>
              <a:pathLst>
                <a:path extrusionOk="0" h="485139" w="2447290">
                  <a:moveTo>
                    <a:pt x="0" y="0"/>
                  </a:moveTo>
                  <a:lnTo>
                    <a:pt x="2208022" y="0"/>
                  </a:lnTo>
                  <a:lnTo>
                    <a:pt x="2447290" y="242570"/>
                  </a:lnTo>
                  <a:lnTo>
                    <a:pt x="2208022" y="485139"/>
                  </a:lnTo>
                  <a:lnTo>
                    <a:pt x="0" y="485139"/>
                  </a:lnTo>
                  <a:lnTo>
                    <a:pt x="239268" y="242570"/>
                  </a:lnTo>
                  <a:lnTo>
                    <a:pt x="0" y="0"/>
                  </a:lnTo>
                  <a:close/>
                </a:path>
              </a:pathLst>
            </a:custGeom>
            <a:noFill/>
            <a:ln cap="flat" cmpd="sng" w="12700">
              <a:solidFill>
                <a:srgbClr val="8FAAD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77" name="Google Shape;177;p4"/>
          <p:cNvSpPr txBox="1"/>
          <p:nvPr/>
        </p:nvSpPr>
        <p:spPr>
          <a:xfrm>
            <a:off x="1863829" y="1903400"/>
            <a:ext cx="1765800" cy="3576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800">
                <a:solidFill>
                  <a:srgbClr val="001F5F"/>
                </a:solidFill>
                <a:latin typeface="Calibri"/>
                <a:ea typeface="Calibri"/>
                <a:cs typeface="Calibri"/>
                <a:sym typeface="Calibri"/>
              </a:rPr>
              <a:t>Current Status</a:t>
            </a:r>
            <a:endParaRPr sz="1800">
              <a:latin typeface="Calibri"/>
              <a:ea typeface="Calibri"/>
              <a:cs typeface="Calibri"/>
              <a:sym typeface="Calibri"/>
            </a:endParaRPr>
          </a:p>
        </p:txBody>
      </p:sp>
      <p:grpSp>
        <p:nvGrpSpPr>
          <p:cNvPr id="178" name="Google Shape;178;p4"/>
          <p:cNvGrpSpPr/>
          <p:nvPr/>
        </p:nvGrpSpPr>
        <p:grpSpPr>
          <a:xfrm>
            <a:off x="7962900" y="1838325"/>
            <a:ext cx="2452116" cy="489966"/>
            <a:chOff x="7962900" y="1838325"/>
            <a:chExt cx="2452116" cy="489966"/>
          </a:xfrm>
        </p:grpSpPr>
        <p:sp>
          <p:nvSpPr>
            <p:cNvPr id="179" name="Google Shape;179;p4"/>
            <p:cNvSpPr/>
            <p:nvPr/>
          </p:nvSpPr>
          <p:spPr>
            <a:xfrm>
              <a:off x="7962900" y="1838325"/>
              <a:ext cx="2447925" cy="485775"/>
            </a:xfrm>
            <a:custGeom>
              <a:rect b="b" l="l" r="r" t="t"/>
              <a:pathLst>
                <a:path extrusionOk="0" h="485775" w="2447925">
                  <a:moveTo>
                    <a:pt x="2208022" y="0"/>
                  </a:moveTo>
                  <a:lnTo>
                    <a:pt x="0" y="0"/>
                  </a:lnTo>
                  <a:lnTo>
                    <a:pt x="239268" y="242570"/>
                  </a:lnTo>
                  <a:lnTo>
                    <a:pt x="0" y="485266"/>
                  </a:lnTo>
                  <a:lnTo>
                    <a:pt x="2208022" y="485266"/>
                  </a:lnTo>
                  <a:lnTo>
                    <a:pt x="2447417" y="242570"/>
                  </a:lnTo>
                  <a:lnTo>
                    <a:pt x="2208022" y="0"/>
                  </a:lnTo>
                  <a:close/>
                </a:path>
              </a:pathLst>
            </a:custGeom>
            <a:solidFill>
              <a:srgbClr val="8FAADC">
                <a:alpha val="6666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0" name="Google Shape;180;p4"/>
            <p:cNvSpPr/>
            <p:nvPr/>
          </p:nvSpPr>
          <p:spPr>
            <a:xfrm>
              <a:off x="7967726" y="1843151"/>
              <a:ext cx="2447290" cy="485140"/>
            </a:xfrm>
            <a:custGeom>
              <a:rect b="b" l="l" r="r" t="t"/>
              <a:pathLst>
                <a:path extrusionOk="0" h="485139" w="2447290">
                  <a:moveTo>
                    <a:pt x="0" y="0"/>
                  </a:moveTo>
                  <a:lnTo>
                    <a:pt x="2208022" y="0"/>
                  </a:lnTo>
                  <a:lnTo>
                    <a:pt x="2447290" y="242570"/>
                  </a:lnTo>
                  <a:lnTo>
                    <a:pt x="2208022" y="485139"/>
                  </a:lnTo>
                  <a:lnTo>
                    <a:pt x="0" y="485139"/>
                  </a:lnTo>
                  <a:lnTo>
                    <a:pt x="239268" y="242570"/>
                  </a:lnTo>
                  <a:lnTo>
                    <a:pt x="0" y="0"/>
                  </a:lnTo>
                  <a:close/>
                </a:path>
              </a:pathLst>
            </a:custGeom>
            <a:noFill/>
            <a:ln cap="flat" cmpd="sng" w="12700">
              <a:solidFill>
                <a:srgbClr val="2D75B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1" name="Google Shape;181;p4"/>
          <p:cNvSpPr txBox="1"/>
          <p:nvPr/>
        </p:nvSpPr>
        <p:spPr>
          <a:xfrm>
            <a:off x="8296175" y="1903400"/>
            <a:ext cx="1962000" cy="3003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700">
                <a:solidFill>
                  <a:srgbClr val="212A35"/>
                </a:solidFill>
                <a:latin typeface="Calibri"/>
                <a:ea typeface="Calibri"/>
                <a:cs typeface="Calibri"/>
                <a:sym typeface="Calibri"/>
              </a:rPr>
              <a:t>After Implementation</a:t>
            </a:r>
            <a:endParaRPr sz="1700">
              <a:latin typeface="Calibri"/>
              <a:ea typeface="Calibri"/>
              <a:cs typeface="Calibri"/>
              <a:sym typeface="Calibri"/>
            </a:endParaRPr>
          </a:p>
        </p:txBody>
      </p:sp>
      <p:grpSp>
        <p:nvGrpSpPr>
          <p:cNvPr id="182" name="Google Shape;182;p4"/>
          <p:cNvGrpSpPr/>
          <p:nvPr/>
        </p:nvGrpSpPr>
        <p:grpSpPr>
          <a:xfrm>
            <a:off x="5172075" y="4038600"/>
            <a:ext cx="928116" cy="1071626"/>
            <a:chOff x="5172075" y="4038600"/>
            <a:chExt cx="928116" cy="1071626"/>
          </a:xfrm>
        </p:grpSpPr>
        <p:sp>
          <p:nvSpPr>
            <p:cNvPr id="183" name="Google Shape;183;p4"/>
            <p:cNvSpPr/>
            <p:nvPr/>
          </p:nvSpPr>
          <p:spPr>
            <a:xfrm>
              <a:off x="5172075" y="4038600"/>
              <a:ext cx="923925" cy="1066800"/>
            </a:xfrm>
            <a:custGeom>
              <a:rect b="b" l="l" r="r" t="t"/>
              <a:pathLst>
                <a:path extrusionOk="0" h="1066800" w="923925">
                  <a:moveTo>
                    <a:pt x="461645" y="0"/>
                  </a:moveTo>
                  <a:lnTo>
                    <a:pt x="461645" y="266573"/>
                  </a:lnTo>
                  <a:lnTo>
                    <a:pt x="0" y="266573"/>
                  </a:lnTo>
                  <a:lnTo>
                    <a:pt x="0" y="799845"/>
                  </a:lnTo>
                  <a:lnTo>
                    <a:pt x="461645" y="799845"/>
                  </a:lnTo>
                  <a:lnTo>
                    <a:pt x="461645" y="1066419"/>
                  </a:lnTo>
                  <a:lnTo>
                    <a:pt x="923416" y="533273"/>
                  </a:lnTo>
                  <a:lnTo>
                    <a:pt x="461645" y="0"/>
                  </a:lnTo>
                  <a:close/>
                </a:path>
              </a:pathLst>
            </a:custGeom>
            <a:solidFill>
              <a:srgbClr val="DAE2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4" name="Google Shape;184;p4"/>
            <p:cNvSpPr/>
            <p:nvPr/>
          </p:nvSpPr>
          <p:spPr>
            <a:xfrm>
              <a:off x="5176901" y="4043426"/>
              <a:ext cx="923290" cy="1066800"/>
            </a:xfrm>
            <a:custGeom>
              <a:rect b="b" l="l" r="r" t="t"/>
              <a:pathLst>
                <a:path extrusionOk="0" h="1066800" w="923289">
                  <a:moveTo>
                    <a:pt x="0" y="266573"/>
                  </a:moveTo>
                  <a:lnTo>
                    <a:pt x="461645" y="266573"/>
                  </a:lnTo>
                  <a:lnTo>
                    <a:pt x="461645" y="0"/>
                  </a:lnTo>
                  <a:lnTo>
                    <a:pt x="923289" y="533146"/>
                  </a:lnTo>
                  <a:lnTo>
                    <a:pt x="461645" y="1066419"/>
                  </a:lnTo>
                  <a:lnTo>
                    <a:pt x="461645" y="799719"/>
                  </a:lnTo>
                  <a:lnTo>
                    <a:pt x="0" y="799719"/>
                  </a:lnTo>
                  <a:lnTo>
                    <a:pt x="0" y="266573"/>
                  </a:lnTo>
                  <a:close/>
                </a:path>
              </a:pathLst>
            </a:custGeom>
            <a:noFill/>
            <a:ln cap="flat" cmpd="sng" w="12675">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5" name="Google Shape;185;p4"/>
          <p:cNvSpPr/>
          <p:nvPr/>
        </p:nvSpPr>
        <p:spPr>
          <a:xfrm>
            <a:off x="476250" y="2709850"/>
            <a:ext cx="4438015" cy="3724275"/>
          </a:xfrm>
          <a:custGeom>
            <a:rect b="b" l="l" r="r" t="t"/>
            <a:pathLst>
              <a:path extrusionOk="0" h="3724275" w="4438015">
                <a:moveTo>
                  <a:pt x="0" y="620649"/>
                </a:moveTo>
                <a:lnTo>
                  <a:pt x="1866" y="572135"/>
                </a:lnTo>
                <a:lnTo>
                  <a:pt x="7391" y="524763"/>
                </a:lnTo>
                <a:lnTo>
                  <a:pt x="16421" y="478409"/>
                </a:lnTo>
                <a:lnTo>
                  <a:pt x="28829" y="433324"/>
                </a:lnTo>
                <a:lnTo>
                  <a:pt x="44475" y="389763"/>
                </a:lnTo>
                <a:lnTo>
                  <a:pt x="63207" y="347725"/>
                </a:lnTo>
                <a:lnTo>
                  <a:pt x="84912" y="307466"/>
                </a:lnTo>
                <a:lnTo>
                  <a:pt x="109435" y="268986"/>
                </a:lnTo>
                <a:lnTo>
                  <a:pt x="136626" y="232537"/>
                </a:lnTo>
                <a:lnTo>
                  <a:pt x="166382" y="198120"/>
                </a:lnTo>
                <a:lnTo>
                  <a:pt x="198526" y="165988"/>
                </a:lnTo>
                <a:lnTo>
                  <a:pt x="232943" y="136398"/>
                </a:lnTo>
                <a:lnTo>
                  <a:pt x="269494" y="109220"/>
                </a:lnTo>
                <a:lnTo>
                  <a:pt x="308025" y="84709"/>
                </a:lnTo>
                <a:lnTo>
                  <a:pt x="348424" y="63119"/>
                </a:lnTo>
                <a:lnTo>
                  <a:pt x="390525" y="44323"/>
                </a:lnTo>
                <a:lnTo>
                  <a:pt x="434213" y="28828"/>
                </a:lnTo>
                <a:lnTo>
                  <a:pt x="479336" y="16383"/>
                </a:lnTo>
                <a:lnTo>
                  <a:pt x="525754" y="7365"/>
                </a:lnTo>
                <a:lnTo>
                  <a:pt x="573328" y="1904"/>
                </a:lnTo>
                <a:lnTo>
                  <a:pt x="621931" y="0"/>
                </a:lnTo>
                <a:lnTo>
                  <a:pt x="3816096" y="0"/>
                </a:lnTo>
                <a:lnTo>
                  <a:pt x="3864737" y="1904"/>
                </a:lnTo>
                <a:lnTo>
                  <a:pt x="3912235" y="7365"/>
                </a:lnTo>
                <a:lnTo>
                  <a:pt x="3958716" y="16383"/>
                </a:lnTo>
                <a:lnTo>
                  <a:pt x="4003802" y="28828"/>
                </a:lnTo>
                <a:lnTo>
                  <a:pt x="4047490" y="44323"/>
                </a:lnTo>
                <a:lnTo>
                  <a:pt x="4089654" y="63119"/>
                </a:lnTo>
                <a:lnTo>
                  <a:pt x="4130040" y="84709"/>
                </a:lnTo>
                <a:lnTo>
                  <a:pt x="4168521" y="109220"/>
                </a:lnTo>
                <a:lnTo>
                  <a:pt x="4205097" y="136398"/>
                </a:lnTo>
                <a:lnTo>
                  <a:pt x="4239514" y="165988"/>
                </a:lnTo>
                <a:lnTo>
                  <a:pt x="4271645" y="198120"/>
                </a:lnTo>
                <a:lnTo>
                  <a:pt x="4301363" y="232537"/>
                </a:lnTo>
                <a:lnTo>
                  <a:pt x="4328541" y="268986"/>
                </a:lnTo>
                <a:lnTo>
                  <a:pt x="4353052" y="307466"/>
                </a:lnTo>
                <a:lnTo>
                  <a:pt x="4374769" y="347725"/>
                </a:lnTo>
                <a:lnTo>
                  <a:pt x="4393565" y="389763"/>
                </a:lnTo>
                <a:lnTo>
                  <a:pt x="4409186" y="433324"/>
                </a:lnTo>
                <a:lnTo>
                  <a:pt x="4421632" y="478409"/>
                </a:lnTo>
                <a:lnTo>
                  <a:pt x="4430649" y="524763"/>
                </a:lnTo>
                <a:lnTo>
                  <a:pt x="4436110" y="572135"/>
                </a:lnTo>
                <a:lnTo>
                  <a:pt x="4438015" y="620649"/>
                </a:lnTo>
                <a:lnTo>
                  <a:pt x="4438015" y="3103410"/>
                </a:lnTo>
                <a:lnTo>
                  <a:pt x="4436110" y="3151911"/>
                </a:lnTo>
                <a:lnTo>
                  <a:pt x="4430649" y="3199409"/>
                </a:lnTo>
                <a:lnTo>
                  <a:pt x="4421632" y="3245726"/>
                </a:lnTo>
                <a:lnTo>
                  <a:pt x="4409186" y="3290760"/>
                </a:lnTo>
                <a:lnTo>
                  <a:pt x="4393565" y="3334359"/>
                </a:lnTo>
                <a:lnTo>
                  <a:pt x="4374769" y="3376383"/>
                </a:lnTo>
                <a:lnTo>
                  <a:pt x="4353052" y="3416693"/>
                </a:lnTo>
                <a:lnTo>
                  <a:pt x="4328541" y="3455149"/>
                </a:lnTo>
                <a:lnTo>
                  <a:pt x="4301363" y="3491623"/>
                </a:lnTo>
                <a:lnTo>
                  <a:pt x="4271645" y="3525977"/>
                </a:lnTo>
                <a:lnTo>
                  <a:pt x="4239514" y="3558057"/>
                </a:lnTo>
                <a:lnTo>
                  <a:pt x="4205097" y="3587750"/>
                </a:lnTo>
                <a:lnTo>
                  <a:pt x="4168521" y="3614902"/>
                </a:lnTo>
                <a:lnTo>
                  <a:pt x="4130040" y="3639362"/>
                </a:lnTo>
                <a:lnTo>
                  <a:pt x="4089654" y="3661016"/>
                </a:lnTo>
                <a:lnTo>
                  <a:pt x="4047490" y="3679723"/>
                </a:lnTo>
                <a:lnTo>
                  <a:pt x="4003802" y="3695331"/>
                </a:lnTo>
                <a:lnTo>
                  <a:pt x="3958716" y="3707714"/>
                </a:lnTo>
                <a:lnTo>
                  <a:pt x="3912235" y="3716731"/>
                </a:lnTo>
                <a:lnTo>
                  <a:pt x="3864737" y="3722243"/>
                </a:lnTo>
                <a:lnTo>
                  <a:pt x="3816096" y="3724109"/>
                </a:lnTo>
                <a:lnTo>
                  <a:pt x="621931" y="3724109"/>
                </a:lnTo>
                <a:lnTo>
                  <a:pt x="573328" y="3722243"/>
                </a:lnTo>
                <a:lnTo>
                  <a:pt x="525754" y="3716731"/>
                </a:lnTo>
                <a:lnTo>
                  <a:pt x="479336" y="3707714"/>
                </a:lnTo>
                <a:lnTo>
                  <a:pt x="434213" y="3695331"/>
                </a:lnTo>
                <a:lnTo>
                  <a:pt x="390525" y="3679723"/>
                </a:lnTo>
                <a:lnTo>
                  <a:pt x="348424" y="3661016"/>
                </a:lnTo>
                <a:lnTo>
                  <a:pt x="308025" y="3639362"/>
                </a:lnTo>
                <a:lnTo>
                  <a:pt x="269494" y="3614902"/>
                </a:lnTo>
                <a:lnTo>
                  <a:pt x="232943" y="3587750"/>
                </a:lnTo>
                <a:lnTo>
                  <a:pt x="198526" y="3558057"/>
                </a:lnTo>
                <a:lnTo>
                  <a:pt x="166382" y="3525977"/>
                </a:lnTo>
                <a:lnTo>
                  <a:pt x="136626" y="3491623"/>
                </a:lnTo>
                <a:lnTo>
                  <a:pt x="109435" y="3455149"/>
                </a:lnTo>
                <a:lnTo>
                  <a:pt x="84912" y="3416693"/>
                </a:lnTo>
                <a:lnTo>
                  <a:pt x="63207" y="3376383"/>
                </a:lnTo>
                <a:lnTo>
                  <a:pt x="44475" y="3334359"/>
                </a:lnTo>
                <a:lnTo>
                  <a:pt x="28829" y="3290760"/>
                </a:lnTo>
                <a:lnTo>
                  <a:pt x="16421" y="3245726"/>
                </a:lnTo>
                <a:lnTo>
                  <a:pt x="7391" y="3199409"/>
                </a:lnTo>
                <a:lnTo>
                  <a:pt x="1866" y="3151911"/>
                </a:lnTo>
                <a:lnTo>
                  <a:pt x="0" y="3103410"/>
                </a:lnTo>
                <a:lnTo>
                  <a:pt x="0" y="620649"/>
                </a:lnTo>
                <a:close/>
              </a:path>
            </a:pathLst>
          </a:custGeom>
          <a:noFill/>
          <a:ln cap="flat" cmpd="sng" w="19025">
            <a:solidFill>
              <a:srgbClr val="9DC3E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186" name="Google Shape;186;p4"/>
          <p:cNvGrpSpPr/>
          <p:nvPr/>
        </p:nvGrpSpPr>
        <p:grpSpPr>
          <a:xfrm>
            <a:off x="6358010" y="2709851"/>
            <a:ext cx="5676265" cy="3724275"/>
            <a:chOff x="6358001" y="2709926"/>
            <a:chExt cx="5676265" cy="3724275"/>
          </a:xfrm>
        </p:grpSpPr>
        <p:sp>
          <p:nvSpPr>
            <p:cNvPr id="187" name="Google Shape;187;p4"/>
            <p:cNvSpPr/>
            <p:nvPr/>
          </p:nvSpPr>
          <p:spPr>
            <a:xfrm>
              <a:off x="6358001" y="2709926"/>
              <a:ext cx="5676265" cy="3724275"/>
            </a:xfrm>
            <a:custGeom>
              <a:rect b="b" l="l" r="r" t="t"/>
              <a:pathLst>
                <a:path extrusionOk="0" h="3724275" w="5676265">
                  <a:moveTo>
                    <a:pt x="0" y="620649"/>
                  </a:moveTo>
                  <a:lnTo>
                    <a:pt x="1777" y="572135"/>
                  </a:lnTo>
                  <a:lnTo>
                    <a:pt x="7365" y="524637"/>
                  </a:lnTo>
                  <a:lnTo>
                    <a:pt x="16383" y="478282"/>
                  </a:lnTo>
                  <a:lnTo>
                    <a:pt x="28828" y="433324"/>
                  </a:lnTo>
                  <a:lnTo>
                    <a:pt x="44450" y="389636"/>
                  </a:lnTo>
                  <a:lnTo>
                    <a:pt x="63119" y="347725"/>
                  </a:lnTo>
                  <a:lnTo>
                    <a:pt x="84836" y="307339"/>
                  </a:lnTo>
                  <a:lnTo>
                    <a:pt x="109474" y="268859"/>
                  </a:lnTo>
                  <a:lnTo>
                    <a:pt x="136651" y="232410"/>
                  </a:lnTo>
                  <a:lnTo>
                    <a:pt x="166370" y="198120"/>
                  </a:lnTo>
                  <a:lnTo>
                    <a:pt x="198500" y="165988"/>
                  </a:lnTo>
                  <a:lnTo>
                    <a:pt x="233045" y="136271"/>
                  </a:lnTo>
                  <a:lnTo>
                    <a:pt x="269621" y="109093"/>
                  </a:lnTo>
                  <a:lnTo>
                    <a:pt x="308101" y="84709"/>
                  </a:lnTo>
                  <a:lnTo>
                    <a:pt x="348488" y="62991"/>
                  </a:lnTo>
                  <a:lnTo>
                    <a:pt x="390651" y="44323"/>
                  </a:lnTo>
                  <a:lnTo>
                    <a:pt x="434340" y="28701"/>
                  </a:lnTo>
                  <a:lnTo>
                    <a:pt x="479551" y="16383"/>
                  </a:lnTo>
                  <a:lnTo>
                    <a:pt x="525906" y="7365"/>
                  </a:lnTo>
                  <a:lnTo>
                    <a:pt x="573531" y="1777"/>
                  </a:lnTo>
                  <a:lnTo>
                    <a:pt x="622173" y="0"/>
                  </a:lnTo>
                  <a:lnTo>
                    <a:pt x="5053965" y="0"/>
                  </a:lnTo>
                  <a:lnTo>
                    <a:pt x="5102606" y="1777"/>
                  </a:lnTo>
                  <a:lnTo>
                    <a:pt x="5150231" y="7365"/>
                  </a:lnTo>
                  <a:lnTo>
                    <a:pt x="5196713" y="16383"/>
                  </a:lnTo>
                  <a:lnTo>
                    <a:pt x="5241798" y="28701"/>
                  </a:lnTo>
                  <a:lnTo>
                    <a:pt x="5285485" y="44323"/>
                  </a:lnTo>
                  <a:lnTo>
                    <a:pt x="5327650" y="62991"/>
                  </a:lnTo>
                  <a:lnTo>
                    <a:pt x="5368035" y="84709"/>
                  </a:lnTo>
                  <a:lnTo>
                    <a:pt x="5406644" y="109093"/>
                  </a:lnTo>
                  <a:lnTo>
                    <a:pt x="5443093" y="136271"/>
                  </a:lnTo>
                  <a:lnTo>
                    <a:pt x="5477637" y="165988"/>
                  </a:lnTo>
                  <a:lnTo>
                    <a:pt x="5509768" y="198120"/>
                  </a:lnTo>
                  <a:lnTo>
                    <a:pt x="5539485" y="232410"/>
                  </a:lnTo>
                  <a:lnTo>
                    <a:pt x="5566791" y="268859"/>
                  </a:lnTo>
                  <a:lnTo>
                    <a:pt x="5591302" y="307339"/>
                  </a:lnTo>
                  <a:lnTo>
                    <a:pt x="5613019" y="347725"/>
                  </a:lnTo>
                  <a:lnTo>
                    <a:pt x="5631688" y="389636"/>
                  </a:lnTo>
                  <a:lnTo>
                    <a:pt x="5647308" y="433324"/>
                  </a:lnTo>
                  <a:lnTo>
                    <a:pt x="5659755" y="478282"/>
                  </a:lnTo>
                  <a:lnTo>
                    <a:pt x="5668772" y="524637"/>
                  </a:lnTo>
                  <a:lnTo>
                    <a:pt x="5674359" y="572135"/>
                  </a:lnTo>
                  <a:lnTo>
                    <a:pt x="5676265" y="620649"/>
                  </a:lnTo>
                  <a:lnTo>
                    <a:pt x="5676265" y="3103346"/>
                  </a:lnTo>
                  <a:lnTo>
                    <a:pt x="5674359" y="3151860"/>
                  </a:lnTo>
                  <a:lnTo>
                    <a:pt x="5668772" y="3199345"/>
                  </a:lnTo>
                  <a:lnTo>
                    <a:pt x="5659755" y="3245662"/>
                  </a:lnTo>
                  <a:lnTo>
                    <a:pt x="5647308" y="3290697"/>
                  </a:lnTo>
                  <a:lnTo>
                    <a:pt x="5631688" y="3334296"/>
                  </a:lnTo>
                  <a:lnTo>
                    <a:pt x="5613019" y="3376320"/>
                  </a:lnTo>
                  <a:lnTo>
                    <a:pt x="5591302" y="3416630"/>
                  </a:lnTo>
                  <a:lnTo>
                    <a:pt x="5566791" y="3455085"/>
                  </a:lnTo>
                  <a:lnTo>
                    <a:pt x="5539485" y="3491560"/>
                  </a:lnTo>
                  <a:lnTo>
                    <a:pt x="5509768" y="3525913"/>
                  </a:lnTo>
                  <a:lnTo>
                    <a:pt x="5477637" y="3557993"/>
                  </a:lnTo>
                  <a:lnTo>
                    <a:pt x="5443093" y="3587686"/>
                  </a:lnTo>
                  <a:lnTo>
                    <a:pt x="5406644" y="3614839"/>
                  </a:lnTo>
                  <a:lnTo>
                    <a:pt x="5368035" y="3639299"/>
                  </a:lnTo>
                  <a:lnTo>
                    <a:pt x="5327650" y="3660952"/>
                  </a:lnTo>
                  <a:lnTo>
                    <a:pt x="5285485" y="3679659"/>
                  </a:lnTo>
                  <a:lnTo>
                    <a:pt x="5241798" y="3695268"/>
                  </a:lnTo>
                  <a:lnTo>
                    <a:pt x="5196713" y="3707650"/>
                  </a:lnTo>
                  <a:lnTo>
                    <a:pt x="5150231" y="3716667"/>
                  </a:lnTo>
                  <a:lnTo>
                    <a:pt x="5102606" y="3722179"/>
                  </a:lnTo>
                  <a:lnTo>
                    <a:pt x="5053965" y="3724046"/>
                  </a:lnTo>
                  <a:lnTo>
                    <a:pt x="622173" y="3724046"/>
                  </a:lnTo>
                  <a:lnTo>
                    <a:pt x="573531" y="3722179"/>
                  </a:lnTo>
                  <a:lnTo>
                    <a:pt x="525906" y="3716667"/>
                  </a:lnTo>
                  <a:lnTo>
                    <a:pt x="479551" y="3707650"/>
                  </a:lnTo>
                  <a:lnTo>
                    <a:pt x="434340" y="3695268"/>
                  </a:lnTo>
                  <a:lnTo>
                    <a:pt x="390651" y="3679659"/>
                  </a:lnTo>
                  <a:lnTo>
                    <a:pt x="348488" y="3660952"/>
                  </a:lnTo>
                  <a:lnTo>
                    <a:pt x="308101" y="3639299"/>
                  </a:lnTo>
                  <a:lnTo>
                    <a:pt x="269621" y="3614839"/>
                  </a:lnTo>
                  <a:lnTo>
                    <a:pt x="233045" y="3587686"/>
                  </a:lnTo>
                  <a:lnTo>
                    <a:pt x="198500" y="3557993"/>
                  </a:lnTo>
                  <a:lnTo>
                    <a:pt x="166370" y="3525913"/>
                  </a:lnTo>
                  <a:lnTo>
                    <a:pt x="136651" y="3491560"/>
                  </a:lnTo>
                  <a:lnTo>
                    <a:pt x="109474" y="3455085"/>
                  </a:lnTo>
                  <a:lnTo>
                    <a:pt x="84836" y="3416630"/>
                  </a:lnTo>
                  <a:lnTo>
                    <a:pt x="63119" y="3376320"/>
                  </a:lnTo>
                  <a:lnTo>
                    <a:pt x="44450" y="3334296"/>
                  </a:lnTo>
                  <a:lnTo>
                    <a:pt x="28828" y="3290697"/>
                  </a:lnTo>
                  <a:lnTo>
                    <a:pt x="16383" y="3245662"/>
                  </a:lnTo>
                  <a:lnTo>
                    <a:pt x="7365" y="3199345"/>
                  </a:lnTo>
                  <a:lnTo>
                    <a:pt x="1777" y="3151860"/>
                  </a:lnTo>
                  <a:lnTo>
                    <a:pt x="0" y="3103346"/>
                  </a:lnTo>
                  <a:lnTo>
                    <a:pt x="0" y="620649"/>
                  </a:lnTo>
                  <a:close/>
                </a:path>
              </a:pathLst>
            </a:custGeom>
            <a:noFill/>
            <a:ln cap="flat" cmpd="sng" w="28550">
              <a:solidFill>
                <a:srgbClr val="00AFE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8" name="Google Shape;188;p4"/>
            <p:cNvSpPr/>
            <p:nvPr/>
          </p:nvSpPr>
          <p:spPr>
            <a:xfrm>
              <a:off x="6619875" y="4057650"/>
              <a:ext cx="847090" cy="847090"/>
            </a:xfrm>
            <a:custGeom>
              <a:rect b="b" l="l" r="r" t="t"/>
              <a:pathLst>
                <a:path extrusionOk="0" h="847089" w="847090">
                  <a:moveTo>
                    <a:pt x="423545" y="0"/>
                  </a:moveTo>
                  <a:lnTo>
                    <a:pt x="374142" y="2793"/>
                  </a:lnTo>
                  <a:lnTo>
                    <a:pt x="326390" y="11175"/>
                  </a:lnTo>
                  <a:lnTo>
                    <a:pt x="280670" y="24637"/>
                  </a:lnTo>
                  <a:lnTo>
                    <a:pt x="237235" y="43052"/>
                  </a:lnTo>
                  <a:lnTo>
                    <a:pt x="196469" y="65912"/>
                  </a:lnTo>
                  <a:lnTo>
                    <a:pt x="158623" y="93091"/>
                  </a:lnTo>
                  <a:lnTo>
                    <a:pt x="124078" y="124079"/>
                  </a:lnTo>
                  <a:lnTo>
                    <a:pt x="93091" y="158623"/>
                  </a:lnTo>
                  <a:lnTo>
                    <a:pt x="65913" y="196469"/>
                  </a:lnTo>
                  <a:lnTo>
                    <a:pt x="43052" y="237236"/>
                  </a:lnTo>
                  <a:lnTo>
                    <a:pt x="24638" y="280669"/>
                  </a:lnTo>
                  <a:lnTo>
                    <a:pt x="11175" y="326389"/>
                  </a:lnTo>
                  <a:lnTo>
                    <a:pt x="2794" y="374142"/>
                  </a:lnTo>
                  <a:lnTo>
                    <a:pt x="0" y="423544"/>
                  </a:lnTo>
                  <a:lnTo>
                    <a:pt x="2794" y="472948"/>
                  </a:lnTo>
                  <a:lnTo>
                    <a:pt x="11175" y="520700"/>
                  </a:lnTo>
                  <a:lnTo>
                    <a:pt x="24638" y="566419"/>
                  </a:lnTo>
                  <a:lnTo>
                    <a:pt x="43052" y="609854"/>
                  </a:lnTo>
                  <a:lnTo>
                    <a:pt x="65913" y="650620"/>
                  </a:lnTo>
                  <a:lnTo>
                    <a:pt x="93091" y="688467"/>
                  </a:lnTo>
                  <a:lnTo>
                    <a:pt x="124078" y="723011"/>
                  </a:lnTo>
                  <a:lnTo>
                    <a:pt x="158623" y="754126"/>
                  </a:lnTo>
                  <a:lnTo>
                    <a:pt x="196469" y="781176"/>
                  </a:lnTo>
                  <a:lnTo>
                    <a:pt x="237235" y="804037"/>
                  </a:lnTo>
                  <a:lnTo>
                    <a:pt x="280670" y="822451"/>
                  </a:lnTo>
                  <a:lnTo>
                    <a:pt x="326390" y="835913"/>
                  </a:lnTo>
                  <a:lnTo>
                    <a:pt x="374142" y="844295"/>
                  </a:lnTo>
                  <a:lnTo>
                    <a:pt x="423545" y="847089"/>
                  </a:lnTo>
                  <a:lnTo>
                    <a:pt x="472948" y="844295"/>
                  </a:lnTo>
                  <a:lnTo>
                    <a:pt x="520700" y="835913"/>
                  </a:lnTo>
                  <a:lnTo>
                    <a:pt x="566420" y="822451"/>
                  </a:lnTo>
                  <a:lnTo>
                    <a:pt x="609853" y="804037"/>
                  </a:lnTo>
                  <a:lnTo>
                    <a:pt x="650621" y="781176"/>
                  </a:lnTo>
                  <a:lnTo>
                    <a:pt x="688467" y="754126"/>
                  </a:lnTo>
                  <a:lnTo>
                    <a:pt x="723010" y="723011"/>
                  </a:lnTo>
                  <a:lnTo>
                    <a:pt x="754126" y="688467"/>
                  </a:lnTo>
                  <a:lnTo>
                    <a:pt x="781176" y="650620"/>
                  </a:lnTo>
                  <a:lnTo>
                    <a:pt x="804036" y="609854"/>
                  </a:lnTo>
                  <a:lnTo>
                    <a:pt x="822451" y="566419"/>
                  </a:lnTo>
                  <a:lnTo>
                    <a:pt x="835914" y="520700"/>
                  </a:lnTo>
                  <a:lnTo>
                    <a:pt x="844296" y="472948"/>
                  </a:lnTo>
                  <a:lnTo>
                    <a:pt x="847090" y="423544"/>
                  </a:lnTo>
                  <a:lnTo>
                    <a:pt x="844296" y="374142"/>
                  </a:lnTo>
                  <a:lnTo>
                    <a:pt x="835914" y="326389"/>
                  </a:lnTo>
                  <a:lnTo>
                    <a:pt x="822451" y="280669"/>
                  </a:lnTo>
                  <a:lnTo>
                    <a:pt x="804036" y="237236"/>
                  </a:lnTo>
                  <a:lnTo>
                    <a:pt x="781176" y="196469"/>
                  </a:lnTo>
                  <a:lnTo>
                    <a:pt x="754126" y="158623"/>
                  </a:lnTo>
                  <a:lnTo>
                    <a:pt x="723010" y="124079"/>
                  </a:lnTo>
                  <a:lnTo>
                    <a:pt x="688467" y="93091"/>
                  </a:lnTo>
                  <a:lnTo>
                    <a:pt x="650621" y="65912"/>
                  </a:lnTo>
                  <a:lnTo>
                    <a:pt x="609853" y="43052"/>
                  </a:lnTo>
                  <a:lnTo>
                    <a:pt x="566420" y="24637"/>
                  </a:lnTo>
                  <a:lnTo>
                    <a:pt x="520700" y="11175"/>
                  </a:lnTo>
                  <a:lnTo>
                    <a:pt x="472948" y="2793"/>
                  </a:lnTo>
                  <a:lnTo>
                    <a:pt x="423545" y="0"/>
                  </a:lnTo>
                  <a:close/>
                </a:path>
              </a:pathLst>
            </a:custGeom>
            <a:solidFill>
              <a:srgbClr val="5B9BD4">
                <a:alpha val="79607"/>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9" name="Google Shape;189;p4"/>
          <p:cNvSpPr txBox="1"/>
          <p:nvPr/>
        </p:nvSpPr>
        <p:spPr>
          <a:xfrm>
            <a:off x="6684575" y="4304530"/>
            <a:ext cx="782400" cy="3918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800">
                <a:solidFill>
                  <a:srgbClr val="FFFFFF"/>
                </a:solidFill>
                <a:latin typeface="Calibri"/>
                <a:ea typeface="Calibri"/>
                <a:cs typeface="Calibri"/>
                <a:sym typeface="Calibri"/>
              </a:rPr>
              <a:t>Existing</a:t>
            </a:r>
            <a:endParaRPr sz="1800">
              <a:latin typeface="Calibri"/>
              <a:ea typeface="Calibri"/>
              <a:cs typeface="Calibri"/>
              <a:sym typeface="Calibri"/>
            </a:endParaRPr>
          </a:p>
        </p:txBody>
      </p:sp>
      <p:grpSp>
        <p:nvGrpSpPr>
          <p:cNvPr id="190" name="Google Shape;190;p4"/>
          <p:cNvGrpSpPr/>
          <p:nvPr/>
        </p:nvGrpSpPr>
        <p:grpSpPr>
          <a:xfrm>
            <a:off x="6619875" y="2952750"/>
            <a:ext cx="847090" cy="1109725"/>
            <a:chOff x="6619875" y="2952750"/>
            <a:chExt cx="847090" cy="1109725"/>
          </a:xfrm>
        </p:grpSpPr>
        <p:sp>
          <p:nvSpPr>
            <p:cNvPr id="191" name="Google Shape;191;p4"/>
            <p:cNvSpPr/>
            <p:nvPr/>
          </p:nvSpPr>
          <p:spPr>
            <a:xfrm>
              <a:off x="7053326" y="3805300"/>
              <a:ext cx="0" cy="257175"/>
            </a:xfrm>
            <a:custGeom>
              <a:rect b="b" l="l" r="r" t="t"/>
              <a:pathLst>
                <a:path extrusionOk="0" h="257175" w="120000">
                  <a:moveTo>
                    <a:pt x="0" y="257048"/>
                  </a:moveTo>
                  <a:lnTo>
                    <a:pt x="0" y="0"/>
                  </a:lnTo>
                </a:path>
              </a:pathLst>
            </a:custGeom>
            <a:noFill/>
            <a:ln cap="flat" cmpd="sng" w="12700">
              <a:solidFill>
                <a:srgbClr val="79A9D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2" name="Google Shape;192;p4"/>
            <p:cNvSpPr/>
            <p:nvPr/>
          </p:nvSpPr>
          <p:spPr>
            <a:xfrm>
              <a:off x="6619875" y="2952750"/>
              <a:ext cx="847090" cy="847090"/>
            </a:xfrm>
            <a:custGeom>
              <a:rect b="b" l="l" r="r" t="t"/>
              <a:pathLst>
                <a:path extrusionOk="0" h="847089" w="847090">
                  <a:moveTo>
                    <a:pt x="423545" y="0"/>
                  </a:moveTo>
                  <a:lnTo>
                    <a:pt x="374142" y="2794"/>
                  </a:lnTo>
                  <a:lnTo>
                    <a:pt x="326390" y="11175"/>
                  </a:lnTo>
                  <a:lnTo>
                    <a:pt x="280670" y="24637"/>
                  </a:lnTo>
                  <a:lnTo>
                    <a:pt x="237235" y="43052"/>
                  </a:lnTo>
                  <a:lnTo>
                    <a:pt x="196469" y="65912"/>
                  </a:lnTo>
                  <a:lnTo>
                    <a:pt x="158623" y="93090"/>
                  </a:lnTo>
                  <a:lnTo>
                    <a:pt x="124078" y="124078"/>
                  </a:lnTo>
                  <a:lnTo>
                    <a:pt x="93091" y="158623"/>
                  </a:lnTo>
                  <a:lnTo>
                    <a:pt x="65913" y="196469"/>
                  </a:lnTo>
                  <a:lnTo>
                    <a:pt x="43052" y="237236"/>
                  </a:lnTo>
                  <a:lnTo>
                    <a:pt x="24638" y="280670"/>
                  </a:lnTo>
                  <a:lnTo>
                    <a:pt x="11175" y="326389"/>
                  </a:lnTo>
                  <a:lnTo>
                    <a:pt x="2794" y="374141"/>
                  </a:lnTo>
                  <a:lnTo>
                    <a:pt x="0" y="423545"/>
                  </a:lnTo>
                  <a:lnTo>
                    <a:pt x="2794" y="472948"/>
                  </a:lnTo>
                  <a:lnTo>
                    <a:pt x="11175" y="520700"/>
                  </a:lnTo>
                  <a:lnTo>
                    <a:pt x="24638" y="566420"/>
                  </a:lnTo>
                  <a:lnTo>
                    <a:pt x="43052" y="609853"/>
                  </a:lnTo>
                  <a:lnTo>
                    <a:pt x="65913" y="650621"/>
                  </a:lnTo>
                  <a:lnTo>
                    <a:pt x="93091" y="688467"/>
                  </a:lnTo>
                  <a:lnTo>
                    <a:pt x="124078" y="723011"/>
                  </a:lnTo>
                  <a:lnTo>
                    <a:pt x="158623" y="754126"/>
                  </a:lnTo>
                  <a:lnTo>
                    <a:pt x="196469" y="781176"/>
                  </a:lnTo>
                  <a:lnTo>
                    <a:pt x="237235" y="804037"/>
                  </a:lnTo>
                  <a:lnTo>
                    <a:pt x="280670" y="822451"/>
                  </a:lnTo>
                  <a:lnTo>
                    <a:pt x="326390" y="835913"/>
                  </a:lnTo>
                  <a:lnTo>
                    <a:pt x="374142" y="844295"/>
                  </a:lnTo>
                  <a:lnTo>
                    <a:pt x="423545" y="847089"/>
                  </a:lnTo>
                  <a:lnTo>
                    <a:pt x="472948" y="844295"/>
                  </a:lnTo>
                  <a:lnTo>
                    <a:pt x="520700" y="835913"/>
                  </a:lnTo>
                  <a:lnTo>
                    <a:pt x="566420" y="822451"/>
                  </a:lnTo>
                  <a:lnTo>
                    <a:pt x="609853" y="804037"/>
                  </a:lnTo>
                  <a:lnTo>
                    <a:pt x="650621" y="781176"/>
                  </a:lnTo>
                  <a:lnTo>
                    <a:pt x="688467" y="754126"/>
                  </a:lnTo>
                  <a:lnTo>
                    <a:pt x="723010" y="723011"/>
                  </a:lnTo>
                  <a:lnTo>
                    <a:pt x="754126" y="688467"/>
                  </a:lnTo>
                  <a:lnTo>
                    <a:pt x="781176" y="650621"/>
                  </a:lnTo>
                  <a:lnTo>
                    <a:pt x="804036" y="609853"/>
                  </a:lnTo>
                  <a:lnTo>
                    <a:pt x="822451" y="566420"/>
                  </a:lnTo>
                  <a:lnTo>
                    <a:pt x="835914" y="520700"/>
                  </a:lnTo>
                  <a:lnTo>
                    <a:pt x="844296" y="472948"/>
                  </a:lnTo>
                  <a:lnTo>
                    <a:pt x="847090" y="423545"/>
                  </a:lnTo>
                  <a:lnTo>
                    <a:pt x="844296" y="374141"/>
                  </a:lnTo>
                  <a:lnTo>
                    <a:pt x="835914" y="326389"/>
                  </a:lnTo>
                  <a:lnTo>
                    <a:pt x="822451" y="280670"/>
                  </a:lnTo>
                  <a:lnTo>
                    <a:pt x="804036" y="237236"/>
                  </a:lnTo>
                  <a:lnTo>
                    <a:pt x="781176" y="196469"/>
                  </a:lnTo>
                  <a:lnTo>
                    <a:pt x="754126" y="158623"/>
                  </a:lnTo>
                  <a:lnTo>
                    <a:pt x="723010" y="124078"/>
                  </a:lnTo>
                  <a:lnTo>
                    <a:pt x="688467" y="93090"/>
                  </a:lnTo>
                  <a:lnTo>
                    <a:pt x="650621" y="65912"/>
                  </a:lnTo>
                  <a:lnTo>
                    <a:pt x="609853" y="43052"/>
                  </a:lnTo>
                  <a:lnTo>
                    <a:pt x="566420" y="24637"/>
                  </a:lnTo>
                  <a:lnTo>
                    <a:pt x="520700" y="11175"/>
                  </a:lnTo>
                  <a:lnTo>
                    <a:pt x="472948" y="2794"/>
                  </a:lnTo>
                  <a:lnTo>
                    <a:pt x="423545" y="0"/>
                  </a:lnTo>
                  <a:close/>
                </a:path>
              </a:pathLst>
            </a:custGeom>
            <a:solidFill>
              <a:srgbClr val="5B9BD4">
                <a:alpha val="8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3" name="Google Shape;193;p4"/>
            <p:cNvSpPr/>
            <p:nvPr/>
          </p:nvSpPr>
          <p:spPr>
            <a:xfrm>
              <a:off x="6619875" y="2952750"/>
              <a:ext cx="847090" cy="847090"/>
            </a:xfrm>
            <a:custGeom>
              <a:rect b="b" l="l" r="r" t="t"/>
              <a:pathLst>
                <a:path extrusionOk="0" h="847089" w="847090">
                  <a:moveTo>
                    <a:pt x="0" y="423545"/>
                  </a:moveTo>
                  <a:lnTo>
                    <a:pt x="2794" y="374141"/>
                  </a:lnTo>
                  <a:lnTo>
                    <a:pt x="11175" y="326389"/>
                  </a:lnTo>
                  <a:lnTo>
                    <a:pt x="24638" y="280670"/>
                  </a:lnTo>
                  <a:lnTo>
                    <a:pt x="43052" y="237236"/>
                  </a:lnTo>
                  <a:lnTo>
                    <a:pt x="65913" y="196469"/>
                  </a:lnTo>
                  <a:lnTo>
                    <a:pt x="93091" y="158623"/>
                  </a:lnTo>
                  <a:lnTo>
                    <a:pt x="124078" y="124078"/>
                  </a:lnTo>
                  <a:lnTo>
                    <a:pt x="158623" y="93090"/>
                  </a:lnTo>
                  <a:lnTo>
                    <a:pt x="196469" y="65912"/>
                  </a:lnTo>
                  <a:lnTo>
                    <a:pt x="237235" y="43052"/>
                  </a:lnTo>
                  <a:lnTo>
                    <a:pt x="280670" y="24637"/>
                  </a:lnTo>
                  <a:lnTo>
                    <a:pt x="326390" y="11175"/>
                  </a:lnTo>
                  <a:lnTo>
                    <a:pt x="374142" y="2794"/>
                  </a:lnTo>
                  <a:lnTo>
                    <a:pt x="423545" y="0"/>
                  </a:lnTo>
                  <a:lnTo>
                    <a:pt x="472948" y="2794"/>
                  </a:lnTo>
                  <a:lnTo>
                    <a:pt x="520700" y="11175"/>
                  </a:lnTo>
                  <a:lnTo>
                    <a:pt x="566420" y="24637"/>
                  </a:lnTo>
                  <a:lnTo>
                    <a:pt x="609853" y="43052"/>
                  </a:lnTo>
                  <a:lnTo>
                    <a:pt x="650621" y="65912"/>
                  </a:lnTo>
                  <a:lnTo>
                    <a:pt x="688467" y="93090"/>
                  </a:lnTo>
                  <a:lnTo>
                    <a:pt x="723010" y="124078"/>
                  </a:lnTo>
                  <a:lnTo>
                    <a:pt x="754126" y="158623"/>
                  </a:lnTo>
                  <a:lnTo>
                    <a:pt x="781176" y="196469"/>
                  </a:lnTo>
                  <a:lnTo>
                    <a:pt x="804036" y="237236"/>
                  </a:lnTo>
                  <a:lnTo>
                    <a:pt x="822451" y="280670"/>
                  </a:lnTo>
                  <a:lnTo>
                    <a:pt x="835914" y="326389"/>
                  </a:lnTo>
                  <a:lnTo>
                    <a:pt x="844296" y="374141"/>
                  </a:lnTo>
                  <a:lnTo>
                    <a:pt x="847090" y="423545"/>
                  </a:lnTo>
                  <a:lnTo>
                    <a:pt x="844296" y="472948"/>
                  </a:lnTo>
                  <a:lnTo>
                    <a:pt x="835914" y="520700"/>
                  </a:lnTo>
                  <a:lnTo>
                    <a:pt x="822451" y="566420"/>
                  </a:lnTo>
                  <a:lnTo>
                    <a:pt x="804036" y="609853"/>
                  </a:lnTo>
                  <a:lnTo>
                    <a:pt x="781176" y="650621"/>
                  </a:lnTo>
                  <a:lnTo>
                    <a:pt x="754126" y="688467"/>
                  </a:lnTo>
                  <a:lnTo>
                    <a:pt x="723010" y="723011"/>
                  </a:lnTo>
                  <a:lnTo>
                    <a:pt x="688467" y="754126"/>
                  </a:lnTo>
                  <a:lnTo>
                    <a:pt x="650621" y="781176"/>
                  </a:lnTo>
                  <a:lnTo>
                    <a:pt x="609853" y="804037"/>
                  </a:lnTo>
                  <a:lnTo>
                    <a:pt x="566420" y="822451"/>
                  </a:lnTo>
                  <a:lnTo>
                    <a:pt x="520700" y="835913"/>
                  </a:lnTo>
                  <a:lnTo>
                    <a:pt x="472948" y="844295"/>
                  </a:lnTo>
                  <a:lnTo>
                    <a:pt x="423545" y="847089"/>
                  </a:lnTo>
                  <a:lnTo>
                    <a:pt x="374142" y="844295"/>
                  </a:lnTo>
                  <a:lnTo>
                    <a:pt x="326390" y="835913"/>
                  </a:lnTo>
                  <a:lnTo>
                    <a:pt x="280670" y="822451"/>
                  </a:lnTo>
                  <a:lnTo>
                    <a:pt x="237235" y="804037"/>
                  </a:lnTo>
                  <a:lnTo>
                    <a:pt x="196469" y="781176"/>
                  </a:lnTo>
                  <a:lnTo>
                    <a:pt x="158623" y="754126"/>
                  </a:lnTo>
                  <a:lnTo>
                    <a:pt x="124078" y="723011"/>
                  </a:lnTo>
                  <a:lnTo>
                    <a:pt x="93091" y="688467"/>
                  </a:lnTo>
                  <a:lnTo>
                    <a:pt x="65913" y="650621"/>
                  </a:lnTo>
                  <a:lnTo>
                    <a:pt x="43052" y="609853"/>
                  </a:lnTo>
                  <a:lnTo>
                    <a:pt x="24638" y="566420"/>
                  </a:lnTo>
                  <a:lnTo>
                    <a:pt x="11175" y="520700"/>
                  </a:lnTo>
                  <a:lnTo>
                    <a:pt x="2794" y="472948"/>
                  </a:lnTo>
                  <a:lnTo>
                    <a:pt x="0" y="423545"/>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94" name="Google Shape;194;p4"/>
          <p:cNvSpPr txBox="1"/>
          <p:nvPr/>
        </p:nvSpPr>
        <p:spPr>
          <a:xfrm>
            <a:off x="6759956" y="3199622"/>
            <a:ext cx="577800" cy="3576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2000">
                <a:solidFill>
                  <a:srgbClr val="FFFFFF"/>
                </a:solidFill>
                <a:latin typeface="Calibri"/>
                <a:ea typeface="Calibri"/>
                <a:cs typeface="Calibri"/>
                <a:sym typeface="Calibri"/>
              </a:rPr>
              <a:t>New</a:t>
            </a:r>
            <a:endParaRPr sz="2000">
              <a:latin typeface="Calibri"/>
              <a:ea typeface="Calibri"/>
              <a:cs typeface="Calibri"/>
              <a:sym typeface="Calibri"/>
            </a:endParaRPr>
          </a:p>
        </p:txBody>
      </p:sp>
      <p:grpSp>
        <p:nvGrpSpPr>
          <p:cNvPr id="195" name="Google Shape;195;p4"/>
          <p:cNvGrpSpPr/>
          <p:nvPr/>
        </p:nvGrpSpPr>
        <p:grpSpPr>
          <a:xfrm>
            <a:off x="6619875" y="4910201"/>
            <a:ext cx="847090" cy="1100074"/>
            <a:chOff x="6619875" y="4910201"/>
            <a:chExt cx="847090" cy="1100074"/>
          </a:xfrm>
        </p:grpSpPr>
        <p:sp>
          <p:nvSpPr>
            <p:cNvPr id="196" name="Google Shape;196;p4"/>
            <p:cNvSpPr/>
            <p:nvPr/>
          </p:nvSpPr>
          <p:spPr>
            <a:xfrm>
              <a:off x="7053326" y="4910201"/>
              <a:ext cx="0" cy="257175"/>
            </a:xfrm>
            <a:custGeom>
              <a:rect b="b" l="l" r="r" t="t"/>
              <a:pathLst>
                <a:path extrusionOk="0" h="257175" w="120000">
                  <a:moveTo>
                    <a:pt x="0" y="0"/>
                  </a:moveTo>
                  <a:lnTo>
                    <a:pt x="0" y="257048"/>
                  </a:lnTo>
                </a:path>
              </a:pathLst>
            </a:custGeom>
            <a:noFill/>
            <a:ln cap="flat" cmpd="sng" w="12700">
              <a:solidFill>
                <a:srgbClr val="79A9D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7" name="Google Shape;197;p4"/>
            <p:cNvSpPr/>
            <p:nvPr/>
          </p:nvSpPr>
          <p:spPr>
            <a:xfrm>
              <a:off x="6619875" y="5162550"/>
              <a:ext cx="847090" cy="847725"/>
            </a:xfrm>
            <a:custGeom>
              <a:rect b="b" l="l" r="r" t="t"/>
              <a:pathLst>
                <a:path extrusionOk="0" h="847725" w="847090">
                  <a:moveTo>
                    <a:pt x="423545" y="0"/>
                  </a:moveTo>
                  <a:lnTo>
                    <a:pt x="374142" y="2793"/>
                  </a:lnTo>
                  <a:lnTo>
                    <a:pt x="326390" y="11175"/>
                  </a:lnTo>
                  <a:lnTo>
                    <a:pt x="280670" y="24637"/>
                  </a:lnTo>
                  <a:lnTo>
                    <a:pt x="237235" y="43052"/>
                  </a:lnTo>
                  <a:lnTo>
                    <a:pt x="196469" y="65912"/>
                  </a:lnTo>
                  <a:lnTo>
                    <a:pt x="158623" y="93090"/>
                  </a:lnTo>
                  <a:lnTo>
                    <a:pt x="124078" y="124078"/>
                  </a:lnTo>
                  <a:lnTo>
                    <a:pt x="93091" y="158622"/>
                  </a:lnTo>
                  <a:lnTo>
                    <a:pt x="65913" y="196469"/>
                  </a:lnTo>
                  <a:lnTo>
                    <a:pt x="43052" y="237236"/>
                  </a:lnTo>
                  <a:lnTo>
                    <a:pt x="24638" y="280669"/>
                  </a:lnTo>
                  <a:lnTo>
                    <a:pt x="11175" y="326390"/>
                  </a:lnTo>
                  <a:lnTo>
                    <a:pt x="2794" y="374141"/>
                  </a:lnTo>
                  <a:lnTo>
                    <a:pt x="0" y="423544"/>
                  </a:lnTo>
                  <a:lnTo>
                    <a:pt x="2794" y="472960"/>
                  </a:lnTo>
                  <a:lnTo>
                    <a:pt x="11175" y="520687"/>
                  </a:lnTo>
                  <a:lnTo>
                    <a:pt x="24638" y="566407"/>
                  </a:lnTo>
                  <a:lnTo>
                    <a:pt x="43052" y="609841"/>
                  </a:lnTo>
                  <a:lnTo>
                    <a:pt x="65913" y="650633"/>
                  </a:lnTo>
                  <a:lnTo>
                    <a:pt x="93091" y="688479"/>
                  </a:lnTo>
                  <a:lnTo>
                    <a:pt x="124078" y="723061"/>
                  </a:lnTo>
                  <a:lnTo>
                    <a:pt x="158623" y="754075"/>
                  </a:lnTo>
                  <a:lnTo>
                    <a:pt x="196469" y="781177"/>
                  </a:lnTo>
                  <a:lnTo>
                    <a:pt x="237235" y="804075"/>
                  </a:lnTo>
                  <a:lnTo>
                    <a:pt x="280670" y="822426"/>
                  </a:lnTo>
                  <a:lnTo>
                    <a:pt x="326390" y="835939"/>
                  </a:lnTo>
                  <a:lnTo>
                    <a:pt x="374142" y="844270"/>
                  </a:lnTo>
                  <a:lnTo>
                    <a:pt x="423545" y="847128"/>
                  </a:lnTo>
                  <a:lnTo>
                    <a:pt x="472948" y="844270"/>
                  </a:lnTo>
                  <a:lnTo>
                    <a:pt x="520700" y="835939"/>
                  </a:lnTo>
                  <a:lnTo>
                    <a:pt x="566420" y="822426"/>
                  </a:lnTo>
                  <a:lnTo>
                    <a:pt x="609853" y="804075"/>
                  </a:lnTo>
                  <a:lnTo>
                    <a:pt x="650621" y="781177"/>
                  </a:lnTo>
                  <a:lnTo>
                    <a:pt x="688467" y="754075"/>
                  </a:lnTo>
                  <a:lnTo>
                    <a:pt x="723010" y="723061"/>
                  </a:lnTo>
                  <a:lnTo>
                    <a:pt x="754126" y="688479"/>
                  </a:lnTo>
                  <a:lnTo>
                    <a:pt x="781176" y="650633"/>
                  </a:lnTo>
                  <a:lnTo>
                    <a:pt x="804036" y="609841"/>
                  </a:lnTo>
                  <a:lnTo>
                    <a:pt x="822451" y="566407"/>
                  </a:lnTo>
                  <a:lnTo>
                    <a:pt x="835914" y="520687"/>
                  </a:lnTo>
                  <a:lnTo>
                    <a:pt x="844296" y="472960"/>
                  </a:lnTo>
                  <a:lnTo>
                    <a:pt x="847090" y="423544"/>
                  </a:lnTo>
                  <a:lnTo>
                    <a:pt x="844296" y="374141"/>
                  </a:lnTo>
                  <a:lnTo>
                    <a:pt x="835914" y="326390"/>
                  </a:lnTo>
                  <a:lnTo>
                    <a:pt x="822451" y="280669"/>
                  </a:lnTo>
                  <a:lnTo>
                    <a:pt x="804036" y="237236"/>
                  </a:lnTo>
                  <a:lnTo>
                    <a:pt x="781176" y="196469"/>
                  </a:lnTo>
                  <a:lnTo>
                    <a:pt x="754126" y="158622"/>
                  </a:lnTo>
                  <a:lnTo>
                    <a:pt x="723010" y="124078"/>
                  </a:lnTo>
                  <a:lnTo>
                    <a:pt x="688467" y="93090"/>
                  </a:lnTo>
                  <a:lnTo>
                    <a:pt x="650621" y="65912"/>
                  </a:lnTo>
                  <a:lnTo>
                    <a:pt x="609853" y="43052"/>
                  </a:lnTo>
                  <a:lnTo>
                    <a:pt x="566420" y="24637"/>
                  </a:lnTo>
                  <a:lnTo>
                    <a:pt x="520700" y="11175"/>
                  </a:lnTo>
                  <a:lnTo>
                    <a:pt x="472948" y="2793"/>
                  </a:lnTo>
                  <a:lnTo>
                    <a:pt x="423545" y="0"/>
                  </a:lnTo>
                  <a:close/>
                </a:path>
              </a:pathLst>
            </a:custGeom>
            <a:solidFill>
              <a:srgbClr val="5B9BD4">
                <a:alpha val="4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8" name="Google Shape;198;p4"/>
            <p:cNvSpPr/>
            <p:nvPr/>
          </p:nvSpPr>
          <p:spPr>
            <a:xfrm>
              <a:off x="6619875" y="5162550"/>
              <a:ext cx="847090" cy="847725"/>
            </a:xfrm>
            <a:custGeom>
              <a:rect b="b" l="l" r="r" t="t"/>
              <a:pathLst>
                <a:path extrusionOk="0" h="847725" w="847090">
                  <a:moveTo>
                    <a:pt x="0" y="423544"/>
                  </a:moveTo>
                  <a:lnTo>
                    <a:pt x="2794" y="374141"/>
                  </a:lnTo>
                  <a:lnTo>
                    <a:pt x="11175" y="326390"/>
                  </a:lnTo>
                  <a:lnTo>
                    <a:pt x="24638" y="280669"/>
                  </a:lnTo>
                  <a:lnTo>
                    <a:pt x="43052" y="237236"/>
                  </a:lnTo>
                  <a:lnTo>
                    <a:pt x="65913" y="196469"/>
                  </a:lnTo>
                  <a:lnTo>
                    <a:pt x="93091" y="158622"/>
                  </a:lnTo>
                  <a:lnTo>
                    <a:pt x="124078" y="124078"/>
                  </a:lnTo>
                  <a:lnTo>
                    <a:pt x="158623" y="93090"/>
                  </a:lnTo>
                  <a:lnTo>
                    <a:pt x="196469" y="65912"/>
                  </a:lnTo>
                  <a:lnTo>
                    <a:pt x="237235" y="43052"/>
                  </a:lnTo>
                  <a:lnTo>
                    <a:pt x="280670" y="24637"/>
                  </a:lnTo>
                  <a:lnTo>
                    <a:pt x="326390" y="11175"/>
                  </a:lnTo>
                  <a:lnTo>
                    <a:pt x="374142" y="2793"/>
                  </a:lnTo>
                  <a:lnTo>
                    <a:pt x="423545" y="0"/>
                  </a:lnTo>
                  <a:lnTo>
                    <a:pt x="472948" y="2793"/>
                  </a:lnTo>
                  <a:lnTo>
                    <a:pt x="520700" y="11175"/>
                  </a:lnTo>
                  <a:lnTo>
                    <a:pt x="566420" y="24637"/>
                  </a:lnTo>
                  <a:lnTo>
                    <a:pt x="609853" y="43052"/>
                  </a:lnTo>
                  <a:lnTo>
                    <a:pt x="650621" y="65912"/>
                  </a:lnTo>
                  <a:lnTo>
                    <a:pt x="688467" y="93090"/>
                  </a:lnTo>
                  <a:lnTo>
                    <a:pt x="723010" y="124078"/>
                  </a:lnTo>
                  <a:lnTo>
                    <a:pt x="754126" y="158622"/>
                  </a:lnTo>
                  <a:lnTo>
                    <a:pt x="781176" y="196469"/>
                  </a:lnTo>
                  <a:lnTo>
                    <a:pt x="804036" y="237236"/>
                  </a:lnTo>
                  <a:lnTo>
                    <a:pt x="822451" y="280669"/>
                  </a:lnTo>
                  <a:lnTo>
                    <a:pt x="835914" y="326390"/>
                  </a:lnTo>
                  <a:lnTo>
                    <a:pt x="844296" y="374141"/>
                  </a:lnTo>
                  <a:lnTo>
                    <a:pt x="847090" y="423544"/>
                  </a:lnTo>
                  <a:lnTo>
                    <a:pt x="844296" y="472960"/>
                  </a:lnTo>
                  <a:lnTo>
                    <a:pt x="835914" y="520687"/>
                  </a:lnTo>
                  <a:lnTo>
                    <a:pt x="822451" y="566407"/>
                  </a:lnTo>
                  <a:lnTo>
                    <a:pt x="804036" y="609828"/>
                  </a:lnTo>
                  <a:lnTo>
                    <a:pt x="781176" y="650633"/>
                  </a:lnTo>
                  <a:lnTo>
                    <a:pt x="754126" y="688479"/>
                  </a:lnTo>
                  <a:lnTo>
                    <a:pt x="723010" y="723061"/>
                  </a:lnTo>
                  <a:lnTo>
                    <a:pt x="688467" y="754075"/>
                  </a:lnTo>
                  <a:lnTo>
                    <a:pt x="650621" y="781177"/>
                  </a:lnTo>
                  <a:lnTo>
                    <a:pt x="609853" y="804075"/>
                  </a:lnTo>
                  <a:lnTo>
                    <a:pt x="566420" y="822426"/>
                  </a:lnTo>
                  <a:lnTo>
                    <a:pt x="520700" y="835939"/>
                  </a:lnTo>
                  <a:lnTo>
                    <a:pt x="472948" y="844270"/>
                  </a:lnTo>
                  <a:lnTo>
                    <a:pt x="423545" y="847128"/>
                  </a:lnTo>
                  <a:lnTo>
                    <a:pt x="374142" y="844270"/>
                  </a:lnTo>
                  <a:lnTo>
                    <a:pt x="326390" y="835939"/>
                  </a:lnTo>
                  <a:lnTo>
                    <a:pt x="280670" y="822426"/>
                  </a:lnTo>
                  <a:lnTo>
                    <a:pt x="237235" y="804075"/>
                  </a:lnTo>
                  <a:lnTo>
                    <a:pt x="196469" y="781177"/>
                  </a:lnTo>
                  <a:lnTo>
                    <a:pt x="158623" y="754075"/>
                  </a:lnTo>
                  <a:lnTo>
                    <a:pt x="124078" y="723061"/>
                  </a:lnTo>
                  <a:lnTo>
                    <a:pt x="93091" y="688479"/>
                  </a:lnTo>
                  <a:lnTo>
                    <a:pt x="65913" y="650633"/>
                  </a:lnTo>
                  <a:lnTo>
                    <a:pt x="43052" y="609828"/>
                  </a:lnTo>
                  <a:lnTo>
                    <a:pt x="24638" y="566407"/>
                  </a:lnTo>
                  <a:lnTo>
                    <a:pt x="11175" y="520687"/>
                  </a:lnTo>
                  <a:lnTo>
                    <a:pt x="2794" y="472960"/>
                  </a:lnTo>
                  <a:lnTo>
                    <a:pt x="0" y="423544"/>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99" name="Google Shape;199;p4"/>
          <p:cNvSpPr txBox="1"/>
          <p:nvPr/>
        </p:nvSpPr>
        <p:spPr>
          <a:xfrm>
            <a:off x="6773970" y="5339353"/>
            <a:ext cx="577800" cy="3576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600">
                <a:solidFill>
                  <a:srgbClr val="FFFFFF"/>
                </a:solidFill>
                <a:latin typeface="Calibri"/>
                <a:ea typeface="Calibri"/>
                <a:cs typeface="Calibri"/>
                <a:sym typeface="Calibri"/>
              </a:rPr>
              <a:t>Long-</a:t>
            </a:r>
            <a:br>
              <a:rPr lang="en-US" sz="1600">
                <a:solidFill>
                  <a:srgbClr val="FFFFFF"/>
                </a:solidFill>
                <a:latin typeface="Calibri"/>
                <a:ea typeface="Calibri"/>
                <a:cs typeface="Calibri"/>
                <a:sym typeface="Calibri"/>
              </a:rPr>
            </a:br>
            <a:r>
              <a:rPr lang="en-US" sz="1600">
                <a:solidFill>
                  <a:srgbClr val="FFFFFF"/>
                </a:solidFill>
                <a:latin typeface="Calibri"/>
                <a:ea typeface="Calibri"/>
                <a:cs typeface="Calibri"/>
                <a:sym typeface="Calibri"/>
              </a:rPr>
              <a:t>term</a:t>
            </a:r>
            <a:endParaRPr sz="16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3" name="Shape 203"/>
        <p:cNvGrpSpPr/>
        <p:nvPr/>
      </p:nvGrpSpPr>
      <p:grpSpPr>
        <a:xfrm>
          <a:off x="0" y="0"/>
          <a:ext cx="0" cy="0"/>
          <a:chOff x="0" y="0"/>
          <a:chExt cx="0" cy="0"/>
        </a:xfrm>
      </p:grpSpPr>
      <p:sp>
        <p:nvSpPr>
          <p:cNvPr id="204" name="Google Shape;204;p5"/>
          <p:cNvSpPr txBox="1"/>
          <p:nvPr/>
        </p:nvSpPr>
        <p:spPr>
          <a:xfrm>
            <a:off x="2255269" y="1268399"/>
            <a:ext cx="2313300" cy="3096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b="1" lang="en-US" sz="1700">
                <a:solidFill>
                  <a:srgbClr val="001F5F"/>
                </a:solidFill>
                <a:latin typeface="Calibri"/>
                <a:ea typeface="Calibri"/>
                <a:cs typeface="Calibri"/>
                <a:sym typeface="Calibri"/>
              </a:rPr>
              <a:t>System Overview</a:t>
            </a:r>
            <a:endParaRPr baseline="30000" sz="1800">
              <a:latin typeface="Calibri"/>
              <a:ea typeface="Calibri"/>
              <a:cs typeface="Calibri"/>
              <a:sym typeface="Calibri"/>
            </a:endParaRPr>
          </a:p>
        </p:txBody>
      </p:sp>
      <p:grpSp>
        <p:nvGrpSpPr>
          <p:cNvPr id="205" name="Google Shape;205;p5"/>
          <p:cNvGrpSpPr/>
          <p:nvPr/>
        </p:nvGrpSpPr>
        <p:grpSpPr>
          <a:xfrm>
            <a:off x="0" y="12"/>
            <a:ext cx="12192318" cy="309499"/>
            <a:chOff x="0" y="12"/>
            <a:chExt cx="12192318" cy="309499"/>
          </a:xfrm>
        </p:grpSpPr>
        <p:sp>
          <p:nvSpPr>
            <p:cNvPr id="206" name="Google Shape;206;p5"/>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7" name="Google Shape;207;p5"/>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08" name="Google Shape;208;p5"/>
          <p:cNvSpPr txBox="1"/>
          <p:nvPr>
            <p:ph type="title"/>
          </p:nvPr>
        </p:nvSpPr>
        <p:spPr>
          <a:xfrm>
            <a:off x="169625" y="328550"/>
            <a:ext cx="11704200" cy="6510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2700">
                <a:latin typeface="Calibri"/>
                <a:ea typeface="Calibri"/>
                <a:cs typeface="Calibri"/>
                <a:sym typeface="Calibri"/>
              </a:rPr>
              <a:t>Use Case 1: Revenue Maximization System by Default Customer Prediction (PMS)</a:t>
            </a:r>
            <a:endParaRPr sz="2700">
              <a:latin typeface="Calibri"/>
              <a:ea typeface="Calibri"/>
              <a:cs typeface="Calibri"/>
              <a:sym typeface="Calibri"/>
            </a:endParaRPr>
          </a:p>
        </p:txBody>
      </p:sp>
      <p:sp>
        <p:nvSpPr>
          <p:cNvPr id="209" name="Google Shape;209;p5"/>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0" name="Google Shape;210;p5"/>
          <p:cNvSpPr txBox="1"/>
          <p:nvPr/>
        </p:nvSpPr>
        <p:spPr>
          <a:xfrm>
            <a:off x="6515734" y="1940305"/>
            <a:ext cx="4888230" cy="570865"/>
          </a:xfrm>
          <a:prstGeom prst="rect">
            <a:avLst/>
          </a:prstGeom>
          <a:noFill/>
          <a:ln>
            <a:noFill/>
          </a:ln>
        </p:spPr>
        <p:txBody>
          <a:bodyPr anchorCtr="0" anchor="t" bIns="0" lIns="18275" spcFirstLastPara="1" rIns="18275" wrap="square" tIns="0">
            <a:noAutofit/>
          </a:bodyPr>
          <a:lstStyle/>
          <a:p>
            <a:pPr indent="0" lvl="0" marL="12700" rtl="0" algn="l">
              <a:lnSpc>
                <a:spcPct val="159444"/>
              </a:lnSpc>
              <a:spcBef>
                <a:spcPts val="0"/>
              </a:spcBef>
              <a:spcAft>
                <a:spcPts val="0"/>
              </a:spcAft>
              <a:buNone/>
            </a:pPr>
            <a:r>
              <a:rPr lang="en-US" sz="1200">
                <a:solidFill>
                  <a:srgbClr val="252525"/>
                </a:solidFill>
                <a:latin typeface="Calibri"/>
                <a:ea typeface="Calibri"/>
                <a:cs typeface="Calibri"/>
                <a:sym typeface="Calibri"/>
              </a:rPr>
              <a:t>A, The quality of the system is evaluated using an evaluation metric.</a:t>
            </a:r>
            <a:endParaRPr sz="1200">
              <a:latin typeface="Calibri"/>
              <a:ea typeface="Calibri"/>
              <a:cs typeface="Calibri"/>
              <a:sym typeface="Calibri"/>
            </a:endParaRPr>
          </a:p>
          <a:p>
            <a:pPr indent="0" lvl="0" marL="12700" rtl="0" algn="l">
              <a:lnSpc>
                <a:spcPct val="158333"/>
              </a:lnSpc>
              <a:spcBef>
                <a:spcPts val="0"/>
              </a:spcBef>
              <a:spcAft>
                <a:spcPts val="0"/>
              </a:spcAft>
              <a:buNone/>
            </a:pPr>
            <a:r>
              <a:rPr lang="en-US" sz="1200">
                <a:solidFill>
                  <a:srgbClr val="252525"/>
                </a:solidFill>
                <a:latin typeface="Calibri"/>
                <a:ea typeface="Calibri"/>
                <a:cs typeface="Calibri"/>
                <a:sym typeface="Calibri"/>
              </a:rPr>
              <a:t>Just like batting average in baseball or viewer ratings for TV, evaluation metrics can measure the prediction accuracy of machine learning.</a:t>
            </a:r>
            <a:endParaRPr sz="1200">
              <a:latin typeface="Calibri"/>
              <a:ea typeface="Calibri"/>
              <a:cs typeface="Calibri"/>
              <a:sym typeface="Calibri"/>
            </a:endParaRPr>
          </a:p>
        </p:txBody>
      </p:sp>
      <p:sp>
        <p:nvSpPr>
          <p:cNvPr id="211" name="Google Shape;211;p5"/>
          <p:cNvSpPr txBox="1"/>
          <p:nvPr/>
        </p:nvSpPr>
        <p:spPr>
          <a:xfrm>
            <a:off x="6515724" y="2856050"/>
            <a:ext cx="5213700" cy="400200"/>
          </a:xfrm>
          <a:prstGeom prst="rect">
            <a:avLst/>
          </a:prstGeom>
          <a:noFill/>
          <a:ln>
            <a:noFill/>
          </a:ln>
        </p:spPr>
        <p:txBody>
          <a:bodyPr anchorCtr="0" anchor="t" bIns="0" lIns="18275" spcFirstLastPara="1" rIns="18275" wrap="square" tIns="0">
            <a:noAutofit/>
          </a:bodyPr>
          <a:lstStyle/>
          <a:p>
            <a:pPr indent="0" lvl="0" marL="12700" rtl="0" algn="l">
              <a:lnSpc>
                <a:spcPct val="115000"/>
              </a:lnSpc>
              <a:spcBef>
                <a:spcPts val="0"/>
              </a:spcBef>
              <a:spcAft>
                <a:spcPts val="0"/>
              </a:spcAft>
              <a:buNone/>
            </a:pPr>
            <a:r>
              <a:rPr lang="en-US" sz="1200">
                <a:solidFill>
                  <a:srgbClr val="252525"/>
                </a:solidFill>
                <a:latin typeface="Calibri"/>
                <a:ea typeface="Calibri"/>
                <a:cs typeface="Calibri"/>
                <a:sym typeface="Calibri"/>
              </a:rPr>
              <a:t>The evaluation metric (AUC) used in this analysis has the following characteristics.</a:t>
            </a:r>
            <a:endParaRPr sz="1200">
              <a:latin typeface="Calibri"/>
              <a:ea typeface="Calibri"/>
              <a:cs typeface="Calibri"/>
              <a:sym typeface="Calibri"/>
            </a:endParaRPr>
          </a:p>
          <a:p>
            <a:pPr indent="-172720" lvl="0" marL="643255" rtl="0" algn="l">
              <a:lnSpc>
                <a:spcPct val="115000"/>
              </a:lnSpc>
              <a:spcBef>
                <a:spcPts val="0"/>
              </a:spcBef>
              <a:spcAft>
                <a:spcPts val="0"/>
              </a:spcAft>
              <a:buClr>
                <a:srgbClr val="252525"/>
              </a:buClr>
              <a:buSzPts val="1200"/>
              <a:buFont typeface="Arial"/>
              <a:buChar char="•"/>
            </a:pPr>
            <a:r>
              <a:rPr lang="en-US" sz="1200">
                <a:solidFill>
                  <a:srgbClr val="252525"/>
                </a:solidFill>
                <a:latin typeface="Calibri"/>
                <a:ea typeface="Calibri"/>
                <a:cs typeface="Calibri"/>
                <a:sym typeface="Calibri"/>
              </a:rPr>
              <a:t>It is often used for binary classification (determining Yes or No).</a:t>
            </a:r>
            <a:endParaRPr sz="1200">
              <a:latin typeface="Calibri"/>
              <a:ea typeface="Calibri"/>
              <a:cs typeface="Calibri"/>
              <a:sym typeface="Calibri"/>
            </a:endParaRPr>
          </a:p>
        </p:txBody>
      </p:sp>
      <p:sp>
        <p:nvSpPr>
          <p:cNvPr id="212" name="Google Shape;212;p5"/>
          <p:cNvSpPr txBox="1"/>
          <p:nvPr/>
        </p:nvSpPr>
        <p:spPr>
          <a:xfrm>
            <a:off x="6987550" y="3305847"/>
            <a:ext cx="4416300" cy="737400"/>
          </a:xfrm>
          <a:prstGeom prst="rect">
            <a:avLst/>
          </a:prstGeom>
          <a:noFill/>
          <a:ln>
            <a:noFill/>
          </a:ln>
        </p:spPr>
        <p:txBody>
          <a:bodyPr anchorCtr="0" anchor="t" bIns="0" lIns="18275" spcFirstLastPara="1" rIns="18275" wrap="square" tIns="0">
            <a:noAutofit/>
          </a:bodyPr>
          <a:lstStyle/>
          <a:p>
            <a:pPr indent="-191770" lvl="0" marL="185420" rtl="0" algn="l">
              <a:lnSpc>
                <a:spcPct val="100000"/>
              </a:lnSpc>
              <a:spcBef>
                <a:spcPts val="0"/>
              </a:spcBef>
              <a:spcAft>
                <a:spcPts val="0"/>
              </a:spcAft>
              <a:buClr>
                <a:srgbClr val="252525"/>
              </a:buClr>
              <a:buSzPts val="1200"/>
              <a:buFont typeface="Arial"/>
              <a:buChar char="•"/>
            </a:pPr>
            <a:r>
              <a:rPr lang="en-US" sz="1200">
                <a:solidFill>
                  <a:srgbClr val="252525"/>
                </a:solidFill>
                <a:latin typeface="Calibri"/>
                <a:ea typeface="Calibri"/>
                <a:cs typeface="Calibri"/>
                <a:sym typeface="Calibri"/>
              </a:rPr>
              <a:t>It takes values in the range of 0 to 1, and the closer to 1, the better the prediction.</a:t>
            </a:r>
            <a:endParaRPr sz="1200">
              <a:latin typeface="Calibri"/>
              <a:ea typeface="Calibri"/>
              <a:cs typeface="Calibri"/>
              <a:sym typeface="Calibri"/>
            </a:endParaRPr>
          </a:p>
          <a:p>
            <a:pPr indent="-190500" lvl="0" marL="184150" marR="5080" rtl="0" algn="l">
              <a:lnSpc>
                <a:spcPct val="150000"/>
              </a:lnSpc>
              <a:spcBef>
                <a:spcPts val="0"/>
              </a:spcBef>
              <a:spcAft>
                <a:spcPts val="0"/>
              </a:spcAft>
              <a:buClr>
                <a:srgbClr val="252525"/>
              </a:buClr>
              <a:buSzPts val="1200"/>
              <a:buFont typeface="Arial"/>
              <a:buChar char="•"/>
            </a:pPr>
            <a:r>
              <a:rPr lang="en-US" sz="1200" u="sng">
                <a:solidFill>
                  <a:srgbClr val="252525"/>
                </a:solidFill>
                <a:latin typeface="Calibri"/>
                <a:ea typeface="Calibri"/>
                <a:cs typeface="Calibri"/>
                <a:sym typeface="Calibri"/>
              </a:rPr>
              <a:t>Values between 0.7 and 0.8 are considered to have moderate  effect, and those above 0.8 are said to be very effective. </a:t>
            </a:r>
            <a:endParaRPr sz="1200">
              <a:latin typeface="Calibri"/>
              <a:ea typeface="Calibri"/>
              <a:cs typeface="Calibri"/>
              <a:sym typeface="Calibri"/>
            </a:endParaRPr>
          </a:p>
        </p:txBody>
      </p:sp>
      <p:sp>
        <p:nvSpPr>
          <p:cNvPr id="213" name="Google Shape;213;p5"/>
          <p:cNvSpPr txBox="1"/>
          <p:nvPr/>
        </p:nvSpPr>
        <p:spPr>
          <a:xfrm>
            <a:off x="6429375" y="4451550"/>
            <a:ext cx="3600600" cy="257100"/>
          </a:xfrm>
          <a:prstGeom prst="rect">
            <a:avLst/>
          </a:prstGeom>
          <a:solidFill>
            <a:srgbClr val="FAE4D5"/>
          </a:solidFill>
          <a:ln>
            <a:noFill/>
          </a:ln>
        </p:spPr>
        <p:txBody>
          <a:bodyPr anchorCtr="0" anchor="t" bIns="0" lIns="18275" spcFirstLastPara="1" rIns="18275" wrap="square" tIns="0">
            <a:noAutofit/>
          </a:bodyPr>
          <a:lstStyle/>
          <a:p>
            <a:pPr indent="0" lvl="0" marL="98425" rtl="0" algn="l">
              <a:lnSpc>
                <a:spcPct val="100000"/>
              </a:lnSpc>
              <a:spcBef>
                <a:spcPts val="0"/>
              </a:spcBef>
              <a:spcAft>
                <a:spcPts val="0"/>
              </a:spcAft>
              <a:buNone/>
            </a:pPr>
            <a:r>
              <a:rPr lang="en-US">
                <a:solidFill>
                  <a:srgbClr val="252525"/>
                </a:solidFill>
                <a:latin typeface="Calibri"/>
                <a:ea typeface="Calibri"/>
                <a:cs typeface="Calibri"/>
                <a:sym typeface="Calibri"/>
              </a:rPr>
              <a:t>Q: What is the actual accuracy?</a:t>
            </a:r>
            <a:endParaRPr>
              <a:latin typeface="Calibri"/>
              <a:ea typeface="Calibri"/>
              <a:cs typeface="Calibri"/>
              <a:sym typeface="Calibri"/>
            </a:endParaRPr>
          </a:p>
        </p:txBody>
      </p:sp>
      <p:sp>
        <p:nvSpPr>
          <p:cNvPr id="214" name="Google Shape;214;p5"/>
          <p:cNvSpPr/>
          <p:nvPr/>
        </p:nvSpPr>
        <p:spPr>
          <a:xfrm>
            <a:off x="457200" y="1762125"/>
            <a:ext cx="971550" cy="400050"/>
          </a:xfrm>
          <a:custGeom>
            <a:rect b="b" l="l" r="r" t="t"/>
            <a:pathLst>
              <a:path extrusionOk="0" h="400050" w="971550">
                <a:moveTo>
                  <a:pt x="905383" y="0"/>
                </a:moveTo>
                <a:lnTo>
                  <a:pt x="65963" y="0"/>
                </a:lnTo>
                <a:lnTo>
                  <a:pt x="40284" y="5207"/>
                </a:lnTo>
                <a:lnTo>
                  <a:pt x="19316" y="19558"/>
                </a:lnTo>
                <a:lnTo>
                  <a:pt x="5181" y="40639"/>
                </a:lnTo>
                <a:lnTo>
                  <a:pt x="0" y="66675"/>
                </a:lnTo>
                <a:lnTo>
                  <a:pt x="0" y="333121"/>
                </a:lnTo>
                <a:lnTo>
                  <a:pt x="5181" y="359155"/>
                </a:lnTo>
                <a:lnTo>
                  <a:pt x="19316" y="380238"/>
                </a:lnTo>
                <a:lnTo>
                  <a:pt x="40284" y="394588"/>
                </a:lnTo>
                <a:lnTo>
                  <a:pt x="65963" y="399796"/>
                </a:lnTo>
                <a:lnTo>
                  <a:pt x="905383" y="399796"/>
                </a:lnTo>
                <a:lnTo>
                  <a:pt x="931037" y="394588"/>
                </a:lnTo>
                <a:lnTo>
                  <a:pt x="951991" y="380238"/>
                </a:lnTo>
                <a:lnTo>
                  <a:pt x="966216" y="359155"/>
                </a:lnTo>
                <a:lnTo>
                  <a:pt x="971422" y="333121"/>
                </a:lnTo>
                <a:lnTo>
                  <a:pt x="971422" y="66675"/>
                </a:lnTo>
                <a:lnTo>
                  <a:pt x="966216" y="40639"/>
                </a:lnTo>
                <a:lnTo>
                  <a:pt x="951991" y="19558"/>
                </a:lnTo>
                <a:lnTo>
                  <a:pt x="931037" y="5207"/>
                </a:lnTo>
                <a:lnTo>
                  <a:pt x="905383" y="0"/>
                </a:lnTo>
                <a:close/>
              </a:path>
            </a:pathLst>
          </a:custGeom>
          <a:solidFill>
            <a:srgbClr val="001F5F">
              <a:alpha val="4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215" name="Google Shape;215;p5"/>
          <p:cNvGrpSpPr/>
          <p:nvPr/>
        </p:nvGrpSpPr>
        <p:grpSpPr>
          <a:xfrm>
            <a:off x="6269000" y="1577997"/>
            <a:ext cx="5695950" cy="5141987"/>
            <a:chOff x="6281801" y="1224013"/>
            <a:chExt cx="5695950" cy="5495925"/>
          </a:xfrm>
        </p:grpSpPr>
        <p:pic>
          <p:nvPicPr>
            <p:cNvPr id="216" name="Google Shape;216;p5"/>
            <p:cNvPicPr preferRelativeResize="0"/>
            <p:nvPr/>
          </p:nvPicPr>
          <p:blipFill rotWithShape="1">
            <a:blip r:embed="rId3">
              <a:alphaModFix/>
            </a:blip>
            <a:srcRect b="0" l="0" r="0" t="0"/>
            <a:stretch/>
          </p:blipFill>
          <p:spPr>
            <a:xfrm>
              <a:off x="9563100" y="4571999"/>
              <a:ext cx="2314575" cy="2000250"/>
            </a:xfrm>
            <a:prstGeom prst="rect">
              <a:avLst/>
            </a:prstGeom>
            <a:noFill/>
            <a:ln>
              <a:noFill/>
            </a:ln>
          </p:spPr>
        </p:pic>
        <p:sp>
          <p:nvSpPr>
            <p:cNvPr id="217" name="Google Shape;217;p5"/>
            <p:cNvSpPr/>
            <p:nvPr/>
          </p:nvSpPr>
          <p:spPr>
            <a:xfrm>
              <a:off x="6281801" y="1224013"/>
              <a:ext cx="5695950" cy="5495925"/>
            </a:xfrm>
            <a:custGeom>
              <a:rect b="b" l="l" r="r" t="t"/>
              <a:pathLst>
                <a:path extrusionOk="0" h="5495925" w="5695950">
                  <a:moveTo>
                    <a:pt x="0" y="335788"/>
                  </a:moveTo>
                  <a:lnTo>
                    <a:pt x="3556" y="286131"/>
                  </a:lnTo>
                  <a:lnTo>
                    <a:pt x="14097" y="238760"/>
                  </a:lnTo>
                  <a:lnTo>
                    <a:pt x="31114" y="194183"/>
                  </a:lnTo>
                  <a:lnTo>
                    <a:pt x="54101" y="152908"/>
                  </a:lnTo>
                  <a:lnTo>
                    <a:pt x="82296" y="115443"/>
                  </a:lnTo>
                  <a:lnTo>
                    <a:pt x="115443" y="82296"/>
                  </a:lnTo>
                  <a:lnTo>
                    <a:pt x="152908" y="54101"/>
                  </a:lnTo>
                  <a:lnTo>
                    <a:pt x="194183" y="31114"/>
                  </a:lnTo>
                  <a:lnTo>
                    <a:pt x="238759" y="14097"/>
                  </a:lnTo>
                  <a:lnTo>
                    <a:pt x="286130" y="3556"/>
                  </a:lnTo>
                  <a:lnTo>
                    <a:pt x="335788" y="0"/>
                  </a:lnTo>
                  <a:lnTo>
                    <a:pt x="5359781" y="0"/>
                  </a:lnTo>
                  <a:lnTo>
                    <a:pt x="5409438" y="3556"/>
                  </a:lnTo>
                  <a:lnTo>
                    <a:pt x="5456808" y="14097"/>
                  </a:lnTo>
                  <a:lnTo>
                    <a:pt x="5501385" y="31114"/>
                  </a:lnTo>
                  <a:lnTo>
                    <a:pt x="5542660" y="54101"/>
                  </a:lnTo>
                  <a:lnTo>
                    <a:pt x="5580126" y="82296"/>
                  </a:lnTo>
                  <a:lnTo>
                    <a:pt x="5613273" y="115443"/>
                  </a:lnTo>
                  <a:lnTo>
                    <a:pt x="5641467" y="152908"/>
                  </a:lnTo>
                  <a:lnTo>
                    <a:pt x="5664454" y="194183"/>
                  </a:lnTo>
                  <a:lnTo>
                    <a:pt x="5681472" y="238760"/>
                  </a:lnTo>
                  <a:lnTo>
                    <a:pt x="5692013" y="286131"/>
                  </a:lnTo>
                  <a:lnTo>
                    <a:pt x="5695569" y="335788"/>
                  </a:lnTo>
                  <a:lnTo>
                    <a:pt x="5695569" y="5159857"/>
                  </a:lnTo>
                  <a:lnTo>
                    <a:pt x="5692013" y="5209489"/>
                  </a:lnTo>
                  <a:lnTo>
                    <a:pt x="5681472" y="5256860"/>
                  </a:lnTo>
                  <a:lnTo>
                    <a:pt x="5664454" y="5301449"/>
                  </a:lnTo>
                  <a:lnTo>
                    <a:pt x="5641467" y="5342737"/>
                  </a:lnTo>
                  <a:lnTo>
                    <a:pt x="5613273" y="5380202"/>
                  </a:lnTo>
                  <a:lnTo>
                    <a:pt x="5580126" y="5413336"/>
                  </a:lnTo>
                  <a:lnTo>
                    <a:pt x="5542660" y="5441607"/>
                  </a:lnTo>
                  <a:lnTo>
                    <a:pt x="5501385" y="5464492"/>
                  </a:lnTo>
                  <a:lnTo>
                    <a:pt x="5456808" y="5481485"/>
                  </a:lnTo>
                  <a:lnTo>
                    <a:pt x="5409438" y="5492064"/>
                  </a:lnTo>
                  <a:lnTo>
                    <a:pt x="5359781" y="5495709"/>
                  </a:lnTo>
                  <a:lnTo>
                    <a:pt x="335788" y="5495709"/>
                  </a:lnTo>
                  <a:lnTo>
                    <a:pt x="286130" y="5492064"/>
                  </a:lnTo>
                  <a:lnTo>
                    <a:pt x="238759" y="5481485"/>
                  </a:lnTo>
                  <a:lnTo>
                    <a:pt x="194183" y="5464492"/>
                  </a:lnTo>
                  <a:lnTo>
                    <a:pt x="152908" y="5441607"/>
                  </a:lnTo>
                  <a:lnTo>
                    <a:pt x="115443" y="5413336"/>
                  </a:lnTo>
                  <a:lnTo>
                    <a:pt x="82296" y="5380202"/>
                  </a:lnTo>
                  <a:lnTo>
                    <a:pt x="54101" y="5342737"/>
                  </a:lnTo>
                  <a:lnTo>
                    <a:pt x="31114" y="5301449"/>
                  </a:lnTo>
                  <a:lnTo>
                    <a:pt x="14097" y="5256860"/>
                  </a:lnTo>
                  <a:lnTo>
                    <a:pt x="3556" y="5209489"/>
                  </a:lnTo>
                  <a:lnTo>
                    <a:pt x="0" y="5159857"/>
                  </a:lnTo>
                  <a:lnTo>
                    <a:pt x="0" y="335788"/>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18" name="Google Shape;218;p5"/>
          <p:cNvSpPr txBox="1"/>
          <p:nvPr/>
        </p:nvSpPr>
        <p:spPr>
          <a:xfrm>
            <a:off x="485449" y="1806900"/>
            <a:ext cx="867600" cy="309600"/>
          </a:xfrm>
          <a:prstGeom prst="rect">
            <a:avLst/>
          </a:prstGeom>
          <a:noFill/>
          <a:ln>
            <a:noFill/>
          </a:ln>
        </p:spPr>
        <p:txBody>
          <a:bodyPr anchorCtr="0" anchor="ctr" bIns="0" lIns="18275" spcFirstLastPara="1" rIns="18275" wrap="square" tIns="0">
            <a:noAutofit/>
          </a:bodyPr>
          <a:lstStyle/>
          <a:p>
            <a:pPr indent="0" lvl="0" marL="12700" rtl="0" algn="ctr">
              <a:lnSpc>
                <a:spcPct val="100000"/>
              </a:lnSpc>
              <a:spcBef>
                <a:spcPts val="0"/>
              </a:spcBef>
              <a:spcAft>
                <a:spcPts val="0"/>
              </a:spcAft>
              <a:buNone/>
            </a:pPr>
            <a:r>
              <a:rPr lang="en-US" sz="1200">
                <a:solidFill>
                  <a:srgbClr val="FFFFFF"/>
                </a:solidFill>
                <a:latin typeface="Calibri"/>
                <a:ea typeface="Calibri"/>
                <a:cs typeface="Calibri"/>
                <a:sym typeface="Calibri"/>
              </a:rPr>
              <a:t>Purpose</a:t>
            </a:r>
            <a:endParaRPr sz="1200">
              <a:latin typeface="Calibri"/>
              <a:ea typeface="Calibri"/>
              <a:cs typeface="Calibri"/>
              <a:sym typeface="Calibri"/>
            </a:endParaRPr>
          </a:p>
        </p:txBody>
      </p:sp>
      <p:sp>
        <p:nvSpPr>
          <p:cNvPr id="219" name="Google Shape;219;p5"/>
          <p:cNvSpPr txBox="1"/>
          <p:nvPr/>
        </p:nvSpPr>
        <p:spPr>
          <a:xfrm>
            <a:off x="1659635" y="1708848"/>
            <a:ext cx="4185285" cy="542290"/>
          </a:xfrm>
          <a:prstGeom prst="rect">
            <a:avLst/>
          </a:prstGeom>
          <a:noFill/>
          <a:ln>
            <a:noFill/>
          </a:ln>
        </p:spPr>
        <p:txBody>
          <a:bodyPr anchorCtr="0" anchor="t" bIns="0" lIns="18275" spcFirstLastPara="1" rIns="18275" wrap="square" tIns="0">
            <a:noAutofit/>
          </a:bodyPr>
          <a:lstStyle/>
          <a:p>
            <a:pPr indent="0" lvl="0" marL="12700" marR="5080" rtl="0" algn="l">
              <a:lnSpc>
                <a:spcPct val="91200"/>
              </a:lnSpc>
              <a:spcBef>
                <a:spcPts val="0"/>
              </a:spcBef>
              <a:spcAft>
                <a:spcPts val="0"/>
              </a:spcAft>
              <a:buNone/>
            </a:pPr>
            <a:r>
              <a:rPr lang="en-US">
                <a:solidFill>
                  <a:srgbClr val="252525"/>
                </a:solidFill>
                <a:latin typeface="Calibri"/>
                <a:ea typeface="Calibri"/>
                <a:cs typeface="Calibri"/>
                <a:sym typeface="Calibri"/>
              </a:rPr>
              <a:t>Maximize net profit through Default customer prediction using machine learning. Hereafter, the system will be referred to as PMS (Profit Maximization System).</a:t>
            </a:r>
            <a:endParaRPr>
              <a:latin typeface="Calibri"/>
              <a:ea typeface="Calibri"/>
              <a:cs typeface="Calibri"/>
              <a:sym typeface="Calibri"/>
            </a:endParaRPr>
          </a:p>
        </p:txBody>
      </p:sp>
      <p:sp>
        <p:nvSpPr>
          <p:cNvPr id="220" name="Google Shape;220;p5"/>
          <p:cNvSpPr/>
          <p:nvPr/>
        </p:nvSpPr>
        <p:spPr>
          <a:xfrm>
            <a:off x="457200" y="2568466"/>
            <a:ext cx="971550" cy="400050"/>
          </a:xfrm>
          <a:custGeom>
            <a:rect b="b" l="l" r="r" t="t"/>
            <a:pathLst>
              <a:path extrusionOk="0" h="400050" w="971550">
                <a:moveTo>
                  <a:pt x="905383" y="0"/>
                </a:moveTo>
                <a:lnTo>
                  <a:pt x="65963" y="0"/>
                </a:lnTo>
                <a:lnTo>
                  <a:pt x="40284" y="5207"/>
                </a:lnTo>
                <a:lnTo>
                  <a:pt x="19316" y="19558"/>
                </a:lnTo>
                <a:lnTo>
                  <a:pt x="5181" y="40639"/>
                </a:lnTo>
                <a:lnTo>
                  <a:pt x="0" y="66675"/>
                </a:lnTo>
                <a:lnTo>
                  <a:pt x="0" y="333121"/>
                </a:lnTo>
                <a:lnTo>
                  <a:pt x="5181" y="359155"/>
                </a:lnTo>
                <a:lnTo>
                  <a:pt x="19316" y="380238"/>
                </a:lnTo>
                <a:lnTo>
                  <a:pt x="40284" y="394588"/>
                </a:lnTo>
                <a:lnTo>
                  <a:pt x="65963" y="399796"/>
                </a:lnTo>
                <a:lnTo>
                  <a:pt x="905383" y="399796"/>
                </a:lnTo>
                <a:lnTo>
                  <a:pt x="931037" y="394588"/>
                </a:lnTo>
                <a:lnTo>
                  <a:pt x="951991" y="380238"/>
                </a:lnTo>
                <a:lnTo>
                  <a:pt x="966216" y="359155"/>
                </a:lnTo>
                <a:lnTo>
                  <a:pt x="971422" y="333121"/>
                </a:lnTo>
                <a:lnTo>
                  <a:pt x="971422" y="66675"/>
                </a:lnTo>
                <a:lnTo>
                  <a:pt x="966216" y="40639"/>
                </a:lnTo>
                <a:lnTo>
                  <a:pt x="951991" y="19558"/>
                </a:lnTo>
                <a:lnTo>
                  <a:pt x="931037" y="5207"/>
                </a:lnTo>
                <a:lnTo>
                  <a:pt x="905383" y="0"/>
                </a:lnTo>
                <a:close/>
              </a:path>
            </a:pathLst>
          </a:custGeom>
          <a:solidFill>
            <a:srgbClr val="001F5F">
              <a:alpha val="4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1" name="Google Shape;221;p5"/>
          <p:cNvSpPr txBox="1"/>
          <p:nvPr/>
        </p:nvSpPr>
        <p:spPr>
          <a:xfrm>
            <a:off x="485548" y="2599527"/>
            <a:ext cx="867600" cy="276300"/>
          </a:xfrm>
          <a:prstGeom prst="rect">
            <a:avLst/>
          </a:prstGeom>
          <a:noFill/>
          <a:ln>
            <a:noFill/>
          </a:ln>
        </p:spPr>
        <p:txBody>
          <a:bodyPr anchorCtr="0" anchor="ctr" bIns="0" lIns="18275" spcFirstLastPara="1" rIns="18275" wrap="square" tIns="0">
            <a:noAutofit/>
          </a:bodyPr>
          <a:lstStyle/>
          <a:p>
            <a:pPr indent="0" lvl="0" marL="12700" rtl="0" algn="ctr">
              <a:lnSpc>
                <a:spcPct val="100000"/>
              </a:lnSpc>
              <a:spcBef>
                <a:spcPts val="0"/>
              </a:spcBef>
              <a:spcAft>
                <a:spcPts val="0"/>
              </a:spcAft>
              <a:buNone/>
            </a:pPr>
            <a:r>
              <a:rPr lang="en-US" sz="1200">
                <a:solidFill>
                  <a:srgbClr val="FFFFFF"/>
                </a:solidFill>
                <a:latin typeface="Calibri"/>
                <a:ea typeface="Calibri"/>
                <a:cs typeface="Calibri"/>
                <a:sym typeface="Calibri"/>
              </a:rPr>
              <a:t>Overview</a:t>
            </a:r>
            <a:endParaRPr sz="1200">
              <a:latin typeface="Calibri"/>
              <a:ea typeface="Calibri"/>
              <a:cs typeface="Calibri"/>
              <a:sym typeface="Calibri"/>
            </a:endParaRPr>
          </a:p>
        </p:txBody>
      </p:sp>
      <p:sp>
        <p:nvSpPr>
          <p:cNvPr id="222" name="Google Shape;222;p5"/>
          <p:cNvSpPr txBox="1"/>
          <p:nvPr/>
        </p:nvSpPr>
        <p:spPr>
          <a:xfrm>
            <a:off x="1701176" y="2566300"/>
            <a:ext cx="4295400" cy="847800"/>
          </a:xfrm>
          <a:prstGeom prst="rect">
            <a:avLst/>
          </a:prstGeom>
          <a:noFill/>
          <a:ln>
            <a:noFill/>
          </a:ln>
        </p:spPr>
        <p:txBody>
          <a:bodyPr anchorCtr="0" anchor="t" bIns="0" lIns="18275" spcFirstLastPara="1" rIns="18275" wrap="square" tIns="0">
            <a:noAutofit/>
          </a:bodyPr>
          <a:lstStyle/>
          <a:p>
            <a:pPr indent="-304800" lvl="0" marL="457200" rtl="0" algn="l">
              <a:lnSpc>
                <a:spcPct val="159444"/>
              </a:lnSpc>
              <a:spcBef>
                <a:spcPts val="0"/>
              </a:spcBef>
              <a:spcAft>
                <a:spcPts val="0"/>
              </a:spcAft>
              <a:buClr>
                <a:srgbClr val="252525"/>
              </a:buClr>
              <a:buSzPts val="1200"/>
              <a:buFont typeface="Calibri"/>
              <a:buAutoNum type="arabicPeriod"/>
            </a:pPr>
            <a:r>
              <a:rPr lang="en-US" sz="1200">
                <a:solidFill>
                  <a:srgbClr val="252525"/>
                </a:solidFill>
                <a:latin typeface="Calibri"/>
                <a:ea typeface="Calibri"/>
                <a:cs typeface="Calibri"/>
                <a:sym typeface="Calibri"/>
              </a:rPr>
              <a:t>Offer the requested loan amount to customers predicted to be capable of repayment.</a:t>
            </a:r>
            <a:endParaRPr sz="1200">
              <a:latin typeface="Calibri"/>
              <a:ea typeface="Calibri"/>
              <a:cs typeface="Calibri"/>
              <a:sym typeface="Calibri"/>
            </a:endParaRPr>
          </a:p>
          <a:p>
            <a:pPr indent="-304800" lvl="0" marL="457200" rtl="0" algn="l">
              <a:lnSpc>
                <a:spcPct val="151111"/>
              </a:lnSpc>
              <a:spcBef>
                <a:spcPts val="0"/>
              </a:spcBef>
              <a:spcAft>
                <a:spcPts val="0"/>
              </a:spcAft>
              <a:buClr>
                <a:srgbClr val="252525"/>
              </a:buClr>
              <a:buSzPts val="1200"/>
              <a:buFont typeface="Calibri"/>
              <a:buAutoNum type="arabicPeriod"/>
            </a:pPr>
            <a:r>
              <a:rPr lang="en-US" sz="1200">
                <a:solidFill>
                  <a:srgbClr val="252525"/>
                </a:solidFill>
                <a:latin typeface="Calibri"/>
                <a:ea typeface="Calibri"/>
                <a:cs typeface="Calibri"/>
                <a:sym typeface="Calibri"/>
              </a:rPr>
              <a:t>For customers predicted to have difficulty repaying, adjust to an optimal amount before lending or decline the loan.</a:t>
            </a:r>
            <a:endParaRPr sz="1200">
              <a:latin typeface="Calibri"/>
              <a:ea typeface="Calibri"/>
              <a:cs typeface="Calibri"/>
              <a:sym typeface="Calibri"/>
            </a:endParaRPr>
          </a:p>
        </p:txBody>
      </p:sp>
      <p:sp>
        <p:nvSpPr>
          <p:cNvPr id="223" name="Google Shape;223;p5"/>
          <p:cNvSpPr txBox="1"/>
          <p:nvPr/>
        </p:nvSpPr>
        <p:spPr>
          <a:xfrm>
            <a:off x="1701164" y="3646795"/>
            <a:ext cx="4211400" cy="370800"/>
          </a:xfrm>
          <a:prstGeom prst="rect">
            <a:avLst/>
          </a:prstGeom>
          <a:noFill/>
          <a:ln>
            <a:noFill/>
          </a:ln>
        </p:spPr>
        <p:txBody>
          <a:bodyPr anchorCtr="0" anchor="t" bIns="0" lIns="18275" spcFirstLastPara="1" rIns="18275" wrap="square" tIns="0">
            <a:noAutofit/>
          </a:bodyPr>
          <a:lstStyle/>
          <a:p>
            <a:pPr indent="0" lvl="0" marL="12700" rtl="0" algn="l">
              <a:lnSpc>
                <a:spcPct val="170000"/>
              </a:lnSpc>
              <a:spcBef>
                <a:spcPts val="0"/>
              </a:spcBef>
              <a:spcAft>
                <a:spcPts val="0"/>
              </a:spcAft>
              <a:buNone/>
            </a:pPr>
            <a:r>
              <a:rPr lang="en-US" sz="1200">
                <a:solidFill>
                  <a:srgbClr val="252525"/>
                </a:solidFill>
                <a:latin typeface="Calibri"/>
                <a:ea typeface="Calibri"/>
                <a:cs typeface="Calibri"/>
                <a:sym typeface="Calibri"/>
              </a:rPr>
              <a:t>Based on these two principles, we minimize your opportunity losses and maximize net profits.</a:t>
            </a:r>
            <a:endParaRPr sz="1200">
              <a:latin typeface="Calibri"/>
              <a:ea typeface="Calibri"/>
              <a:cs typeface="Calibri"/>
              <a:sym typeface="Calibri"/>
            </a:endParaRPr>
          </a:p>
          <a:p>
            <a:pPr indent="0" lvl="0" marL="12700" rtl="0" algn="l">
              <a:lnSpc>
                <a:spcPct val="170000"/>
              </a:lnSpc>
              <a:spcBef>
                <a:spcPts val="0"/>
              </a:spcBef>
              <a:spcAft>
                <a:spcPts val="0"/>
              </a:spcAft>
              <a:buNone/>
            </a:pPr>
            <a:r>
              <a:rPr lang="en-US" sz="1200">
                <a:solidFill>
                  <a:srgbClr val="252525"/>
                </a:solidFill>
                <a:latin typeface="Calibri"/>
                <a:ea typeface="Calibri"/>
                <a:cs typeface="Calibri"/>
                <a:sym typeface="Calibri"/>
              </a:rPr>
              <a:t>We achieve the minimization of your opportunity loss and maximization of net profits.</a:t>
            </a:r>
            <a:endParaRPr sz="1200">
              <a:latin typeface="Calibri"/>
              <a:ea typeface="Calibri"/>
              <a:cs typeface="Calibri"/>
              <a:sym typeface="Calibri"/>
            </a:endParaRPr>
          </a:p>
        </p:txBody>
      </p:sp>
      <p:sp>
        <p:nvSpPr>
          <p:cNvPr id="224" name="Google Shape;224;p5"/>
          <p:cNvSpPr/>
          <p:nvPr/>
        </p:nvSpPr>
        <p:spPr>
          <a:xfrm>
            <a:off x="457200" y="4903623"/>
            <a:ext cx="971550" cy="400050"/>
          </a:xfrm>
          <a:custGeom>
            <a:rect b="b" l="l" r="r" t="t"/>
            <a:pathLst>
              <a:path extrusionOk="0" h="400050" w="971550">
                <a:moveTo>
                  <a:pt x="905383" y="0"/>
                </a:moveTo>
                <a:lnTo>
                  <a:pt x="65963" y="0"/>
                </a:lnTo>
                <a:lnTo>
                  <a:pt x="40284" y="5206"/>
                </a:lnTo>
                <a:lnTo>
                  <a:pt x="19316" y="19557"/>
                </a:lnTo>
                <a:lnTo>
                  <a:pt x="5181" y="40639"/>
                </a:lnTo>
                <a:lnTo>
                  <a:pt x="0" y="66675"/>
                </a:lnTo>
                <a:lnTo>
                  <a:pt x="0" y="333120"/>
                </a:lnTo>
                <a:lnTo>
                  <a:pt x="5181" y="359156"/>
                </a:lnTo>
                <a:lnTo>
                  <a:pt x="19316" y="380238"/>
                </a:lnTo>
                <a:lnTo>
                  <a:pt x="40284" y="394588"/>
                </a:lnTo>
                <a:lnTo>
                  <a:pt x="65963" y="399795"/>
                </a:lnTo>
                <a:lnTo>
                  <a:pt x="905383" y="399795"/>
                </a:lnTo>
                <a:lnTo>
                  <a:pt x="931037" y="394588"/>
                </a:lnTo>
                <a:lnTo>
                  <a:pt x="951991" y="380238"/>
                </a:lnTo>
                <a:lnTo>
                  <a:pt x="966216" y="359156"/>
                </a:lnTo>
                <a:lnTo>
                  <a:pt x="971422" y="333120"/>
                </a:lnTo>
                <a:lnTo>
                  <a:pt x="971422" y="66675"/>
                </a:lnTo>
                <a:lnTo>
                  <a:pt x="966216" y="40639"/>
                </a:lnTo>
                <a:lnTo>
                  <a:pt x="951991" y="19557"/>
                </a:lnTo>
                <a:lnTo>
                  <a:pt x="931037" y="5206"/>
                </a:lnTo>
                <a:lnTo>
                  <a:pt x="905383" y="0"/>
                </a:lnTo>
                <a:close/>
              </a:path>
            </a:pathLst>
          </a:custGeom>
          <a:solidFill>
            <a:srgbClr val="001F5F">
              <a:alpha val="4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5" name="Google Shape;225;p5"/>
          <p:cNvSpPr txBox="1"/>
          <p:nvPr/>
        </p:nvSpPr>
        <p:spPr>
          <a:xfrm>
            <a:off x="485550" y="4964687"/>
            <a:ext cx="971700" cy="309600"/>
          </a:xfrm>
          <a:prstGeom prst="rect">
            <a:avLst/>
          </a:prstGeom>
          <a:noFill/>
          <a:ln>
            <a:noFill/>
          </a:ln>
        </p:spPr>
        <p:txBody>
          <a:bodyPr anchorCtr="0" anchor="ctr" bIns="0" lIns="18275" spcFirstLastPara="1" rIns="18275" wrap="square" tIns="0">
            <a:noAutofit/>
          </a:bodyPr>
          <a:lstStyle/>
          <a:p>
            <a:pPr indent="0" lvl="0" marL="12700" rtl="0" algn="ctr">
              <a:lnSpc>
                <a:spcPct val="100000"/>
              </a:lnSpc>
              <a:spcBef>
                <a:spcPts val="0"/>
              </a:spcBef>
              <a:spcAft>
                <a:spcPts val="0"/>
              </a:spcAft>
              <a:buNone/>
            </a:pPr>
            <a:r>
              <a:rPr lang="en-US" sz="1200">
                <a:solidFill>
                  <a:srgbClr val="FFFFFF"/>
                </a:solidFill>
                <a:latin typeface="Calibri"/>
                <a:ea typeface="Calibri"/>
                <a:cs typeface="Calibri"/>
                <a:sym typeface="Calibri"/>
              </a:rPr>
              <a:t>Usefulness</a:t>
            </a:r>
            <a:endParaRPr sz="1200">
              <a:latin typeface="Calibri"/>
              <a:ea typeface="Calibri"/>
              <a:cs typeface="Calibri"/>
              <a:sym typeface="Calibri"/>
            </a:endParaRPr>
          </a:p>
        </p:txBody>
      </p:sp>
      <p:sp>
        <p:nvSpPr>
          <p:cNvPr id="226" name="Google Shape;226;p5"/>
          <p:cNvSpPr txBox="1"/>
          <p:nvPr/>
        </p:nvSpPr>
        <p:spPr>
          <a:xfrm>
            <a:off x="1701164" y="4922018"/>
            <a:ext cx="4176300" cy="1162800"/>
          </a:xfrm>
          <a:prstGeom prst="rect">
            <a:avLst/>
          </a:prstGeom>
          <a:noFill/>
          <a:ln>
            <a:noFill/>
          </a:ln>
        </p:spPr>
        <p:txBody>
          <a:bodyPr anchorCtr="0" anchor="t" bIns="0" lIns="18275" spcFirstLastPara="1" rIns="18275" wrap="square" tIns="0">
            <a:noAutofit/>
          </a:bodyPr>
          <a:lstStyle/>
          <a:p>
            <a:pPr indent="0" lvl="0" marL="12700" marR="5080" rtl="0" algn="l">
              <a:lnSpc>
                <a:spcPct val="128000"/>
              </a:lnSpc>
              <a:spcBef>
                <a:spcPts val="0"/>
              </a:spcBef>
              <a:spcAft>
                <a:spcPts val="0"/>
              </a:spcAft>
              <a:buNone/>
            </a:pPr>
            <a:r>
              <a:rPr lang="en-US" sz="1200">
                <a:solidFill>
                  <a:srgbClr val="252525"/>
                </a:solidFill>
                <a:latin typeface="Calibri"/>
                <a:ea typeface="Calibri"/>
                <a:cs typeface="Calibri"/>
                <a:sym typeface="Calibri"/>
              </a:rPr>
              <a:t>In addition to maximizing profitability, offering customers an optimal loan amount based on prediction  before borrowing helps them use loans with greater confidence.</a:t>
            </a:r>
            <a:br>
              <a:rPr lang="en-US" sz="1200">
                <a:solidFill>
                  <a:srgbClr val="252525"/>
                </a:solidFill>
                <a:latin typeface="Calibri"/>
                <a:ea typeface="Calibri"/>
                <a:cs typeface="Calibri"/>
                <a:sym typeface="Calibri"/>
              </a:rPr>
            </a:br>
            <a:r>
              <a:rPr lang="en-US" sz="1200">
                <a:solidFill>
                  <a:srgbClr val="252525"/>
                </a:solidFill>
                <a:latin typeface="Calibri"/>
                <a:ea typeface="Calibri"/>
                <a:cs typeface="Calibri"/>
                <a:sym typeface="Calibri"/>
              </a:rPr>
              <a:t>Customers today seek lenders that are approachable and trustworthy — making such efforts vital to addressing their needs</a:t>
            </a:r>
            <a:endParaRPr sz="1200">
              <a:latin typeface="Calibri"/>
              <a:ea typeface="Calibri"/>
              <a:cs typeface="Calibri"/>
              <a:sym typeface="Calibri"/>
            </a:endParaRPr>
          </a:p>
        </p:txBody>
      </p:sp>
      <p:sp>
        <p:nvSpPr>
          <p:cNvPr id="227" name="Google Shape;227;p5"/>
          <p:cNvSpPr/>
          <p:nvPr/>
        </p:nvSpPr>
        <p:spPr>
          <a:xfrm>
            <a:off x="98182" y="1579660"/>
            <a:ext cx="6029325" cy="5138690"/>
          </a:xfrm>
          <a:custGeom>
            <a:rect b="b" l="l" r="r" t="t"/>
            <a:pathLst>
              <a:path extrusionOk="0" h="5495925" w="6029325">
                <a:moveTo>
                  <a:pt x="0" y="335788"/>
                </a:moveTo>
                <a:lnTo>
                  <a:pt x="3644" y="286131"/>
                </a:lnTo>
                <a:lnTo>
                  <a:pt x="14211" y="238760"/>
                </a:lnTo>
                <a:lnTo>
                  <a:pt x="31203" y="194183"/>
                </a:lnTo>
                <a:lnTo>
                  <a:pt x="54102" y="152908"/>
                </a:lnTo>
                <a:lnTo>
                  <a:pt x="82359" y="115443"/>
                </a:lnTo>
                <a:lnTo>
                  <a:pt x="115493" y="82296"/>
                </a:lnTo>
                <a:lnTo>
                  <a:pt x="152946" y="54101"/>
                </a:lnTo>
                <a:lnTo>
                  <a:pt x="194233" y="31114"/>
                </a:lnTo>
                <a:lnTo>
                  <a:pt x="238810" y="14097"/>
                </a:lnTo>
                <a:lnTo>
                  <a:pt x="286169" y="3556"/>
                </a:lnTo>
                <a:lnTo>
                  <a:pt x="335788" y="0"/>
                </a:lnTo>
                <a:lnTo>
                  <a:pt x="5692965" y="0"/>
                </a:lnTo>
                <a:lnTo>
                  <a:pt x="5742622" y="3556"/>
                </a:lnTo>
                <a:lnTo>
                  <a:pt x="5789993" y="14097"/>
                </a:lnTo>
                <a:lnTo>
                  <a:pt x="5834570" y="31114"/>
                </a:lnTo>
                <a:lnTo>
                  <a:pt x="5875845" y="54101"/>
                </a:lnTo>
                <a:lnTo>
                  <a:pt x="5913310" y="82296"/>
                </a:lnTo>
                <a:lnTo>
                  <a:pt x="5946457" y="115443"/>
                </a:lnTo>
                <a:lnTo>
                  <a:pt x="5974651" y="152908"/>
                </a:lnTo>
                <a:lnTo>
                  <a:pt x="5997638" y="194183"/>
                </a:lnTo>
                <a:lnTo>
                  <a:pt x="6014529" y="238760"/>
                </a:lnTo>
                <a:lnTo>
                  <a:pt x="6025197" y="286131"/>
                </a:lnTo>
                <a:lnTo>
                  <a:pt x="6028753" y="335788"/>
                </a:lnTo>
                <a:lnTo>
                  <a:pt x="6028753" y="5159857"/>
                </a:lnTo>
                <a:lnTo>
                  <a:pt x="6025197" y="5209489"/>
                </a:lnTo>
                <a:lnTo>
                  <a:pt x="6014529" y="5256860"/>
                </a:lnTo>
                <a:lnTo>
                  <a:pt x="5997638" y="5301449"/>
                </a:lnTo>
                <a:lnTo>
                  <a:pt x="5974651" y="5342737"/>
                </a:lnTo>
                <a:lnTo>
                  <a:pt x="5946457" y="5380202"/>
                </a:lnTo>
                <a:lnTo>
                  <a:pt x="5913310" y="5413336"/>
                </a:lnTo>
                <a:lnTo>
                  <a:pt x="5875845" y="5441607"/>
                </a:lnTo>
                <a:lnTo>
                  <a:pt x="5834570" y="5464492"/>
                </a:lnTo>
                <a:lnTo>
                  <a:pt x="5789993" y="5481485"/>
                </a:lnTo>
                <a:lnTo>
                  <a:pt x="5742622" y="5492064"/>
                </a:lnTo>
                <a:lnTo>
                  <a:pt x="5692965" y="5495709"/>
                </a:lnTo>
                <a:lnTo>
                  <a:pt x="335788" y="5495709"/>
                </a:lnTo>
                <a:lnTo>
                  <a:pt x="286169" y="5492064"/>
                </a:lnTo>
                <a:lnTo>
                  <a:pt x="238810" y="5481485"/>
                </a:lnTo>
                <a:lnTo>
                  <a:pt x="194233" y="5464492"/>
                </a:lnTo>
                <a:lnTo>
                  <a:pt x="152946" y="5441607"/>
                </a:lnTo>
                <a:lnTo>
                  <a:pt x="115493" y="5413336"/>
                </a:lnTo>
                <a:lnTo>
                  <a:pt x="82359" y="5380202"/>
                </a:lnTo>
                <a:lnTo>
                  <a:pt x="54102" y="5342737"/>
                </a:lnTo>
                <a:lnTo>
                  <a:pt x="31203" y="5301449"/>
                </a:lnTo>
                <a:lnTo>
                  <a:pt x="14211" y="5256860"/>
                </a:lnTo>
                <a:lnTo>
                  <a:pt x="3644" y="5209489"/>
                </a:lnTo>
                <a:lnTo>
                  <a:pt x="0" y="5159857"/>
                </a:lnTo>
                <a:lnTo>
                  <a:pt x="0" y="335788"/>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8" name="Google Shape;228;p5"/>
          <p:cNvSpPr txBox="1"/>
          <p:nvPr/>
        </p:nvSpPr>
        <p:spPr>
          <a:xfrm>
            <a:off x="6429375" y="1628775"/>
            <a:ext cx="4211400" cy="276300"/>
          </a:xfrm>
          <a:prstGeom prst="rect">
            <a:avLst/>
          </a:prstGeom>
          <a:solidFill>
            <a:srgbClr val="FAE4D5"/>
          </a:solidFill>
          <a:ln>
            <a:noFill/>
          </a:ln>
        </p:spPr>
        <p:txBody>
          <a:bodyPr anchorCtr="0" anchor="t" bIns="0" lIns="18275" spcFirstLastPara="1" rIns="18275" wrap="square" tIns="0">
            <a:noAutofit/>
          </a:bodyPr>
          <a:lstStyle/>
          <a:p>
            <a:pPr indent="0" lvl="0" marL="98425" rtl="0" algn="l">
              <a:lnSpc>
                <a:spcPct val="100000"/>
              </a:lnSpc>
              <a:spcBef>
                <a:spcPts val="0"/>
              </a:spcBef>
              <a:spcAft>
                <a:spcPts val="0"/>
              </a:spcAft>
              <a:buNone/>
            </a:pPr>
            <a:r>
              <a:rPr lang="en-US">
                <a:latin typeface="Calibri"/>
                <a:ea typeface="Calibri"/>
                <a:cs typeface="Calibri"/>
                <a:sym typeface="Calibri"/>
              </a:rPr>
              <a:t>Q: How do you measure the quality of a system?</a:t>
            </a:r>
            <a:endParaRPr>
              <a:latin typeface="Calibri"/>
              <a:ea typeface="Calibri"/>
              <a:cs typeface="Calibri"/>
              <a:sym typeface="Calibri"/>
            </a:endParaRPr>
          </a:p>
        </p:txBody>
      </p:sp>
      <p:sp>
        <p:nvSpPr>
          <p:cNvPr id="229" name="Google Shape;229;p5"/>
          <p:cNvSpPr txBox="1"/>
          <p:nvPr/>
        </p:nvSpPr>
        <p:spPr>
          <a:xfrm>
            <a:off x="6512623" y="4837925"/>
            <a:ext cx="3434100" cy="2571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a:latin typeface="Calibri"/>
                <a:ea typeface="Calibri"/>
                <a:cs typeface="Calibri"/>
                <a:sym typeface="Calibri"/>
              </a:rPr>
              <a:t>This prediction uses only the basic data.</a:t>
            </a:r>
            <a:endParaRPr>
              <a:latin typeface="Calibri"/>
              <a:ea typeface="Calibri"/>
              <a:cs typeface="Calibri"/>
              <a:sym typeface="Calibri"/>
            </a:endParaRPr>
          </a:p>
        </p:txBody>
      </p:sp>
      <p:sp>
        <p:nvSpPr>
          <p:cNvPr id="230" name="Google Shape;230;p5"/>
          <p:cNvSpPr txBox="1"/>
          <p:nvPr/>
        </p:nvSpPr>
        <p:spPr>
          <a:xfrm>
            <a:off x="7240219" y="5196393"/>
            <a:ext cx="1334700" cy="3003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b="1" lang="en-US" sz="1700" u="sng">
                <a:solidFill>
                  <a:srgbClr val="FF0000"/>
                </a:solidFill>
                <a:latin typeface="Calibri"/>
                <a:ea typeface="Calibri"/>
                <a:cs typeface="Calibri"/>
                <a:sym typeface="Calibri"/>
              </a:rPr>
              <a:t>AUC＝0.765</a:t>
            </a:r>
            <a:endParaRPr sz="1800">
              <a:latin typeface="Calibri"/>
              <a:ea typeface="Calibri"/>
              <a:cs typeface="Calibri"/>
              <a:sym typeface="Calibri"/>
            </a:endParaRPr>
          </a:p>
        </p:txBody>
      </p:sp>
      <p:sp>
        <p:nvSpPr>
          <p:cNvPr id="231" name="Google Shape;231;p5"/>
          <p:cNvSpPr txBox="1"/>
          <p:nvPr/>
        </p:nvSpPr>
        <p:spPr>
          <a:xfrm>
            <a:off x="6515723" y="5598075"/>
            <a:ext cx="2985600" cy="570900"/>
          </a:xfrm>
          <a:prstGeom prst="rect">
            <a:avLst/>
          </a:prstGeom>
          <a:noFill/>
          <a:ln>
            <a:noFill/>
          </a:ln>
        </p:spPr>
        <p:txBody>
          <a:bodyPr anchorCtr="0" anchor="t" bIns="0" lIns="18275" spcFirstLastPara="1" rIns="18275" wrap="square" tIns="0">
            <a:noAutofit/>
          </a:bodyPr>
          <a:lstStyle/>
          <a:p>
            <a:pPr indent="0" lvl="0" marL="12700" rtl="0" algn="l">
              <a:lnSpc>
                <a:spcPct val="143500"/>
              </a:lnSpc>
              <a:spcBef>
                <a:spcPts val="0"/>
              </a:spcBef>
              <a:spcAft>
                <a:spcPts val="0"/>
              </a:spcAft>
              <a:buNone/>
            </a:pPr>
            <a:r>
              <a:rPr lang="en-US" sz="1200">
                <a:latin typeface="Calibri"/>
                <a:ea typeface="Calibri"/>
                <a:cs typeface="Calibri"/>
                <a:sym typeface="Calibri"/>
              </a:rPr>
              <a:t>We were able to achieve this level of accuracy.</a:t>
            </a:r>
            <a:endParaRPr sz="1200">
              <a:latin typeface="Calibri"/>
              <a:ea typeface="Calibri"/>
              <a:cs typeface="Calibri"/>
              <a:sym typeface="Calibri"/>
            </a:endParaRPr>
          </a:p>
          <a:p>
            <a:pPr indent="0" lvl="0" marL="12700" marR="5080" rtl="0" algn="l">
              <a:lnSpc>
                <a:spcPct val="143000"/>
              </a:lnSpc>
              <a:spcBef>
                <a:spcPts val="0"/>
              </a:spcBef>
              <a:spcAft>
                <a:spcPts val="0"/>
              </a:spcAft>
              <a:buNone/>
            </a:pPr>
            <a:r>
              <a:rPr lang="en-US" sz="1200">
                <a:latin typeface="Calibri"/>
                <a:ea typeface="Calibri"/>
                <a:cs typeface="Calibri"/>
                <a:sym typeface="Calibri"/>
              </a:rPr>
              <a:t>Since this corresponds to an AUC of 0.7 to 0.8, it indicates that a moderate  effect can be expected.</a:t>
            </a:r>
            <a:endParaRPr sz="1200">
              <a:latin typeface="Calibri"/>
              <a:ea typeface="Calibri"/>
              <a:cs typeface="Calibri"/>
              <a:sym typeface="Calibri"/>
            </a:endParaRPr>
          </a:p>
        </p:txBody>
      </p:sp>
      <p:sp>
        <p:nvSpPr>
          <p:cNvPr id="232" name="Google Shape;232;p5"/>
          <p:cNvSpPr txBox="1"/>
          <p:nvPr/>
        </p:nvSpPr>
        <p:spPr>
          <a:xfrm>
            <a:off x="7281550" y="1173400"/>
            <a:ext cx="4176300" cy="4464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b="1" lang="en-US" sz="1700">
                <a:solidFill>
                  <a:srgbClr val="001F5F"/>
                </a:solidFill>
                <a:latin typeface="Calibri"/>
                <a:ea typeface="Calibri"/>
                <a:cs typeface="Calibri"/>
                <a:sym typeface="Calibri"/>
              </a:rPr>
              <a:t>Q&amp;A Before Detailed Explanation</a:t>
            </a:r>
            <a:endParaRPr baseline="30000" sz="1800">
              <a:solidFill>
                <a:schemeClr val="dk1"/>
              </a:solidFill>
              <a:latin typeface="Calibri"/>
              <a:ea typeface="Calibri"/>
              <a:cs typeface="Calibri"/>
              <a:sym typeface="Calibri"/>
            </a:endParaRPr>
          </a:p>
        </p:txBody>
      </p:sp>
      <p:sp>
        <p:nvSpPr>
          <p:cNvPr id="233" name="Google Shape;233;p5"/>
          <p:cNvSpPr/>
          <p:nvPr/>
        </p:nvSpPr>
        <p:spPr>
          <a:xfrm>
            <a:off x="9947000" y="4708250"/>
            <a:ext cx="295500" cy="96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800"/>
              <a:t>ID</a:t>
            </a:r>
            <a:endParaRPr b="1" sz="800"/>
          </a:p>
        </p:txBody>
      </p:sp>
      <p:sp>
        <p:nvSpPr>
          <p:cNvPr id="234" name="Google Shape;234;p5"/>
          <p:cNvSpPr/>
          <p:nvPr/>
        </p:nvSpPr>
        <p:spPr>
          <a:xfrm>
            <a:off x="11406825" y="4702210"/>
            <a:ext cx="529500" cy="96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500"/>
              <a:t>Prediction</a:t>
            </a:r>
            <a:endParaRPr b="1" sz="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6"/>
          <p:cNvSpPr txBox="1"/>
          <p:nvPr>
            <p:ph type="title"/>
          </p:nvPr>
        </p:nvSpPr>
        <p:spPr>
          <a:xfrm>
            <a:off x="485457" y="328549"/>
            <a:ext cx="10921365" cy="650874"/>
          </a:xfrm>
          <a:prstGeom prst="rect">
            <a:avLst/>
          </a:prstGeom>
          <a:noFill/>
          <a:ln>
            <a:noFill/>
          </a:ln>
        </p:spPr>
        <p:txBody>
          <a:bodyPr anchorCtr="0" anchor="ctr" bIns="0" lIns="18275" spcFirstLastPara="1" rIns="18275" wrap="square" tIns="0">
            <a:noAutofit/>
          </a:bodyPr>
          <a:lstStyle/>
          <a:p>
            <a:pPr indent="0" lvl="0" marL="12700" rtl="0" algn="l">
              <a:lnSpc>
                <a:spcPct val="100000"/>
              </a:lnSpc>
              <a:spcBef>
                <a:spcPts val="0"/>
              </a:spcBef>
              <a:spcAft>
                <a:spcPts val="0"/>
              </a:spcAft>
              <a:buNone/>
            </a:pPr>
            <a:r>
              <a:rPr lang="en-US" sz="2100">
                <a:latin typeface="Calibri"/>
                <a:ea typeface="Calibri"/>
                <a:cs typeface="Calibri"/>
                <a:sym typeface="Calibri"/>
              </a:rPr>
              <a:t>Example of application 1: Revenue Maximization System (PMS) through Default Customer Prediction</a:t>
            </a:r>
            <a:endParaRPr sz="2100">
              <a:latin typeface="Calibri"/>
              <a:ea typeface="Calibri"/>
              <a:cs typeface="Calibri"/>
              <a:sym typeface="Calibri"/>
            </a:endParaRPr>
          </a:p>
        </p:txBody>
      </p:sp>
      <p:sp>
        <p:nvSpPr>
          <p:cNvPr id="240" name="Google Shape;240;p6"/>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1" name="Google Shape;241;p6"/>
          <p:cNvSpPr txBox="1"/>
          <p:nvPr/>
        </p:nvSpPr>
        <p:spPr>
          <a:xfrm>
            <a:off x="907150" y="1296100"/>
            <a:ext cx="4025400" cy="1626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b="1" lang="en-US">
                <a:solidFill>
                  <a:srgbClr val="001F5F"/>
                </a:solidFill>
                <a:latin typeface="Calibri"/>
                <a:ea typeface="Calibri"/>
                <a:cs typeface="Calibri"/>
                <a:sym typeface="Calibri"/>
              </a:rPr>
              <a:t>C</a:t>
            </a:r>
            <a:r>
              <a:rPr b="1" lang="en-US">
                <a:solidFill>
                  <a:srgbClr val="001F5F"/>
                </a:solidFill>
                <a:latin typeface="Calibri"/>
                <a:ea typeface="Calibri"/>
                <a:cs typeface="Calibri"/>
                <a:sym typeface="Calibri"/>
              </a:rPr>
              <a:t>lassification method based on Default prediction</a:t>
            </a:r>
            <a:endParaRPr>
              <a:latin typeface="Calibri"/>
              <a:ea typeface="Calibri"/>
              <a:cs typeface="Calibri"/>
              <a:sym typeface="Calibri"/>
            </a:endParaRPr>
          </a:p>
        </p:txBody>
      </p:sp>
      <p:pic>
        <p:nvPicPr>
          <p:cNvPr id="242" name="Google Shape;242;p6"/>
          <p:cNvPicPr preferRelativeResize="0"/>
          <p:nvPr/>
        </p:nvPicPr>
        <p:blipFill rotWithShape="1">
          <a:blip r:embed="rId3">
            <a:alphaModFix/>
          </a:blip>
          <a:srcRect b="0" l="0" r="0" t="0"/>
          <a:stretch/>
        </p:blipFill>
        <p:spPr>
          <a:xfrm>
            <a:off x="8267413" y="1366899"/>
            <a:ext cx="2867025" cy="2476500"/>
          </a:xfrm>
          <a:prstGeom prst="rect">
            <a:avLst/>
          </a:prstGeom>
          <a:noFill/>
          <a:ln>
            <a:noFill/>
          </a:ln>
        </p:spPr>
      </p:pic>
      <p:sp>
        <p:nvSpPr>
          <p:cNvPr id="243" name="Google Shape;243;p6"/>
          <p:cNvSpPr/>
          <p:nvPr/>
        </p:nvSpPr>
        <p:spPr>
          <a:xfrm>
            <a:off x="102050" y="1085925"/>
            <a:ext cx="11978497" cy="5592104"/>
          </a:xfrm>
          <a:custGeom>
            <a:rect b="b" l="l" r="r" t="t"/>
            <a:pathLst>
              <a:path extrusionOk="0" h="5495925" w="11801475">
                <a:moveTo>
                  <a:pt x="0" y="335788"/>
                </a:moveTo>
                <a:lnTo>
                  <a:pt x="3644" y="286131"/>
                </a:lnTo>
                <a:lnTo>
                  <a:pt x="14211" y="238760"/>
                </a:lnTo>
                <a:lnTo>
                  <a:pt x="31191" y="194183"/>
                </a:lnTo>
                <a:lnTo>
                  <a:pt x="54076" y="152908"/>
                </a:lnTo>
                <a:lnTo>
                  <a:pt x="82334" y="115443"/>
                </a:lnTo>
                <a:lnTo>
                  <a:pt x="115443" y="82296"/>
                </a:lnTo>
                <a:lnTo>
                  <a:pt x="152882" y="54101"/>
                </a:lnTo>
                <a:lnTo>
                  <a:pt x="194144" y="31114"/>
                </a:lnTo>
                <a:lnTo>
                  <a:pt x="238709" y="14097"/>
                </a:lnTo>
                <a:lnTo>
                  <a:pt x="286054" y="3556"/>
                </a:lnTo>
                <a:lnTo>
                  <a:pt x="335648" y="0"/>
                </a:lnTo>
                <a:lnTo>
                  <a:pt x="11465750" y="0"/>
                </a:lnTo>
                <a:lnTo>
                  <a:pt x="11515407" y="3556"/>
                </a:lnTo>
                <a:lnTo>
                  <a:pt x="11562651" y="14097"/>
                </a:lnTo>
                <a:lnTo>
                  <a:pt x="11607228" y="31114"/>
                </a:lnTo>
                <a:lnTo>
                  <a:pt x="11648503" y="54101"/>
                </a:lnTo>
                <a:lnTo>
                  <a:pt x="11685968" y="82296"/>
                </a:lnTo>
                <a:lnTo>
                  <a:pt x="11719115" y="115443"/>
                </a:lnTo>
                <a:lnTo>
                  <a:pt x="11747309" y="152908"/>
                </a:lnTo>
                <a:lnTo>
                  <a:pt x="11770169" y="194183"/>
                </a:lnTo>
                <a:lnTo>
                  <a:pt x="11787187" y="238760"/>
                </a:lnTo>
                <a:lnTo>
                  <a:pt x="11797728" y="286131"/>
                </a:lnTo>
                <a:lnTo>
                  <a:pt x="11801411" y="335788"/>
                </a:lnTo>
                <a:lnTo>
                  <a:pt x="11801411" y="5159857"/>
                </a:lnTo>
                <a:lnTo>
                  <a:pt x="11797728" y="5209489"/>
                </a:lnTo>
                <a:lnTo>
                  <a:pt x="11787187" y="5256860"/>
                </a:lnTo>
                <a:lnTo>
                  <a:pt x="11770169" y="5301449"/>
                </a:lnTo>
                <a:lnTo>
                  <a:pt x="11747309" y="5342737"/>
                </a:lnTo>
                <a:lnTo>
                  <a:pt x="11719115" y="5380202"/>
                </a:lnTo>
                <a:lnTo>
                  <a:pt x="11685968" y="5413336"/>
                </a:lnTo>
                <a:lnTo>
                  <a:pt x="11648503" y="5441607"/>
                </a:lnTo>
                <a:lnTo>
                  <a:pt x="11607228" y="5464492"/>
                </a:lnTo>
                <a:lnTo>
                  <a:pt x="11562651" y="5481485"/>
                </a:lnTo>
                <a:lnTo>
                  <a:pt x="11515407" y="5492064"/>
                </a:lnTo>
                <a:lnTo>
                  <a:pt x="11465750" y="5495709"/>
                </a:lnTo>
                <a:lnTo>
                  <a:pt x="335648" y="5495709"/>
                </a:lnTo>
                <a:lnTo>
                  <a:pt x="286054" y="5492064"/>
                </a:lnTo>
                <a:lnTo>
                  <a:pt x="238709" y="5481485"/>
                </a:lnTo>
                <a:lnTo>
                  <a:pt x="194144" y="5464492"/>
                </a:lnTo>
                <a:lnTo>
                  <a:pt x="152882" y="5441607"/>
                </a:lnTo>
                <a:lnTo>
                  <a:pt x="115443" y="5413336"/>
                </a:lnTo>
                <a:lnTo>
                  <a:pt x="82334" y="5380202"/>
                </a:lnTo>
                <a:lnTo>
                  <a:pt x="54076" y="5342737"/>
                </a:lnTo>
                <a:lnTo>
                  <a:pt x="31191" y="5301449"/>
                </a:lnTo>
                <a:lnTo>
                  <a:pt x="14211" y="5256860"/>
                </a:lnTo>
                <a:lnTo>
                  <a:pt x="3644" y="5209489"/>
                </a:lnTo>
                <a:lnTo>
                  <a:pt x="0" y="5159857"/>
                </a:lnTo>
                <a:lnTo>
                  <a:pt x="0" y="335788"/>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4" name="Google Shape;244;p6"/>
          <p:cNvSpPr txBox="1"/>
          <p:nvPr/>
        </p:nvSpPr>
        <p:spPr>
          <a:xfrm>
            <a:off x="567375" y="2107375"/>
            <a:ext cx="5013000" cy="1206600"/>
          </a:xfrm>
          <a:prstGeom prst="rect">
            <a:avLst/>
          </a:prstGeom>
          <a:noFill/>
          <a:ln>
            <a:noFill/>
          </a:ln>
        </p:spPr>
        <p:txBody>
          <a:bodyPr anchorCtr="0" anchor="t" bIns="0" lIns="18275" spcFirstLastPara="1" rIns="18275" wrap="square" tIns="0">
            <a:noAutofit/>
          </a:bodyPr>
          <a:lstStyle/>
          <a:p>
            <a:pPr indent="0" lvl="0" marL="12700" marR="5080" rtl="0" algn="l">
              <a:lnSpc>
                <a:spcPct val="110100"/>
              </a:lnSpc>
              <a:spcBef>
                <a:spcPts val="0"/>
              </a:spcBef>
              <a:spcAft>
                <a:spcPts val="0"/>
              </a:spcAft>
              <a:buNone/>
            </a:pPr>
            <a:r>
              <a:rPr lang="en-US" sz="1200">
                <a:latin typeface="Calibri"/>
                <a:ea typeface="Calibri"/>
                <a:cs typeface="Calibri"/>
                <a:sym typeface="Calibri"/>
              </a:rPr>
              <a:t>In this system, the predicted value is output as the probability of default.</a:t>
            </a:r>
            <a:endParaRPr sz="1200">
              <a:latin typeface="Calibri"/>
              <a:ea typeface="Calibri"/>
              <a:cs typeface="Calibri"/>
              <a:sym typeface="Calibri"/>
            </a:endParaRPr>
          </a:p>
          <a:p>
            <a:pPr indent="0" lvl="0" marL="12700" rtl="0" algn="l">
              <a:lnSpc>
                <a:spcPct val="100000"/>
              </a:lnSpc>
              <a:spcBef>
                <a:spcPts val="0"/>
              </a:spcBef>
              <a:spcAft>
                <a:spcPts val="0"/>
              </a:spcAft>
              <a:buNone/>
            </a:pPr>
            <a:r>
              <a:rPr lang="en-US" sz="1200">
                <a:latin typeface="Calibri"/>
                <a:ea typeface="Calibri"/>
                <a:cs typeface="Calibri"/>
                <a:sym typeface="Calibri"/>
              </a:rPr>
              <a:t>Table 1 on the right shows</a:t>
            </a:r>
            <a:endParaRPr sz="1200">
              <a:latin typeface="Calibri"/>
              <a:ea typeface="Calibri"/>
              <a:cs typeface="Calibri"/>
              <a:sym typeface="Calibri"/>
            </a:endParaRPr>
          </a:p>
          <a:p>
            <a:pPr indent="-291465" lvl="0" marL="297815" rtl="0" algn="l">
              <a:lnSpc>
                <a:spcPct val="130454"/>
              </a:lnSpc>
              <a:spcBef>
                <a:spcPts val="0"/>
              </a:spcBef>
              <a:spcAft>
                <a:spcPts val="0"/>
              </a:spcAft>
              <a:buSzPts val="1200"/>
              <a:buFont typeface="Noto Sans Symbols"/>
              <a:buChar char="●"/>
            </a:pPr>
            <a:r>
              <a:rPr lang="en-US" sz="1200">
                <a:latin typeface="Calibri"/>
                <a:ea typeface="Calibri"/>
                <a:cs typeface="Calibri"/>
                <a:sym typeface="Calibri"/>
              </a:rPr>
              <a:t>the IDs of customers who used cash loans</a:t>
            </a:r>
            <a:endParaRPr sz="1200">
              <a:latin typeface="Calibri"/>
              <a:ea typeface="Calibri"/>
              <a:cs typeface="Calibri"/>
              <a:sym typeface="Calibri"/>
            </a:endParaRPr>
          </a:p>
          <a:p>
            <a:pPr indent="-291465" lvl="0" marL="297815" rtl="0" algn="l">
              <a:lnSpc>
                <a:spcPct val="130454"/>
              </a:lnSpc>
              <a:spcBef>
                <a:spcPts val="0"/>
              </a:spcBef>
              <a:spcAft>
                <a:spcPts val="0"/>
              </a:spcAft>
              <a:buSzPts val="1200"/>
              <a:buFont typeface="Noto Sans Symbols"/>
              <a:buChar char="●"/>
            </a:pPr>
            <a:r>
              <a:rPr lang="en-US" sz="1200">
                <a:latin typeface="Calibri"/>
                <a:ea typeface="Calibri"/>
                <a:cs typeface="Calibri"/>
                <a:sym typeface="Calibri"/>
              </a:rPr>
              <a:t>Whether a default actually occurred (1: Default, 0: No Default).</a:t>
            </a:r>
            <a:endParaRPr sz="1200">
              <a:latin typeface="Calibri"/>
              <a:ea typeface="Calibri"/>
              <a:cs typeface="Calibri"/>
              <a:sym typeface="Calibri"/>
            </a:endParaRPr>
          </a:p>
          <a:p>
            <a:pPr indent="-291465" lvl="0" marL="297815" rtl="0" algn="l">
              <a:lnSpc>
                <a:spcPct val="100000"/>
              </a:lnSpc>
              <a:spcBef>
                <a:spcPts val="0"/>
              </a:spcBef>
              <a:spcAft>
                <a:spcPts val="0"/>
              </a:spcAft>
              <a:buSzPts val="1200"/>
              <a:buFont typeface="Noto Sans Symbols"/>
              <a:buChar char="●"/>
            </a:pPr>
            <a:r>
              <a:rPr lang="en-US" sz="1200">
                <a:latin typeface="Calibri"/>
                <a:ea typeface="Calibri"/>
                <a:cs typeface="Calibri"/>
                <a:sym typeface="Calibri"/>
              </a:rPr>
              <a:t>the prediction (the likelihood that the customer will default).</a:t>
            </a:r>
            <a:endParaRPr sz="1200">
              <a:latin typeface="Calibri"/>
              <a:ea typeface="Calibri"/>
              <a:cs typeface="Calibri"/>
              <a:sym typeface="Calibri"/>
            </a:endParaRPr>
          </a:p>
        </p:txBody>
      </p:sp>
      <p:sp>
        <p:nvSpPr>
          <p:cNvPr id="245" name="Google Shape;245;p6"/>
          <p:cNvSpPr txBox="1"/>
          <p:nvPr/>
        </p:nvSpPr>
        <p:spPr>
          <a:xfrm>
            <a:off x="567372" y="3669029"/>
            <a:ext cx="4521200" cy="610870"/>
          </a:xfrm>
          <a:prstGeom prst="rect">
            <a:avLst/>
          </a:prstGeom>
          <a:noFill/>
          <a:ln>
            <a:noFill/>
          </a:ln>
        </p:spPr>
        <p:txBody>
          <a:bodyPr anchorCtr="0" anchor="t" bIns="0" lIns="18275" spcFirstLastPara="1" rIns="18275" wrap="square" tIns="0">
            <a:noAutofit/>
          </a:bodyPr>
          <a:lstStyle/>
          <a:p>
            <a:pPr indent="0" lvl="0" marL="12700" marR="5080" rtl="0" algn="just">
              <a:lnSpc>
                <a:spcPct val="102600"/>
              </a:lnSpc>
              <a:spcBef>
                <a:spcPts val="0"/>
              </a:spcBef>
              <a:spcAft>
                <a:spcPts val="0"/>
              </a:spcAft>
              <a:buNone/>
            </a:pPr>
            <a:r>
              <a:rPr lang="en-US" sz="1200">
                <a:solidFill>
                  <a:srgbClr val="FF0000"/>
                </a:solidFill>
                <a:latin typeface="Calibri"/>
                <a:ea typeface="Calibri"/>
                <a:cs typeface="Calibri"/>
                <a:sym typeface="Calibri"/>
              </a:rPr>
              <a:t>In practice, determining at what probability to be judged as default, in other words, setting the default threshold, is key to increasing profits.</a:t>
            </a:r>
            <a:endParaRPr sz="1200">
              <a:latin typeface="Calibri"/>
              <a:ea typeface="Calibri"/>
              <a:cs typeface="Calibri"/>
              <a:sym typeface="Calibri"/>
            </a:endParaRPr>
          </a:p>
        </p:txBody>
      </p:sp>
      <p:sp>
        <p:nvSpPr>
          <p:cNvPr id="246" name="Google Shape;246;p6"/>
          <p:cNvSpPr txBox="1"/>
          <p:nvPr/>
        </p:nvSpPr>
        <p:spPr>
          <a:xfrm>
            <a:off x="567372" y="4471352"/>
            <a:ext cx="4536440" cy="1403350"/>
          </a:xfrm>
          <a:prstGeom prst="rect">
            <a:avLst/>
          </a:prstGeom>
          <a:noFill/>
          <a:ln>
            <a:noFill/>
          </a:ln>
        </p:spPr>
        <p:txBody>
          <a:bodyPr anchorCtr="0" anchor="t" bIns="0" lIns="18275" spcFirstLastPara="1" rIns="18275" wrap="square" tIns="0">
            <a:noAutofit/>
          </a:bodyPr>
          <a:lstStyle/>
          <a:p>
            <a:pPr indent="0" lvl="0" marL="12700" marR="5080" rtl="0" algn="l">
              <a:lnSpc>
                <a:spcPct val="102699"/>
              </a:lnSpc>
              <a:spcBef>
                <a:spcPts val="0"/>
              </a:spcBef>
              <a:spcAft>
                <a:spcPts val="0"/>
              </a:spcAft>
              <a:buNone/>
            </a:pPr>
            <a:r>
              <a:rPr lang="en-US" sz="1200">
                <a:latin typeface="Calibri"/>
                <a:ea typeface="Calibri"/>
                <a:cs typeface="Calibri"/>
                <a:sym typeface="Calibri"/>
              </a:rPr>
              <a:t>In Figure 1 on the right, the customer distribution is shown as an example when the default threshold is set to 0.3 or 0.1. It visualizes how changes occur when the default threshold is varied.</a:t>
            </a:r>
            <a:endParaRPr sz="1200">
              <a:latin typeface="Calibri"/>
              <a:ea typeface="Calibri"/>
              <a:cs typeface="Calibri"/>
              <a:sym typeface="Calibri"/>
            </a:endParaRPr>
          </a:p>
          <a:p>
            <a:pPr indent="0" lvl="0" marL="12700" marR="43815" rtl="0" algn="just">
              <a:lnSpc>
                <a:spcPct val="102600"/>
              </a:lnSpc>
              <a:spcBef>
                <a:spcPts val="0"/>
              </a:spcBef>
              <a:spcAft>
                <a:spcPts val="0"/>
              </a:spcAft>
              <a:buNone/>
            </a:pPr>
            <a:r>
              <a:rPr lang="en-US" sz="1200">
                <a:solidFill>
                  <a:srgbClr val="001F5F"/>
                </a:solidFill>
                <a:latin typeface="Calibri"/>
                <a:ea typeface="Calibri"/>
                <a:cs typeface="Calibri"/>
                <a:sym typeface="Calibri"/>
              </a:rPr>
              <a:t>In PMS, by moving such cutoff values within the prediction range, it is possible to automatically detect the cutoff value that maximizes revenue.</a:t>
            </a:r>
            <a:endParaRPr sz="1200">
              <a:latin typeface="Calibri"/>
              <a:ea typeface="Calibri"/>
              <a:cs typeface="Calibri"/>
              <a:sym typeface="Calibri"/>
            </a:endParaRPr>
          </a:p>
        </p:txBody>
      </p:sp>
      <p:sp>
        <p:nvSpPr>
          <p:cNvPr id="247" name="Google Shape;247;p6"/>
          <p:cNvSpPr txBox="1"/>
          <p:nvPr/>
        </p:nvSpPr>
        <p:spPr>
          <a:xfrm>
            <a:off x="485775" y="1695450"/>
            <a:ext cx="5353050" cy="276225"/>
          </a:xfrm>
          <a:prstGeom prst="rect">
            <a:avLst/>
          </a:prstGeom>
          <a:solidFill>
            <a:srgbClr val="FAE4D5"/>
          </a:solidFill>
          <a:ln>
            <a:noFill/>
          </a:ln>
        </p:spPr>
        <p:txBody>
          <a:bodyPr anchorCtr="0" anchor="t" bIns="0" lIns="18275" spcFirstLastPara="1" rIns="18275" wrap="square" tIns="0">
            <a:noAutofit/>
          </a:bodyPr>
          <a:lstStyle/>
          <a:p>
            <a:pPr indent="0" lvl="0" marL="93345" rtl="0" algn="l">
              <a:lnSpc>
                <a:spcPct val="100000"/>
              </a:lnSpc>
              <a:spcBef>
                <a:spcPts val="0"/>
              </a:spcBef>
              <a:spcAft>
                <a:spcPts val="0"/>
              </a:spcAft>
              <a:buNone/>
            </a:pPr>
            <a:r>
              <a:rPr lang="en-US" sz="1200">
                <a:solidFill>
                  <a:srgbClr val="252525"/>
                </a:solidFill>
                <a:latin typeface="Calibri"/>
                <a:ea typeface="Calibri"/>
                <a:cs typeface="Calibri"/>
                <a:sym typeface="Calibri"/>
              </a:rPr>
              <a:t>Q How are the obtained predicted values used to identify default customers?</a:t>
            </a:r>
            <a:endParaRPr sz="1200">
              <a:latin typeface="Calibri"/>
              <a:ea typeface="Calibri"/>
              <a:cs typeface="Calibri"/>
              <a:sym typeface="Calibri"/>
            </a:endParaRPr>
          </a:p>
        </p:txBody>
      </p:sp>
      <p:sp>
        <p:nvSpPr>
          <p:cNvPr id="248" name="Google Shape;248;p6"/>
          <p:cNvSpPr txBox="1"/>
          <p:nvPr/>
        </p:nvSpPr>
        <p:spPr>
          <a:xfrm>
            <a:off x="6357996" y="6507800"/>
            <a:ext cx="1123800" cy="1626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200">
                <a:latin typeface="Calibri"/>
                <a:ea typeface="Calibri"/>
                <a:cs typeface="Calibri"/>
                <a:sym typeface="Calibri"/>
              </a:rPr>
              <a:t>Predicted value</a:t>
            </a:r>
            <a:endParaRPr sz="1200">
              <a:latin typeface="Calibri"/>
              <a:ea typeface="Calibri"/>
              <a:cs typeface="Calibri"/>
              <a:sym typeface="Calibri"/>
            </a:endParaRPr>
          </a:p>
        </p:txBody>
      </p:sp>
      <p:sp>
        <p:nvSpPr>
          <p:cNvPr id="249" name="Google Shape;249;p6"/>
          <p:cNvSpPr txBox="1"/>
          <p:nvPr/>
        </p:nvSpPr>
        <p:spPr>
          <a:xfrm>
            <a:off x="5670025" y="4127525"/>
            <a:ext cx="3283200" cy="350400"/>
          </a:xfrm>
          <a:prstGeom prst="rect">
            <a:avLst/>
          </a:prstGeom>
          <a:noFill/>
          <a:ln>
            <a:noFill/>
          </a:ln>
        </p:spPr>
        <p:txBody>
          <a:bodyPr anchorCtr="0" anchor="t" bIns="0" lIns="18275" spcFirstLastPara="1" rIns="18275" wrap="square" tIns="0">
            <a:noAutofit/>
          </a:bodyPr>
          <a:lstStyle/>
          <a:p>
            <a:pPr indent="0" lvl="0" marL="12700" rtl="0" algn="l">
              <a:lnSpc>
                <a:spcPct val="180000"/>
              </a:lnSpc>
              <a:spcBef>
                <a:spcPts val="0"/>
              </a:spcBef>
              <a:spcAft>
                <a:spcPts val="0"/>
              </a:spcAft>
              <a:buNone/>
            </a:pPr>
            <a:r>
              <a:rPr lang="en-US" sz="900">
                <a:latin typeface="Calibri"/>
                <a:ea typeface="Calibri"/>
                <a:cs typeface="Calibri"/>
                <a:sym typeface="Calibri"/>
              </a:rPr>
              <a:t>If a predicted value of 0.3 or higher is considered a default</a:t>
            </a:r>
            <a:endParaRPr sz="900">
              <a:latin typeface="Calibri"/>
              <a:ea typeface="Calibri"/>
              <a:cs typeface="Calibri"/>
              <a:sym typeface="Calibri"/>
            </a:endParaRPr>
          </a:p>
        </p:txBody>
      </p:sp>
      <p:sp>
        <p:nvSpPr>
          <p:cNvPr id="250" name="Google Shape;250;p6"/>
          <p:cNvSpPr txBox="1"/>
          <p:nvPr/>
        </p:nvSpPr>
        <p:spPr>
          <a:xfrm>
            <a:off x="8706973" y="4101741"/>
            <a:ext cx="3216000" cy="350400"/>
          </a:xfrm>
          <a:prstGeom prst="rect">
            <a:avLst/>
          </a:prstGeom>
          <a:noFill/>
          <a:ln>
            <a:noFill/>
          </a:ln>
        </p:spPr>
        <p:txBody>
          <a:bodyPr anchorCtr="0" anchor="t" bIns="0" lIns="18275" spcFirstLastPara="1" rIns="18275" wrap="square" tIns="0">
            <a:noAutofit/>
          </a:bodyPr>
          <a:lstStyle/>
          <a:p>
            <a:pPr indent="0" lvl="0" marL="12700" rtl="0" algn="l">
              <a:lnSpc>
                <a:spcPct val="180000"/>
              </a:lnSpc>
              <a:spcBef>
                <a:spcPts val="0"/>
              </a:spcBef>
              <a:spcAft>
                <a:spcPts val="0"/>
              </a:spcAft>
              <a:buNone/>
            </a:pPr>
            <a:r>
              <a:rPr lang="en-US" sz="900">
                <a:latin typeface="Calibri"/>
                <a:ea typeface="Calibri"/>
                <a:cs typeface="Calibri"/>
                <a:sym typeface="Calibri"/>
              </a:rPr>
              <a:t>If a predicted value of 0.1 or higher is considered a default</a:t>
            </a:r>
            <a:endParaRPr sz="900">
              <a:latin typeface="Calibri"/>
              <a:ea typeface="Calibri"/>
              <a:cs typeface="Calibri"/>
              <a:sym typeface="Calibri"/>
            </a:endParaRPr>
          </a:p>
        </p:txBody>
      </p:sp>
      <p:grpSp>
        <p:nvGrpSpPr>
          <p:cNvPr id="251" name="Google Shape;251;p6"/>
          <p:cNvGrpSpPr/>
          <p:nvPr/>
        </p:nvGrpSpPr>
        <p:grpSpPr>
          <a:xfrm>
            <a:off x="5438775" y="4267200"/>
            <a:ext cx="5991225" cy="2219325"/>
            <a:chOff x="5438775" y="4267200"/>
            <a:chExt cx="5991225" cy="2219325"/>
          </a:xfrm>
        </p:grpSpPr>
        <p:pic>
          <p:nvPicPr>
            <p:cNvPr id="252" name="Google Shape;252;p6"/>
            <p:cNvPicPr preferRelativeResize="0"/>
            <p:nvPr/>
          </p:nvPicPr>
          <p:blipFill rotWithShape="1">
            <a:blip r:embed="rId4">
              <a:alphaModFix/>
            </a:blip>
            <a:srcRect b="0" l="0" r="0" t="0"/>
            <a:stretch/>
          </p:blipFill>
          <p:spPr>
            <a:xfrm>
              <a:off x="5438775" y="4286250"/>
              <a:ext cx="2876550" cy="2181225"/>
            </a:xfrm>
            <a:prstGeom prst="rect">
              <a:avLst/>
            </a:prstGeom>
            <a:noFill/>
            <a:ln>
              <a:noFill/>
            </a:ln>
          </p:spPr>
        </p:pic>
        <p:pic>
          <p:nvPicPr>
            <p:cNvPr id="253" name="Google Shape;253;p6"/>
            <p:cNvPicPr preferRelativeResize="0"/>
            <p:nvPr/>
          </p:nvPicPr>
          <p:blipFill rotWithShape="1">
            <a:blip r:embed="rId5">
              <a:alphaModFix/>
            </a:blip>
            <a:srcRect b="0" l="0" r="0" t="0"/>
            <a:stretch/>
          </p:blipFill>
          <p:spPr>
            <a:xfrm>
              <a:off x="8543925" y="4267200"/>
              <a:ext cx="2886075" cy="2219325"/>
            </a:xfrm>
            <a:prstGeom prst="rect">
              <a:avLst/>
            </a:prstGeom>
            <a:noFill/>
            <a:ln>
              <a:noFill/>
            </a:ln>
          </p:spPr>
        </p:pic>
      </p:grpSp>
      <p:sp>
        <p:nvSpPr>
          <p:cNvPr id="254" name="Google Shape;254;p6"/>
          <p:cNvSpPr txBox="1"/>
          <p:nvPr/>
        </p:nvSpPr>
        <p:spPr>
          <a:xfrm>
            <a:off x="7481951" y="1366900"/>
            <a:ext cx="523875" cy="247650"/>
          </a:xfrm>
          <a:prstGeom prst="rect">
            <a:avLst/>
          </a:prstGeom>
          <a:noFill/>
          <a:ln cap="flat" cmpd="sng" w="9525">
            <a:solidFill>
              <a:srgbClr val="001F5F"/>
            </a:solidFill>
            <a:prstDash val="solid"/>
            <a:round/>
            <a:headEnd len="sm" w="sm" type="none"/>
            <a:tailEnd len="sm" w="sm" type="none"/>
          </a:ln>
        </p:spPr>
        <p:txBody>
          <a:bodyPr anchorCtr="0" anchor="t" bIns="0" lIns="18275" spcFirstLastPara="1" rIns="18275" wrap="square" tIns="0">
            <a:noAutofit/>
          </a:bodyPr>
          <a:lstStyle/>
          <a:p>
            <a:pPr indent="0" lvl="0" marL="90805" rtl="0" algn="l">
              <a:lnSpc>
                <a:spcPct val="100000"/>
              </a:lnSpc>
              <a:spcBef>
                <a:spcPts val="0"/>
              </a:spcBef>
              <a:spcAft>
                <a:spcPts val="0"/>
              </a:spcAft>
              <a:buNone/>
            </a:pPr>
            <a:r>
              <a:rPr lang="en-US" sz="900">
                <a:latin typeface="Calibri"/>
                <a:ea typeface="Calibri"/>
                <a:cs typeface="Calibri"/>
                <a:sym typeface="Calibri"/>
              </a:rPr>
              <a:t>Table 1</a:t>
            </a:r>
            <a:endParaRPr sz="900">
              <a:latin typeface="Calibri"/>
              <a:ea typeface="Calibri"/>
              <a:cs typeface="Calibri"/>
              <a:sym typeface="Calibri"/>
            </a:endParaRPr>
          </a:p>
        </p:txBody>
      </p:sp>
      <p:sp>
        <p:nvSpPr>
          <p:cNvPr id="255" name="Google Shape;255;p6"/>
          <p:cNvSpPr txBox="1"/>
          <p:nvPr/>
        </p:nvSpPr>
        <p:spPr>
          <a:xfrm>
            <a:off x="5824601" y="3538601"/>
            <a:ext cx="533400" cy="247650"/>
          </a:xfrm>
          <a:prstGeom prst="rect">
            <a:avLst/>
          </a:prstGeom>
          <a:noFill/>
          <a:ln cap="flat" cmpd="sng" w="9525">
            <a:solidFill>
              <a:srgbClr val="001F5F"/>
            </a:solidFill>
            <a:prstDash val="solid"/>
            <a:round/>
            <a:headEnd len="sm" w="sm" type="none"/>
            <a:tailEnd len="sm" w="sm" type="none"/>
          </a:ln>
        </p:spPr>
        <p:txBody>
          <a:bodyPr anchorCtr="0" anchor="t" bIns="0" lIns="18275" spcFirstLastPara="1" rIns="18275" wrap="square" tIns="0">
            <a:noAutofit/>
          </a:bodyPr>
          <a:lstStyle/>
          <a:p>
            <a:pPr indent="0" lvl="0" marL="92075" rtl="0" algn="l">
              <a:lnSpc>
                <a:spcPct val="100000"/>
              </a:lnSpc>
              <a:spcBef>
                <a:spcPts val="0"/>
              </a:spcBef>
              <a:spcAft>
                <a:spcPts val="0"/>
              </a:spcAft>
              <a:buNone/>
            </a:pPr>
            <a:r>
              <a:rPr lang="en-US" sz="1200">
                <a:latin typeface="Calibri"/>
                <a:ea typeface="Calibri"/>
                <a:cs typeface="Calibri"/>
                <a:sym typeface="Calibri"/>
              </a:rPr>
              <a:t>fig</a:t>
            </a:r>
            <a:r>
              <a:rPr lang="en-US" sz="1200">
                <a:latin typeface="Calibri"/>
                <a:ea typeface="Calibri"/>
                <a:cs typeface="Calibri"/>
                <a:sym typeface="Calibri"/>
              </a:rPr>
              <a:t>１</a:t>
            </a:r>
            <a:endParaRPr sz="1200">
              <a:latin typeface="Calibri"/>
              <a:ea typeface="Calibri"/>
              <a:cs typeface="Calibri"/>
              <a:sym typeface="Calibri"/>
            </a:endParaRPr>
          </a:p>
        </p:txBody>
      </p:sp>
      <p:sp>
        <p:nvSpPr>
          <p:cNvPr id="256" name="Google Shape;256;p6"/>
          <p:cNvSpPr txBox="1"/>
          <p:nvPr/>
        </p:nvSpPr>
        <p:spPr>
          <a:xfrm>
            <a:off x="6519926" y="3414776"/>
            <a:ext cx="1209675" cy="419100"/>
          </a:xfrm>
          <a:prstGeom prst="rect">
            <a:avLst/>
          </a:prstGeom>
          <a:noFill/>
          <a:ln cap="flat" cmpd="sng" w="9525">
            <a:solidFill>
              <a:srgbClr val="EC7C30"/>
            </a:solidFill>
            <a:prstDash val="solid"/>
            <a:round/>
            <a:headEnd len="sm" w="sm" type="none"/>
            <a:tailEnd len="sm" w="sm" type="none"/>
          </a:ln>
        </p:spPr>
        <p:txBody>
          <a:bodyPr anchorCtr="0" anchor="t" bIns="0" lIns="18275" spcFirstLastPara="1" rIns="18275" wrap="square" tIns="0">
            <a:noAutofit/>
          </a:bodyPr>
          <a:lstStyle/>
          <a:p>
            <a:pPr indent="0" lvl="0" marL="92710" rtl="0" algn="l">
              <a:lnSpc>
                <a:spcPct val="100000"/>
              </a:lnSpc>
              <a:spcBef>
                <a:spcPts val="0"/>
              </a:spcBef>
              <a:spcAft>
                <a:spcPts val="0"/>
              </a:spcAft>
              <a:buNone/>
            </a:pPr>
            <a:r>
              <a:rPr lang="en-US" sz="1100">
                <a:solidFill>
                  <a:srgbClr val="0431FF"/>
                </a:solidFill>
                <a:latin typeface="Calibri"/>
                <a:ea typeface="Calibri"/>
                <a:cs typeface="Calibri"/>
                <a:sym typeface="Calibri"/>
              </a:rPr>
              <a:t>Blue: Default</a:t>
            </a:r>
            <a:endParaRPr sz="1100">
              <a:latin typeface="Calibri"/>
              <a:ea typeface="Calibri"/>
              <a:cs typeface="Calibri"/>
              <a:sym typeface="Calibri"/>
            </a:endParaRPr>
          </a:p>
          <a:p>
            <a:pPr indent="0" lvl="0" marL="92710" rtl="0" algn="l">
              <a:lnSpc>
                <a:spcPct val="100000"/>
              </a:lnSpc>
              <a:spcBef>
                <a:spcPts val="0"/>
              </a:spcBef>
              <a:spcAft>
                <a:spcPts val="0"/>
              </a:spcAft>
              <a:buNone/>
            </a:pPr>
            <a:r>
              <a:rPr lang="en-US" sz="1100">
                <a:solidFill>
                  <a:srgbClr val="FF0000"/>
                </a:solidFill>
                <a:latin typeface="Calibri"/>
                <a:ea typeface="Calibri"/>
                <a:cs typeface="Calibri"/>
                <a:sym typeface="Calibri"/>
              </a:rPr>
              <a:t>Red: No Default</a:t>
            </a:r>
            <a:endParaRPr sz="1100">
              <a:latin typeface="Calibri"/>
              <a:ea typeface="Calibri"/>
              <a:cs typeface="Calibri"/>
              <a:sym typeface="Calibri"/>
            </a:endParaRPr>
          </a:p>
        </p:txBody>
      </p:sp>
      <p:sp>
        <p:nvSpPr>
          <p:cNvPr id="257" name="Google Shape;257;p6"/>
          <p:cNvSpPr/>
          <p:nvPr/>
        </p:nvSpPr>
        <p:spPr>
          <a:xfrm>
            <a:off x="8725150" y="1349375"/>
            <a:ext cx="445800" cy="163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t>ID</a:t>
            </a:r>
            <a:endParaRPr b="1" sz="1000"/>
          </a:p>
        </p:txBody>
      </p:sp>
      <p:sp>
        <p:nvSpPr>
          <p:cNvPr id="258" name="Google Shape;258;p6"/>
          <p:cNvSpPr/>
          <p:nvPr/>
        </p:nvSpPr>
        <p:spPr>
          <a:xfrm>
            <a:off x="10569096" y="1331050"/>
            <a:ext cx="631200" cy="181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t>Prediction</a:t>
            </a:r>
            <a:endParaRPr b="1" sz="700"/>
          </a:p>
        </p:txBody>
      </p:sp>
      <p:sp>
        <p:nvSpPr>
          <p:cNvPr id="259" name="Google Shape;259;p6"/>
          <p:cNvSpPr txBox="1"/>
          <p:nvPr/>
        </p:nvSpPr>
        <p:spPr>
          <a:xfrm>
            <a:off x="9450084" y="6507800"/>
            <a:ext cx="1123800" cy="1626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200">
                <a:latin typeface="Calibri"/>
                <a:ea typeface="Calibri"/>
                <a:cs typeface="Calibri"/>
                <a:sym typeface="Calibri"/>
              </a:rPr>
              <a:t>Predicted value</a:t>
            </a:r>
            <a:endParaRPr sz="12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9821493b04_0_14"/>
          <p:cNvSpPr txBox="1"/>
          <p:nvPr>
            <p:ph type="title"/>
          </p:nvPr>
        </p:nvSpPr>
        <p:spPr>
          <a:xfrm>
            <a:off x="485457" y="328549"/>
            <a:ext cx="10921500" cy="443700"/>
          </a:xfrm>
          <a:prstGeom prst="rect">
            <a:avLst/>
          </a:prstGeom>
          <a:noFill/>
          <a:ln>
            <a:noFill/>
          </a:ln>
        </p:spPr>
        <p:txBody>
          <a:bodyPr anchorCtr="0" anchor="t" bIns="0" lIns="0" spcFirstLastPara="1" rIns="0" wrap="square" tIns="12700">
            <a:spAutoFit/>
          </a:bodyPr>
          <a:lstStyle/>
          <a:p>
            <a:pPr indent="0" lvl="0" marL="114300" rtl="0" algn="l">
              <a:spcBef>
                <a:spcPts val="0"/>
              </a:spcBef>
              <a:spcAft>
                <a:spcPts val="0"/>
              </a:spcAft>
              <a:buNone/>
            </a:pPr>
            <a:r>
              <a:rPr lang="en-US" sz="2800">
                <a:latin typeface="Calibri"/>
                <a:ea typeface="Calibri"/>
                <a:cs typeface="Calibri"/>
                <a:sym typeface="Calibri"/>
              </a:rPr>
              <a:t>Revenue Prediction by PMS (Simulation)</a:t>
            </a:r>
            <a:endParaRPr/>
          </a:p>
        </p:txBody>
      </p:sp>
      <p:sp>
        <p:nvSpPr>
          <p:cNvPr id="265" name="Google Shape;265;g39821493b04_0_14"/>
          <p:cNvSpPr/>
          <p:nvPr/>
        </p:nvSpPr>
        <p:spPr>
          <a:xfrm>
            <a:off x="0" y="1095152"/>
            <a:ext cx="12192000" cy="0"/>
          </a:xfrm>
          <a:custGeom>
            <a:rect b="b" l="l" r="r" t="t"/>
            <a:pathLst>
              <a:path extrusionOk="0" h="120000" w="12192000">
                <a:moveTo>
                  <a:pt x="0" y="0"/>
                </a:moveTo>
                <a:lnTo>
                  <a:pt x="12192000"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6" name="Google Shape;266;g39821493b04_0_14"/>
          <p:cNvSpPr/>
          <p:nvPr/>
        </p:nvSpPr>
        <p:spPr>
          <a:xfrm>
            <a:off x="4494800" y="1555950"/>
            <a:ext cx="570300" cy="1287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500"/>
              <a:t>Proportion of loan types</a:t>
            </a:r>
            <a:endParaRPr sz="500"/>
          </a:p>
        </p:txBody>
      </p:sp>
      <p:sp>
        <p:nvSpPr>
          <p:cNvPr id="267" name="Google Shape;267;g39821493b04_0_14"/>
          <p:cNvSpPr txBox="1"/>
          <p:nvPr/>
        </p:nvSpPr>
        <p:spPr>
          <a:xfrm>
            <a:off x="556780" y="1368167"/>
            <a:ext cx="4859100" cy="5046300"/>
          </a:xfrm>
          <a:prstGeom prst="rect">
            <a:avLst/>
          </a:prstGeom>
          <a:noFill/>
          <a:ln>
            <a:noFill/>
          </a:ln>
        </p:spPr>
        <p:txBody>
          <a:bodyPr anchorCtr="0" anchor="t" bIns="0" lIns="18275" spcFirstLastPara="1" rIns="18275" wrap="square" tIns="0">
            <a:noAutofit/>
          </a:bodyPr>
          <a:lstStyle/>
          <a:p>
            <a:pPr indent="0" lvl="0" marL="1327785" rtl="0" algn="l">
              <a:lnSpc>
                <a:spcPct val="100000"/>
              </a:lnSpc>
              <a:spcBef>
                <a:spcPts val="0"/>
              </a:spcBef>
              <a:spcAft>
                <a:spcPts val="0"/>
              </a:spcAft>
              <a:buNone/>
            </a:pPr>
            <a:r>
              <a:rPr b="1" lang="en-US" sz="1200">
                <a:solidFill>
                  <a:srgbClr val="001F5F"/>
                </a:solidFill>
                <a:latin typeface="Calibri"/>
                <a:ea typeface="Calibri"/>
                <a:cs typeface="Calibri"/>
                <a:sym typeface="Calibri"/>
              </a:rPr>
              <a:t>Assumptions</a:t>
            </a:r>
            <a:endParaRPr sz="1300">
              <a:latin typeface="Calibri"/>
              <a:ea typeface="Calibri"/>
              <a:cs typeface="Calibri"/>
              <a:sym typeface="Calibri"/>
            </a:endParaRPr>
          </a:p>
          <a:p>
            <a:pPr indent="0" lvl="0" marL="37465" marR="1471930" rtl="0" algn="l">
              <a:lnSpc>
                <a:spcPct val="119166"/>
              </a:lnSpc>
              <a:spcBef>
                <a:spcPts val="0"/>
              </a:spcBef>
              <a:spcAft>
                <a:spcPts val="0"/>
              </a:spcAft>
              <a:buNone/>
            </a:pPr>
            <a:r>
              <a:rPr lang="en-US" sz="1200">
                <a:latin typeface="Calibri"/>
                <a:ea typeface="Calibri"/>
                <a:cs typeface="Calibri"/>
                <a:sym typeface="Calibri"/>
              </a:rPr>
              <a:t>Data: </a:t>
            </a:r>
            <a:r>
              <a:rPr lang="en-US" sz="1200">
                <a:solidFill>
                  <a:schemeClr val="dk1"/>
                </a:solidFill>
                <a:latin typeface="Calibri"/>
                <a:ea typeface="Calibri"/>
                <a:cs typeface="Calibri"/>
                <a:sym typeface="Calibri"/>
              </a:rPr>
              <a:t>Profit and loss of </a:t>
            </a:r>
            <a:r>
              <a:rPr lang="en-US" sz="1200">
                <a:latin typeface="Calibri"/>
                <a:ea typeface="Calibri"/>
                <a:cs typeface="Calibri"/>
                <a:sym typeface="Calibri"/>
              </a:rPr>
              <a:t>customers with Cash loans are defined as follows.</a:t>
            </a:r>
            <a:endParaRPr sz="1200">
              <a:latin typeface="Calibri"/>
              <a:ea typeface="Calibri"/>
              <a:cs typeface="Calibri"/>
              <a:sym typeface="Calibri"/>
            </a:endParaRPr>
          </a:p>
          <a:p>
            <a:pPr indent="-285750" lvl="0" marL="323215" rtl="0" algn="l">
              <a:lnSpc>
                <a:spcPct val="114583"/>
              </a:lnSpc>
              <a:spcBef>
                <a:spcPts val="0"/>
              </a:spcBef>
              <a:spcAft>
                <a:spcPts val="0"/>
              </a:spcAft>
              <a:buSzPts val="1200"/>
              <a:buFont typeface="Noto Sans Symbols"/>
              <a:buChar char="●"/>
            </a:pPr>
            <a:r>
              <a:rPr lang="en-US" sz="1200">
                <a:latin typeface="Calibri"/>
                <a:ea typeface="Calibri"/>
                <a:cs typeface="Calibri"/>
                <a:sym typeface="Calibri"/>
              </a:rPr>
              <a:t>Profit = Σ (Interest)</a:t>
            </a:r>
            <a:endParaRPr sz="1200">
              <a:latin typeface="Calibri"/>
              <a:ea typeface="Calibri"/>
              <a:cs typeface="Calibri"/>
              <a:sym typeface="Calibri"/>
            </a:endParaRPr>
          </a:p>
          <a:p>
            <a:pPr indent="0" lvl="0" marL="494665" rtl="0" algn="l">
              <a:lnSpc>
                <a:spcPct val="119583"/>
              </a:lnSpc>
              <a:spcBef>
                <a:spcPts val="0"/>
              </a:spcBef>
              <a:spcAft>
                <a:spcPts val="0"/>
              </a:spcAft>
              <a:buNone/>
            </a:pPr>
            <a:r>
              <a:rPr lang="en-US" sz="1200">
                <a:latin typeface="Calibri"/>
                <a:ea typeface="Calibri"/>
                <a:cs typeface="Calibri"/>
                <a:sym typeface="Calibri"/>
              </a:rPr>
              <a:t>The total interest collected from customers who </a:t>
            </a:r>
            <a:br>
              <a:rPr lang="en-US" sz="1200">
                <a:latin typeface="Calibri"/>
                <a:ea typeface="Calibri"/>
                <a:cs typeface="Calibri"/>
                <a:sym typeface="Calibri"/>
              </a:rPr>
            </a:br>
            <a:r>
              <a:rPr lang="en-US" sz="1200">
                <a:latin typeface="Calibri"/>
                <a:ea typeface="Calibri"/>
                <a:cs typeface="Calibri"/>
                <a:sym typeface="Calibri"/>
              </a:rPr>
              <a:t>can fully repay (No Default)</a:t>
            </a:r>
            <a:endParaRPr sz="1200">
              <a:latin typeface="Calibri"/>
              <a:ea typeface="Calibri"/>
              <a:cs typeface="Calibri"/>
              <a:sym typeface="Calibri"/>
            </a:endParaRPr>
          </a:p>
          <a:p>
            <a:pPr indent="-285750" lvl="0" marL="323215" rtl="0" algn="l">
              <a:lnSpc>
                <a:spcPct val="112916"/>
              </a:lnSpc>
              <a:spcBef>
                <a:spcPts val="0"/>
              </a:spcBef>
              <a:spcAft>
                <a:spcPts val="0"/>
              </a:spcAft>
              <a:buSzPts val="1200"/>
              <a:buFont typeface="Noto Sans Symbols"/>
              <a:buChar char="●"/>
            </a:pPr>
            <a:r>
              <a:rPr lang="en-US" sz="1200">
                <a:latin typeface="Calibri"/>
                <a:ea typeface="Calibri"/>
                <a:cs typeface="Calibri"/>
                <a:sym typeface="Calibri"/>
              </a:rPr>
              <a:t>Loss = Σ{Loan Amount - Recovery Rate × (Loan Amount + Interest)}</a:t>
            </a:r>
            <a:endParaRPr sz="1200">
              <a:latin typeface="Calibri"/>
              <a:ea typeface="Calibri"/>
              <a:cs typeface="Calibri"/>
              <a:sym typeface="Calibri"/>
            </a:endParaRPr>
          </a:p>
          <a:p>
            <a:pPr indent="0" lvl="0" marL="494665" marR="86360" rtl="0" algn="l">
              <a:lnSpc>
                <a:spcPct val="119166"/>
              </a:lnSpc>
              <a:spcBef>
                <a:spcPts val="0"/>
              </a:spcBef>
              <a:spcAft>
                <a:spcPts val="0"/>
              </a:spcAft>
              <a:buNone/>
            </a:pPr>
            <a:r>
              <a:rPr lang="en-US" sz="1200">
                <a:latin typeface="Calibri"/>
                <a:ea typeface="Calibri"/>
                <a:cs typeface="Calibri"/>
                <a:sym typeface="Calibri"/>
              </a:rPr>
              <a:t>Total amount of unrecovered money from customers who delay repayment or become unable to repay (Default).</a:t>
            </a:r>
            <a:endParaRPr sz="1200">
              <a:latin typeface="Calibri"/>
              <a:ea typeface="Calibri"/>
              <a:cs typeface="Calibri"/>
              <a:sym typeface="Calibri"/>
            </a:endParaRPr>
          </a:p>
          <a:p>
            <a:pPr indent="-285750" lvl="0" marL="318135" rtl="0" algn="l">
              <a:lnSpc>
                <a:spcPct val="119583"/>
              </a:lnSpc>
              <a:spcBef>
                <a:spcPts val="0"/>
              </a:spcBef>
              <a:spcAft>
                <a:spcPts val="0"/>
              </a:spcAft>
              <a:buSzPts val="1200"/>
              <a:buFont typeface="Noto Sans Symbols"/>
              <a:buChar char="●"/>
            </a:pPr>
            <a:r>
              <a:rPr lang="en-US" sz="1200">
                <a:latin typeface="Calibri"/>
                <a:ea typeface="Calibri"/>
                <a:cs typeface="Calibri"/>
                <a:sym typeface="Calibri"/>
              </a:rPr>
              <a:t>Since the system development competition is held on Kaggle,</a:t>
            </a:r>
            <a:endParaRPr sz="1200">
              <a:latin typeface="Calibri"/>
              <a:ea typeface="Calibri"/>
              <a:cs typeface="Calibri"/>
              <a:sym typeface="Calibri"/>
            </a:endParaRPr>
          </a:p>
          <a:p>
            <a:pPr indent="0" lvl="0" marL="318135" rtl="0" algn="l">
              <a:lnSpc>
                <a:spcPct val="119583"/>
              </a:lnSpc>
              <a:spcBef>
                <a:spcPts val="0"/>
              </a:spcBef>
              <a:spcAft>
                <a:spcPts val="0"/>
              </a:spcAft>
              <a:buNone/>
            </a:pPr>
            <a:r>
              <a:rPr lang="en-US" sz="1200" u="sng">
                <a:latin typeface="Calibri"/>
                <a:ea typeface="Calibri"/>
                <a:cs typeface="Calibri"/>
                <a:sym typeface="Calibri"/>
              </a:rPr>
              <a:t>t</a:t>
            </a:r>
            <a:r>
              <a:rPr lang="en-US" sz="1200" u="sng">
                <a:latin typeface="Calibri"/>
                <a:ea typeface="Calibri"/>
                <a:cs typeface="Calibri"/>
                <a:sym typeface="Calibri"/>
              </a:rPr>
              <a:t>he recovery rate for default customers is low, set at 50% or less.</a:t>
            </a:r>
            <a:endParaRPr sz="1200">
              <a:latin typeface="Calibri"/>
              <a:ea typeface="Calibri"/>
              <a:cs typeface="Calibri"/>
              <a:sym typeface="Calibri"/>
            </a:endParaRPr>
          </a:p>
          <a:p>
            <a:pPr indent="0" lvl="0" marL="1343025" rtl="0" algn="l">
              <a:lnSpc>
                <a:spcPct val="100000"/>
              </a:lnSpc>
              <a:spcBef>
                <a:spcPts val="0"/>
              </a:spcBef>
              <a:spcAft>
                <a:spcPts val="0"/>
              </a:spcAft>
              <a:buNone/>
            </a:pPr>
            <a:r>
              <a:t/>
            </a:r>
            <a:endParaRPr b="1" sz="1200">
              <a:solidFill>
                <a:srgbClr val="001F5F"/>
              </a:solidFill>
              <a:latin typeface="Calibri"/>
              <a:ea typeface="Calibri"/>
              <a:cs typeface="Calibri"/>
              <a:sym typeface="Calibri"/>
            </a:endParaRPr>
          </a:p>
          <a:p>
            <a:pPr indent="0" lvl="0" marL="1343025" rtl="0" algn="l">
              <a:lnSpc>
                <a:spcPct val="100000"/>
              </a:lnSpc>
              <a:spcBef>
                <a:spcPts val="0"/>
              </a:spcBef>
              <a:spcAft>
                <a:spcPts val="0"/>
              </a:spcAft>
              <a:buNone/>
            </a:pPr>
            <a:r>
              <a:t/>
            </a:r>
            <a:endParaRPr b="1" sz="1200">
              <a:solidFill>
                <a:srgbClr val="001F5F"/>
              </a:solidFill>
              <a:latin typeface="Calibri"/>
              <a:ea typeface="Calibri"/>
              <a:cs typeface="Calibri"/>
              <a:sym typeface="Calibri"/>
            </a:endParaRPr>
          </a:p>
          <a:p>
            <a:pPr indent="0" lvl="0" marL="1343025" rtl="0" algn="l">
              <a:lnSpc>
                <a:spcPct val="100000"/>
              </a:lnSpc>
              <a:spcBef>
                <a:spcPts val="0"/>
              </a:spcBef>
              <a:spcAft>
                <a:spcPts val="0"/>
              </a:spcAft>
              <a:buNone/>
            </a:pPr>
            <a:r>
              <a:rPr b="1" lang="en-US" sz="1200">
                <a:solidFill>
                  <a:srgbClr val="001F5F"/>
                </a:solidFill>
                <a:latin typeface="Calibri"/>
                <a:ea typeface="Calibri"/>
                <a:cs typeface="Calibri"/>
                <a:sym typeface="Calibri"/>
              </a:rPr>
              <a:t>Explanation of the predictive model</a:t>
            </a:r>
            <a:endParaRPr sz="1300">
              <a:latin typeface="Calibri"/>
              <a:ea typeface="Calibri"/>
              <a:cs typeface="Calibri"/>
              <a:sym typeface="Calibri"/>
            </a:endParaRPr>
          </a:p>
          <a:p>
            <a:pPr indent="-285750" lvl="0" marL="298450" marR="93345" rtl="0" algn="l">
              <a:lnSpc>
                <a:spcPct val="119166"/>
              </a:lnSpc>
              <a:spcBef>
                <a:spcPts val="0"/>
              </a:spcBef>
              <a:spcAft>
                <a:spcPts val="0"/>
              </a:spcAft>
              <a:buClr>
                <a:srgbClr val="252525"/>
              </a:buClr>
              <a:buSzPts val="1200"/>
              <a:buFont typeface="Noto Sans Symbols"/>
              <a:buChar char="✔"/>
            </a:pPr>
            <a:r>
              <a:rPr lang="en-US" sz="1200">
                <a:solidFill>
                  <a:srgbClr val="252525"/>
                </a:solidFill>
                <a:latin typeface="Calibri"/>
                <a:ea typeface="Calibri"/>
                <a:cs typeface="Calibri"/>
                <a:sym typeface="Calibri"/>
              </a:rPr>
              <a:t>We predict whether customers will default based on accumulated data.</a:t>
            </a:r>
            <a:endParaRPr sz="1200">
              <a:latin typeface="Calibri"/>
              <a:ea typeface="Calibri"/>
              <a:cs typeface="Calibri"/>
              <a:sym typeface="Calibri"/>
            </a:endParaRPr>
          </a:p>
          <a:p>
            <a:pPr indent="-284480" lvl="0" marL="297180" rtl="0" algn="l">
              <a:lnSpc>
                <a:spcPct val="111250"/>
              </a:lnSpc>
              <a:spcBef>
                <a:spcPts val="0"/>
              </a:spcBef>
              <a:spcAft>
                <a:spcPts val="0"/>
              </a:spcAft>
              <a:buClr>
                <a:srgbClr val="252525"/>
              </a:buClr>
              <a:buSzPts val="1200"/>
              <a:buFont typeface="Noto Sans Symbols"/>
              <a:buChar char="✔"/>
            </a:pPr>
            <a:r>
              <a:rPr lang="en-US" sz="1200">
                <a:solidFill>
                  <a:srgbClr val="252525"/>
                </a:solidFill>
                <a:latin typeface="Calibri"/>
                <a:ea typeface="Calibri"/>
                <a:cs typeface="Calibri"/>
                <a:sym typeface="Calibri"/>
              </a:rPr>
              <a:t>We use machine learning methods (Decision Trees / LightGBM).</a:t>
            </a:r>
            <a:endParaRPr sz="1200">
              <a:latin typeface="Calibri"/>
              <a:ea typeface="Calibri"/>
              <a:cs typeface="Calibri"/>
              <a:sym typeface="Calibri"/>
            </a:endParaRPr>
          </a:p>
          <a:p>
            <a:pPr indent="-285115" lvl="1" marL="755015" rtl="0" algn="l">
              <a:lnSpc>
                <a:spcPct val="116250"/>
              </a:lnSpc>
              <a:spcBef>
                <a:spcPts val="0"/>
              </a:spcBef>
              <a:spcAft>
                <a:spcPts val="0"/>
              </a:spcAft>
              <a:buClr>
                <a:srgbClr val="252525"/>
              </a:buClr>
              <a:buSzPts val="1200"/>
              <a:buFont typeface="Noto Sans Symbols"/>
              <a:buChar char="✔"/>
            </a:pPr>
            <a:r>
              <a:rPr lang="en-US" sz="1200">
                <a:solidFill>
                  <a:srgbClr val="252525"/>
                </a:solidFill>
                <a:latin typeface="Calibri"/>
                <a:ea typeface="Calibri"/>
                <a:cs typeface="Calibri"/>
                <a:sym typeface="Calibri"/>
              </a:rPr>
              <a:t>Decision trees split data step-by-step, making the analysis results easy to understand,</a:t>
            </a:r>
            <a:r>
              <a:rPr lang="en-US" sz="1200">
                <a:latin typeface="Calibri"/>
                <a:ea typeface="Calibri"/>
                <a:cs typeface="Calibri"/>
                <a:sym typeface="Calibri"/>
              </a:rPr>
              <a:t> </a:t>
            </a:r>
            <a:r>
              <a:rPr lang="en-US" sz="1200">
                <a:solidFill>
                  <a:srgbClr val="252525"/>
                </a:solidFill>
                <a:latin typeface="Calibri"/>
                <a:ea typeface="Calibri"/>
                <a:cs typeface="Calibri"/>
                <a:sym typeface="Calibri"/>
              </a:rPr>
              <a:t>and they are characterized by their ability to achieve high-accuracy predictions regardless of the data format.</a:t>
            </a:r>
            <a:endParaRPr sz="1200">
              <a:latin typeface="Calibri"/>
              <a:ea typeface="Calibri"/>
              <a:cs typeface="Calibri"/>
              <a:sym typeface="Calibri"/>
            </a:endParaRPr>
          </a:p>
          <a:p>
            <a:pPr indent="-285115" lvl="1" marL="755015" rtl="0" algn="l">
              <a:lnSpc>
                <a:spcPct val="119583"/>
              </a:lnSpc>
              <a:spcBef>
                <a:spcPts val="0"/>
              </a:spcBef>
              <a:spcAft>
                <a:spcPts val="0"/>
              </a:spcAft>
              <a:buClr>
                <a:srgbClr val="FF0000"/>
              </a:buClr>
              <a:buSzPts val="1200"/>
              <a:buFont typeface="Noto Sans Symbols"/>
              <a:buChar char="✔"/>
            </a:pPr>
            <a:r>
              <a:rPr lang="en-US" sz="1200">
                <a:solidFill>
                  <a:srgbClr val="FF0000"/>
                </a:solidFill>
                <a:latin typeface="Calibri"/>
                <a:ea typeface="Calibri"/>
                <a:cs typeface="Calibri"/>
                <a:sym typeface="Calibri"/>
              </a:rPr>
              <a:t>T</a:t>
            </a:r>
            <a:r>
              <a:rPr lang="en-US" sz="1200">
                <a:solidFill>
                  <a:srgbClr val="FF0000"/>
                </a:solidFill>
                <a:latin typeface="Calibri"/>
                <a:ea typeface="Calibri"/>
                <a:cs typeface="Calibri"/>
                <a:sym typeface="Calibri"/>
              </a:rPr>
              <a:t>he default threshold is automatically determined to maximize revenue under normal situations, so what you only need is data!</a:t>
            </a:r>
            <a:endParaRPr sz="1200">
              <a:latin typeface="Calibri"/>
              <a:ea typeface="Calibri"/>
              <a:cs typeface="Calibri"/>
              <a:sym typeface="Calibri"/>
            </a:endParaRPr>
          </a:p>
          <a:p>
            <a:pPr indent="0" lvl="0" marL="654050" rtl="0" algn="l">
              <a:lnSpc>
                <a:spcPct val="100000"/>
              </a:lnSpc>
              <a:spcBef>
                <a:spcPts val="0"/>
              </a:spcBef>
              <a:spcAft>
                <a:spcPts val="0"/>
              </a:spcAft>
              <a:buNone/>
            </a:pPr>
            <a:r>
              <a:t/>
            </a:r>
            <a:endParaRPr sz="900">
              <a:latin typeface="Calibri"/>
              <a:ea typeface="Calibri"/>
              <a:cs typeface="Calibri"/>
              <a:sym typeface="Calibri"/>
            </a:endParaRPr>
          </a:p>
          <a:p>
            <a:pPr indent="0" lvl="0" marL="654050" rtl="0" algn="l">
              <a:lnSpc>
                <a:spcPct val="100000"/>
              </a:lnSpc>
              <a:spcBef>
                <a:spcPts val="0"/>
              </a:spcBef>
              <a:spcAft>
                <a:spcPts val="0"/>
              </a:spcAft>
              <a:buNone/>
            </a:pPr>
            <a:r>
              <a:rPr lang="en-US" sz="900">
                <a:latin typeface="Calibri"/>
                <a:ea typeface="Calibri"/>
                <a:cs typeface="Calibri"/>
                <a:sym typeface="Calibri"/>
              </a:rPr>
              <a:t>Illustration</a:t>
            </a:r>
            <a:r>
              <a:rPr lang="en-US" sz="900">
                <a:latin typeface="Calibri"/>
                <a:ea typeface="Calibri"/>
                <a:cs typeface="Calibri"/>
                <a:sym typeface="Calibri"/>
              </a:rPr>
              <a:t> of  a </a:t>
            </a:r>
            <a:r>
              <a:rPr lang="en-US" sz="900">
                <a:latin typeface="Calibri"/>
                <a:ea typeface="Calibri"/>
                <a:cs typeface="Calibri"/>
                <a:sym typeface="Calibri"/>
              </a:rPr>
              <a:t>Decision Tree</a:t>
            </a:r>
            <a:endParaRPr sz="900">
              <a:latin typeface="Calibri"/>
              <a:ea typeface="Calibri"/>
              <a:cs typeface="Calibri"/>
              <a:sym typeface="Calibri"/>
            </a:endParaRPr>
          </a:p>
        </p:txBody>
      </p:sp>
      <p:sp>
        <p:nvSpPr>
          <p:cNvPr id="268" name="Google Shape;268;g39821493b04_0_14"/>
          <p:cNvSpPr/>
          <p:nvPr/>
        </p:nvSpPr>
        <p:spPr>
          <a:xfrm>
            <a:off x="6036750" y="1214450"/>
            <a:ext cx="6028690" cy="5576507"/>
          </a:xfrm>
          <a:custGeom>
            <a:rect b="b" l="l" r="r" t="t"/>
            <a:pathLst>
              <a:path extrusionOk="0" h="5562600" w="6028690">
                <a:moveTo>
                  <a:pt x="0" y="463423"/>
                </a:moveTo>
                <a:lnTo>
                  <a:pt x="2286" y="416051"/>
                </a:lnTo>
                <a:lnTo>
                  <a:pt x="9398" y="369950"/>
                </a:lnTo>
                <a:lnTo>
                  <a:pt x="20700" y="325627"/>
                </a:lnTo>
                <a:lnTo>
                  <a:pt x="36322" y="282956"/>
                </a:lnTo>
                <a:lnTo>
                  <a:pt x="55879" y="242443"/>
                </a:lnTo>
                <a:lnTo>
                  <a:pt x="78994" y="204215"/>
                </a:lnTo>
                <a:lnTo>
                  <a:pt x="105663" y="168656"/>
                </a:lnTo>
                <a:lnTo>
                  <a:pt x="135509" y="135636"/>
                </a:lnTo>
                <a:lnTo>
                  <a:pt x="168401" y="105790"/>
                </a:lnTo>
                <a:lnTo>
                  <a:pt x="204088" y="79121"/>
                </a:lnTo>
                <a:lnTo>
                  <a:pt x="242315" y="55879"/>
                </a:lnTo>
                <a:lnTo>
                  <a:pt x="282701" y="36322"/>
                </a:lnTo>
                <a:lnTo>
                  <a:pt x="325247" y="20827"/>
                </a:lnTo>
                <a:lnTo>
                  <a:pt x="369697" y="9398"/>
                </a:lnTo>
                <a:lnTo>
                  <a:pt x="415671" y="2286"/>
                </a:lnTo>
                <a:lnTo>
                  <a:pt x="463041" y="0"/>
                </a:lnTo>
                <a:lnTo>
                  <a:pt x="5565648" y="0"/>
                </a:lnTo>
                <a:lnTo>
                  <a:pt x="5613019" y="2286"/>
                </a:lnTo>
                <a:lnTo>
                  <a:pt x="5658993" y="9398"/>
                </a:lnTo>
                <a:lnTo>
                  <a:pt x="5703316" y="20827"/>
                </a:lnTo>
                <a:lnTo>
                  <a:pt x="5745860" y="36322"/>
                </a:lnTo>
                <a:lnTo>
                  <a:pt x="5786374" y="55879"/>
                </a:lnTo>
                <a:lnTo>
                  <a:pt x="5824601" y="79121"/>
                </a:lnTo>
                <a:lnTo>
                  <a:pt x="5860160" y="105790"/>
                </a:lnTo>
                <a:lnTo>
                  <a:pt x="5893054" y="135636"/>
                </a:lnTo>
                <a:lnTo>
                  <a:pt x="5923026" y="168656"/>
                </a:lnTo>
                <a:lnTo>
                  <a:pt x="5949696" y="204215"/>
                </a:lnTo>
                <a:lnTo>
                  <a:pt x="5972809" y="242443"/>
                </a:lnTo>
                <a:lnTo>
                  <a:pt x="5992368" y="282956"/>
                </a:lnTo>
                <a:lnTo>
                  <a:pt x="6007862" y="325627"/>
                </a:lnTo>
                <a:lnTo>
                  <a:pt x="6019292" y="369950"/>
                </a:lnTo>
                <a:lnTo>
                  <a:pt x="6026277" y="416051"/>
                </a:lnTo>
                <a:lnTo>
                  <a:pt x="6028690" y="463423"/>
                </a:lnTo>
                <a:lnTo>
                  <a:pt x="6028690" y="5098897"/>
                </a:lnTo>
                <a:lnTo>
                  <a:pt x="6026277" y="5146281"/>
                </a:lnTo>
                <a:lnTo>
                  <a:pt x="6019292" y="5192293"/>
                </a:lnTo>
                <a:lnTo>
                  <a:pt x="6007862" y="5236718"/>
                </a:lnTo>
                <a:lnTo>
                  <a:pt x="5992368" y="5279301"/>
                </a:lnTo>
                <a:lnTo>
                  <a:pt x="5972809" y="5319814"/>
                </a:lnTo>
                <a:lnTo>
                  <a:pt x="5949696" y="5358015"/>
                </a:lnTo>
                <a:lnTo>
                  <a:pt x="5923026" y="5393702"/>
                </a:lnTo>
                <a:lnTo>
                  <a:pt x="5893054" y="5426608"/>
                </a:lnTo>
                <a:lnTo>
                  <a:pt x="5860160" y="5456529"/>
                </a:lnTo>
                <a:lnTo>
                  <a:pt x="5824601" y="5483199"/>
                </a:lnTo>
                <a:lnTo>
                  <a:pt x="5786374" y="5506415"/>
                </a:lnTo>
                <a:lnTo>
                  <a:pt x="5745860" y="5525936"/>
                </a:lnTo>
                <a:lnTo>
                  <a:pt x="5703316" y="5541520"/>
                </a:lnTo>
                <a:lnTo>
                  <a:pt x="5658993" y="5552941"/>
                </a:lnTo>
                <a:lnTo>
                  <a:pt x="5613019" y="5559964"/>
                </a:lnTo>
                <a:lnTo>
                  <a:pt x="5565648" y="5562357"/>
                </a:lnTo>
                <a:lnTo>
                  <a:pt x="463041" y="5562357"/>
                </a:lnTo>
                <a:lnTo>
                  <a:pt x="415671" y="5559964"/>
                </a:lnTo>
                <a:lnTo>
                  <a:pt x="369697" y="5552941"/>
                </a:lnTo>
                <a:lnTo>
                  <a:pt x="325247" y="5541520"/>
                </a:lnTo>
                <a:lnTo>
                  <a:pt x="282701" y="5525936"/>
                </a:lnTo>
                <a:lnTo>
                  <a:pt x="242315" y="5506415"/>
                </a:lnTo>
                <a:lnTo>
                  <a:pt x="204088" y="5483199"/>
                </a:lnTo>
                <a:lnTo>
                  <a:pt x="168401" y="5456529"/>
                </a:lnTo>
                <a:lnTo>
                  <a:pt x="135509" y="5426608"/>
                </a:lnTo>
                <a:lnTo>
                  <a:pt x="105663" y="5393702"/>
                </a:lnTo>
                <a:lnTo>
                  <a:pt x="78994" y="5358015"/>
                </a:lnTo>
                <a:lnTo>
                  <a:pt x="55879" y="5319814"/>
                </a:lnTo>
                <a:lnTo>
                  <a:pt x="36322" y="5279301"/>
                </a:lnTo>
                <a:lnTo>
                  <a:pt x="20700" y="5236718"/>
                </a:lnTo>
                <a:lnTo>
                  <a:pt x="9398" y="5192293"/>
                </a:lnTo>
                <a:lnTo>
                  <a:pt x="2286" y="5146281"/>
                </a:lnTo>
                <a:lnTo>
                  <a:pt x="0" y="5098897"/>
                </a:lnTo>
                <a:lnTo>
                  <a:pt x="0" y="463423"/>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9" name="Google Shape;269;g39821493b04_0_14"/>
          <p:cNvSpPr txBox="1"/>
          <p:nvPr/>
        </p:nvSpPr>
        <p:spPr>
          <a:xfrm>
            <a:off x="6157340" y="1346898"/>
            <a:ext cx="2062500" cy="3345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b="1" lang="en-US" sz="1100">
                <a:solidFill>
                  <a:srgbClr val="001F5F"/>
                </a:solidFill>
                <a:latin typeface="Calibri"/>
                <a:ea typeface="Calibri"/>
                <a:cs typeface="Calibri"/>
                <a:sym typeface="Calibri"/>
              </a:rPr>
              <a:t>Revenue Prediction (Simulation)</a:t>
            </a:r>
            <a:endParaRPr sz="1200">
              <a:latin typeface="Calibri"/>
              <a:ea typeface="Calibri"/>
              <a:cs typeface="Calibri"/>
              <a:sym typeface="Calibri"/>
            </a:endParaRPr>
          </a:p>
        </p:txBody>
      </p:sp>
      <p:sp>
        <p:nvSpPr>
          <p:cNvPr id="270" name="Google Shape;270;g39821493b04_0_14"/>
          <p:cNvSpPr txBox="1"/>
          <p:nvPr/>
        </p:nvSpPr>
        <p:spPr>
          <a:xfrm>
            <a:off x="6296025" y="5066982"/>
            <a:ext cx="5073600" cy="1115100"/>
          </a:xfrm>
          <a:prstGeom prst="rect">
            <a:avLst/>
          </a:prstGeom>
          <a:noFill/>
          <a:ln>
            <a:noFill/>
          </a:ln>
        </p:spPr>
        <p:txBody>
          <a:bodyPr anchorCtr="0" anchor="t" bIns="0" lIns="18275" spcFirstLastPara="1" rIns="18275" wrap="square" tIns="0">
            <a:noAutofit/>
          </a:bodyPr>
          <a:lstStyle/>
          <a:p>
            <a:pPr indent="0" lvl="0" marL="12700" rtl="0" algn="l">
              <a:lnSpc>
                <a:spcPct val="143500"/>
              </a:lnSpc>
              <a:spcBef>
                <a:spcPts val="0"/>
              </a:spcBef>
              <a:spcAft>
                <a:spcPts val="0"/>
              </a:spcAft>
              <a:buNone/>
            </a:pPr>
            <a:r>
              <a:rPr lang="en-US" sz="1000">
                <a:latin typeface="Calibri"/>
                <a:ea typeface="Calibri"/>
                <a:cs typeface="Calibri"/>
                <a:sym typeface="Calibri"/>
              </a:rPr>
              <a:t>As can be seen from the above graphs, the increase in revenue after the introduction of the PMS is </a:t>
            </a:r>
            <a:r>
              <a:rPr lang="en-US" sz="1000" u="sng">
                <a:latin typeface="Calibri"/>
                <a:ea typeface="Calibri"/>
                <a:cs typeface="Calibri"/>
                <a:sym typeface="Calibri"/>
              </a:rPr>
              <a:t>only about 0.03 to 0.1% of the overall net profit.</a:t>
            </a:r>
            <a:endParaRPr sz="1000">
              <a:latin typeface="Calibri"/>
              <a:ea typeface="Calibri"/>
              <a:cs typeface="Calibri"/>
              <a:sym typeface="Calibri"/>
            </a:endParaRPr>
          </a:p>
          <a:p>
            <a:pPr indent="0" lvl="0" marL="12700" rtl="0" algn="l">
              <a:lnSpc>
                <a:spcPct val="139500"/>
              </a:lnSpc>
              <a:spcBef>
                <a:spcPts val="0"/>
              </a:spcBef>
              <a:spcAft>
                <a:spcPts val="0"/>
              </a:spcAft>
              <a:buNone/>
            </a:pPr>
            <a:r>
              <a:rPr lang="en-US" sz="1000">
                <a:latin typeface="Calibri"/>
                <a:ea typeface="Calibri"/>
                <a:cs typeface="Calibri"/>
                <a:sym typeface="Calibri"/>
              </a:rPr>
              <a:t>Still, we propose our PMS because it not only boosts profitability but also has extremely high applicability.</a:t>
            </a:r>
            <a:endParaRPr sz="1000">
              <a:latin typeface="Calibri"/>
              <a:ea typeface="Calibri"/>
              <a:cs typeface="Calibri"/>
              <a:sym typeface="Calibri"/>
            </a:endParaRPr>
          </a:p>
          <a:p>
            <a:pPr indent="0" lvl="0" marL="12700" rtl="0" algn="l">
              <a:lnSpc>
                <a:spcPct val="100000"/>
              </a:lnSpc>
              <a:spcBef>
                <a:spcPts val="0"/>
              </a:spcBef>
              <a:spcAft>
                <a:spcPts val="0"/>
              </a:spcAft>
              <a:buNone/>
            </a:pPr>
            <a:r>
              <a:rPr lang="en-US" sz="1000">
                <a:latin typeface="Calibri"/>
                <a:ea typeface="Calibri"/>
                <a:cs typeface="Calibri"/>
                <a:sym typeface="Calibri"/>
              </a:rPr>
              <a:t>In the next slide, we will introduce its applications in various cases.</a:t>
            </a:r>
            <a:endParaRPr sz="1000">
              <a:latin typeface="Calibri"/>
              <a:ea typeface="Calibri"/>
              <a:cs typeface="Calibri"/>
              <a:sym typeface="Calibri"/>
            </a:endParaRPr>
          </a:p>
        </p:txBody>
      </p:sp>
      <p:sp>
        <p:nvSpPr>
          <p:cNvPr id="271" name="Google Shape;271;g39821493b04_0_14"/>
          <p:cNvSpPr txBox="1"/>
          <p:nvPr/>
        </p:nvSpPr>
        <p:spPr>
          <a:xfrm>
            <a:off x="8255381" y="1368171"/>
            <a:ext cx="3327300" cy="306000"/>
          </a:xfrm>
          <a:prstGeom prst="rect">
            <a:avLst/>
          </a:prstGeom>
          <a:noFill/>
          <a:ln>
            <a:noFill/>
          </a:ln>
        </p:spPr>
        <p:txBody>
          <a:bodyPr anchorCtr="0" anchor="t" bIns="0" lIns="18275" spcFirstLastPara="1" rIns="18275" wrap="square" tIns="0">
            <a:noAutofit/>
          </a:bodyPr>
          <a:lstStyle/>
          <a:p>
            <a:pPr indent="0" lvl="0" marL="12700" marR="5080" rtl="0" algn="l">
              <a:lnSpc>
                <a:spcPct val="104400"/>
              </a:lnSpc>
              <a:spcBef>
                <a:spcPts val="0"/>
              </a:spcBef>
              <a:spcAft>
                <a:spcPts val="0"/>
              </a:spcAft>
              <a:buNone/>
            </a:pPr>
            <a:r>
              <a:rPr lang="en-US" sz="700">
                <a:latin typeface="Calibri"/>
                <a:ea typeface="Calibri"/>
                <a:cs typeface="Calibri"/>
                <a:sym typeface="Calibri"/>
              </a:rPr>
              <a:t>※ </a:t>
            </a:r>
            <a:r>
              <a:rPr lang="en-US" sz="700">
                <a:latin typeface="Calibri"/>
                <a:ea typeface="Calibri"/>
                <a:cs typeface="Calibri"/>
                <a:sym typeface="Calibri"/>
              </a:rPr>
              <a:t>As mentioned in Assumptions, this prediction is preliminary. After  this business proposal is adopted, the prediction is to be applied not only to cash loans but also to all loan types and to all customers.</a:t>
            </a:r>
            <a:endParaRPr sz="700">
              <a:latin typeface="Calibri"/>
              <a:ea typeface="Calibri"/>
              <a:cs typeface="Calibri"/>
              <a:sym typeface="Calibri"/>
            </a:endParaRPr>
          </a:p>
        </p:txBody>
      </p:sp>
      <p:pic>
        <p:nvPicPr>
          <p:cNvPr id="272" name="Google Shape;272;g39821493b04_0_14"/>
          <p:cNvPicPr preferRelativeResize="0"/>
          <p:nvPr/>
        </p:nvPicPr>
        <p:blipFill rotWithShape="1">
          <a:blip r:embed="rId3">
            <a:alphaModFix/>
          </a:blip>
          <a:srcRect b="0" l="0" r="0" t="0"/>
          <a:stretch/>
        </p:blipFill>
        <p:spPr>
          <a:xfrm>
            <a:off x="6457950" y="1876425"/>
            <a:ext cx="4800599" cy="2962275"/>
          </a:xfrm>
          <a:prstGeom prst="rect">
            <a:avLst/>
          </a:prstGeom>
          <a:noFill/>
          <a:ln>
            <a:noFill/>
          </a:ln>
        </p:spPr>
      </p:pic>
      <p:sp>
        <p:nvSpPr>
          <p:cNvPr id="273" name="Google Shape;273;g39821493b04_0_14"/>
          <p:cNvSpPr/>
          <p:nvPr/>
        </p:nvSpPr>
        <p:spPr>
          <a:xfrm>
            <a:off x="8135200" y="1934950"/>
            <a:ext cx="15216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t>Comparison of Revenue Before and After System Implementation</a:t>
            </a:r>
            <a:endParaRPr sz="600"/>
          </a:p>
        </p:txBody>
      </p:sp>
      <p:sp>
        <p:nvSpPr>
          <p:cNvPr id="274" name="Google Shape;274;g39821493b04_0_14"/>
          <p:cNvSpPr/>
          <p:nvPr/>
        </p:nvSpPr>
        <p:spPr>
          <a:xfrm>
            <a:off x="7212650" y="2366275"/>
            <a:ext cx="4194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t>Before</a:t>
            </a:r>
            <a:endParaRPr sz="600"/>
          </a:p>
        </p:txBody>
      </p:sp>
      <p:sp>
        <p:nvSpPr>
          <p:cNvPr id="275" name="Google Shape;275;g39821493b04_0_14"/>
          <p:cNvSpPr/>
          <p:nvPr/>
        </p:nvSpPr>
        <p:spPr>
          <a:xfrm>
            <a:off x="8173775" y="2369425"/>
            <a:ext cx="4194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t>After</a:t>
            </a:r>
            <a:endParaRPr sz="600"/>
          </a:p>
        </p:txBody>
      </p:sp>
      <p:sp>
        <p:nvSpPr>
          <p:cNvPr id="276" name="Google Shape;276;g39821493b04_0_14"/>
          <p:cNvSpPr/>
          <p:nvPr/>
        </p:nvSpPr>
        <p:spPr>
          <a:xfrm>
            <a:off x="9134900" y="2369425"/>
            <a:ext cx="4194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t>Before</a:t>
            </a:r>
            <a:endParaRPr sz="600"/>
          </a:p>
        </p:txBody>
      </p:sp>
      <p:sp>
        <p:nvSpPr>
          <p:cNvPr id="277" name="Google Shape;277;g39821493b04_0_14"/>
          <p:cNvSpPr/>
          <p:nvPr/>
        </p:nvSpPr>
        <p:spPr>
          <a:xfrm>
            <a:off x="10120000" y="2369425"/>
            <a:ext cx="4194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t>After</a:t>
            </a:r>
            <a:endParaRPr sz="600"/>
          </a:p>
        </p:txBody>
      </p:sp>
      <p:sp>
        <p:nvSpPr>
          <p:cNvPr id="278" name="Google Shape;278;g39821493b04_0_14"/>
          <p:cNvSpPr/>
          <p:nvPr/>
        </p:nvSpPr>
        <p:spPr>
          <a:xfrm>
            <a:off x="10987550" y="2141650"/>
            <a:ext cx="4194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500"/>
              <a:t>profit</a:t>
            </a:r>
            <a:endParaRPr sz="500"/>
          </a:p>
        </p:txBody>
      </p:sp>
      <p:sp>
        <p:nvSpPr>
          <p:cNvPr id="279" name="Google Shape;279;g39821493b04_0_14"/>
          <p:cNvSpPr/>
          <p:nvPr/>
        </p:nvSpPr>
        <p:spPr>
          <a:xfrm>
            <a:off x="10987550" y="2270100"/>
            <a:ext cx="4194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500"/>
              <a:t>Loss</a:t>
            </a:r>
            <a:endParaRPr sz="500"/>
          </a:p>
        </p:txBody>
      </p:sp>
      <p:sp>
        <p:nvSpPr>
          <p:cNvPr id="280" name="Google Shape;280;g39821493b04_0_14"/>
          <p:cNvSpPr/>
          <p:nvPr/>
        </p:nvSpPr>
        <p:spPr>
          <a:xfrm>
            <a:off x="10987550" y="2391925"/>
            <a:ext cx="4905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500"/>
              <a:t>Net profit</a:t>
            </a:r>
            <a:endParaRPr sz="500"/>
          </a:p>
        </p:txBody>
      </p:sp>
      <p:sp>
        <p:nvSpPr>
          <p:cNvPr id="281" name="Google Shape;281;g39821493b04_0_14"/>
          <p:cNvSpPr/>
          <p:nvPr/>
        </p:nvSpPr>
        <p:spPr>
          <a:xfrm>
            <a:off x="6583625" y="3157025"/>
            <a:ext cx="96000" cy="647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g39821493b04_0_14"/>
          <p:cNvSpPr txBox="1"/>
          <p:nvPr/>
        </p:nvSpPr>
        <p:spPr>
          <a:xfrm>
            <a:off x="5954633" y="3294819"/>
            <a:ext cx="844800" cy="38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50">
                <a:solidFill>
                  <a:schemeClr val="dk1"/>
                </a:solidFill>
              </a:rPr>
              <a:t>Amount </a:t>
            </a:r>
            <a:br>
              <a:rPr lang="en-US" sz="750">
                <a:solidFill>
                  <a:schemeClr val="dk1"/>
                </a:solidFill>
              </a:rPr>
            </a:br>
            <a:r>
              <a:rPr lang="en-US" sz="750">
                <a:solidFill>
                  <a:schemeClr val="dk1"/>
                </a:solidFill>
              </a:rPr>
              <a:t>(1 billion yen)</a:t>
            </a:r>
            <a:endParaRPr sz="750">
              <a:solidFill>
                <a:schemeClr val="dk1"/>
              </a:solidFill>
            </a:endParaRPr>
          </a:p>
        </p:txBody>
      </p:sp>
      <p:sp>
        <p:nvSpPr>
          <p:cNvPr id="283" name="Google Shape;283;g39821493b04_0_14"/>
          <p:cNvSpPr/>
          <p:nvPr/>
        </p:nvSpPr>
        <p:spPr>
          <a:xfrm>
            <a:off x="8437000" y="4630700"/>
            <a:ext cx="12282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t>Recovery rate</a:t>
            </a:r>
            <a:endParaRPr sz="800"/>
          </a:p>
        </p:txBody>
      </p:sp>
      <p:sp>
        <p:nvSpPr>
          <p:cNvPr id="284" name="Google Shape;284;g39821493b04_0_14"/>
          <p:cNvSpPr/>
          <p:nvPr/>
        </p:nvSpPr>
        <p:spPr>
          <a:xfrm>
            <a:off x="7470225" y="3306800"/>
            <a:ext cx="844800" cy="173700"/>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1"/>
                </a:solidFill>
              </a:rPr>
              <a:t>An increase of 3.4 million yen (0.03%)</a:t>
            </a:r>
            <a:endParaRPr sz="600">
              <a:solidFill>
                <a:schemeClr val="lt1"/>
              </a:solidFill>
            </a:endParaRPr>
          </a:p>
        </p:txBody>
      </p:sp>
      <p:sp>
        <p:nvSpPr>
          <p:cNvPr id="285" name="Google Shape;285;g39821493b04_0_14"/>
          <p:cNvSpPr/>
          <p:nvPr/>
        </p:nvSpPr>
        <p:spPr>
          <a:xfrm>
            <a:off x="9429150" y="3300800"/>
            <a:ext cx="892500" cy="173700"/>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1"/>
                </a:solidFill>
              </a:rPr>
              <a:t>An increase of 100 million yen (0.1%)</a:t>
            </a:r>
            <a:endParaRPr sz="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8"/>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1" name="Google Shape;291;p8"/>
          <p:cNvSpPr txBox="1"/>
          <p:nvPr/>
        </p:nvSpPr>
        <p:spPr>
          <a:xfrm>
            <a:off x="627699" y="1218625"/>
            <a:ext cx="7715700" cy="246000"/>
          </a:xfrm>
          <a:prstGeom prst="rect">
            <a:avLst/>
          </a:prstGeom>
          <a:noFill/>
          <a:ln>
            <a:noFill/>
          </a:ln>
        </p:spPr>
        <p:txBody>
          <a:bodyPr anchorCtr="0" anchor="t" bIns="0" lIns="18275" spcFirstLastPara="1" rIns="18275" wrap="square" tIns="0">
            <a:noAutofit/>
          </a:bodyPr>
          <a:lstStyle/>
          <a:p>
            <a:pPr indent="0" lvl="0" marL="0" rtl="0" algn="l">
              <a:lnSpc>
                <a:spcPct val="115000"/>
              </a:lnSpc>
              <a:spcBef>
                <a:spcPts val="1200"/>
              </a:spcBef>
              <a:spcAft>
                <a:spcPts val="1200"/>
              </a:spcAft>
              <a:buSzPts val="1100"/>
              <a:buNone/>
            </a:pPr>
            <a:r>
              <a:rPr lang="en-US" sz="1800">
                <a:solidFill>
                  <a:schemeClr val="dk1"/>
                </a:solidFill>
                <a:latin typeface="Calibri"/>
                <a:ea typeface="Calibri"/>
                <a:cs typeface="Calibri"/>
                <a:sym typeface="Calibri"/>
              </a:rPr>
              <a:t>In introducing new technologies, </a:t>
            </a:r>
            <a:r>
              <a:rPr b="1" lang="en-US" sz="1800">
                <a:solidFill>
                  <a:srgbClr val="990000"/>
                </a:solidFill>
                <a:latin typeface="Calibri"/>
                <a:ea typeface="Calibri"/>
                <a:cs typeface="Calibri"/>
                <a:sym typeface="Calibri"/>
              </a:rPr>
              <a:t>applicability</a:t>
            </a:r>
            <a:r>
              <a:rPr lang="en-US" sz="1800">
                <a:solidFill>
                  <a:schemeClr val="dk1"/>
                </a:solidFill>
                <a:latin typeface="Calibri"/>
                <a:ea typeface="Calibri"/>
                <a:cs typeface="Calibri"/>
                <a:sym typeface="Calibri"/>
              </a:rPr>
              <a:t> is an important factor.</a:t>
            </a:r>
            <a:endParaRPr sz="1800">
              <a:solidFill>
                <a:srgbClr val="001F5F"/>
              </a:solidFill>
              <a:latin typeface="Calibri"/>
              <a:ea typeface="Calibri"/>
              <a:cs typeface="Calibri"/>
              <a:sym typeface="Calibri"/>
            </a:endParaRPr>
          </a:p>
        </p:txBody>
      </p:sp>
      <p:sp>
        <p:nvSpPr>
          <p:cNvPr id="292" name="Google Shape;292;p8"/>
          <p:cNvSpPr txBox="1"/>
          <p:nvPr>
            <p:ph type="title"/>
          </p:nvPr>
        </p:nvSpPr>
        <p:spPr>
          <a:xfrm>
            <a:off x="587044" y="346975"/>
            <a:ext cx="7527300" cy="6324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2800">
                <a:latin typeface="Calibri"/>
                <a:ea typeface="Calibri"/>
                <a:cs typeface="Calibri"/>
                <a:sym typeface="Calibri"/>
              </a:rPr>
              <a:t>Application cases of PMS</a:t>
            </a:r>
            <a:endParaRPr sz="2800">
              <a:latin typeface="Calibri"/>
              <a:ea typeface="Calibri"/>
              <a:cs typeface="Calibri"/>
              <a:sym typeface="Calibri"/>
            </a:endParaRPr>
          </a:p>
        </p:txBody>
      </p:sp>
      <p:sp>
        <p:nvSpPr>
          <p:cNvPr id="293" name="Google Shape;293;p8"/>
          <p:cNvSpPr txBox="1"/>
          <p:nvPr/>
        </p:nvSpPr>
        <p:spPr>
          <a:xfrm>
            <a:off x="4453900" y="4256725"/>
            <a:ext cx="3547200" cy="1038900"/>
          </a:xfrm>
          <a:prstGeom prst="rect">
            <a:avLst/>
          </a:prstGeom>
          <a:noFill/>
          <a:ln>
            <a:noFill/>
          </a:ln>
        </p:spPr>
        <p:txBody>
          <a:bodyPr anchorCtr="0" anchor="t" bIns="0" lIns="18275" spcFirstLastPara="1" rIns="18275" wrap="square" tIns="0">
            <a:noAutofit/>
          </a:bodyPr>
          <a:lstStyle/>
          <a:p>
            <a:pPr indent="0" lvl="0" marL="0" rtl="0" algn="l">
              <a:lnSpc>
                <a:spcPct val="100000"/>
              </a:lnSpc>
              <a:spcBef>
                <a:spcPts val="0"/>
              </a:spcBef>
              <a:spcAft>
                <a:spcPts val="0"/>
              </a:spcAft>
              <a:buNone/>
            </a:pPr>
            <a:r>
              <a:rPr lang="en-US" sz="1200" u="sng">
                <a:latin typeface="Calibri"/>
                <a:ea typeface="Calibri"/>
                <a:cs typeface="Calibri"/>
                <a:sym typeface="Calibri"/>
              </a:rPr>
              <a:t>I</a:t>
            </a:r>
            <a:r>
              <a:rPr lang="en-US" sz="1200" u="sng">
                <a:latin typeface="Calibri"/>
                <a:ea typeface="Calibri"/>
                <a:cs typeface="Calibri"/>
                <a:sym typeface="Calibri"/>
              </a:rPr>
              <a:t>ncrease customer satisfaction</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solidFill>
                  <a:srgbClr val="FF0000"/>
                </a:solidFill>
                <a:latin typeface="Calibri"/>
                <a:ea typeface="Calibri"/>
                <a:cs typeface="Calibri"/>
                <a:sym typeface="Calibri"/>
              </a:rPr>
              <a:t>The greatest advantage of the profit maximization </a:t>
            </a:r>
            <a:endParaRPr sz="1200">
              <a:latin typeface="Calibri"/>
              <a:ea typeface="Calibri"/>
              <a:cs typeface="Calibri"/>
              <a:sym typeface="Calibri"/>
            </a:endParaRPr>
          </a:p>
          <a:p>
            <a:pPr indent="-292100" lvl="0" marL="298450" marR="5080" rtl="0" algn="l">
              <a:lnSpc>
                <a:spcPct val="122727"/>
              </a:lnSpc>
              <a:spcBef>
                <a:spcPts val="0"/>
              </a:spcBef>
              <a:spcAft>
                <a:spcPts val="0"/>
              </a:spcAft>
              <a:buSzPts val="1200"/>
              <a:buFont typeface="Noto Sans Symbols"/>
              <a:buChar char="✔"/>
            </a:pPr>
            <a:r>
              <a:rPr lang="en-US" sz="1200">
                <a:latin typeface="Calibri"/>
                <a:ea typeface="Calibri"/>
                <a:cs typeface="Calibri"/>
                <a:sym typeface="Calibri"/>
              </a:rPr>
              <a:t>The greatest value of PMS is that </a:t>
            </a:r>
            <a:r>
              <a:rPr lang="en-US" sz="1200" u="sng">
                <a:latin typeface="Calibri"/>
                <a:ea typeface="Calibri"/>
                <a:cs typeface="Calibri"/>
                <a:sym typeface="Calibri"/>
              </a:rPr>
              <a:t>it enables to propose the maximum refundable amount to each individual customer</a:t>
            </a:r>
            <a:r>
              <a:rPr lang="en-US" sz="1200">
                <a:latin typeface="Calibri"/>
                <a:ea typeface="Calibri"/>
                <a:cs typeface="Calibri"/>
                <a:sym typeface="Calibri"/>
              </a:rPr>
              <a:t>!</a:t>
            </a:r>
            <a:endParaRPr sz="1200">
              <a:latin typeface="Calibri"/>
              <a:ea typeface="Calibri"/>
              <a:cs typeface="Calibri"/>
              <a:sym typeface="Calibri"/>
            </a:endParaRPr>
          </a:p>
          <a:p>
            <a:pPr indent="-292100" lvl="0" marL="298450" marR="5080" rtl="0" algn="l">
              <a:lnSpc>
                <a:spcPct val="122727"/>
              </a:lnSpc>
              <a:spcBef>
                <a:spcPts val="0"/>
              </a:spcBef>
              <a:spcAft>
                <a:spcPts val="0"/>
              </a:spcAft>
              <a:buSzPts val="1200"/>
              <a:buFont typeface="Noto Sans Symbols"/>
              <a:buChar char="✔"/>
            </a:pPr>
            <a:r>
              <a:rPr lang="en-US" sz="1200">
                <a:solidFill>
                  <a:schemeClr val="dk1"/>
                </a:solidFill>
                <a:latin typeface="Calibri"/>
                <a:ea typeface="Calibri"/>
                <a:cs typeface="Calibri"/>
                <a:sym typeface="Calibri"/>
              </a:rPr>
              <a:t>Prioritizing customer satisfaction may temporarily reduce apparent profits. However, as customers can borrow money worry-free, the repeat rate is expected to increase. This can leads to higher corporate reputation and, ultimately, long-term growth and stability in net profit.</a:t>
            </a:r>
            <a:endParaRPr sz="1200">
              <a:latin typeface="Calibri"/>
              <a:ea typeface="Calibri"/>
              <a:cs typeface="Calibri"/>
              <a:sym typeface="Calibri"/>
            </a:endParaRPr>
          </a:p>
        </p:txBody>
      </p:sp>
      <p:pic>
        <p:nvPicPr>
          <p:cNvPr id="294" name="Google Shape;294;p8"/>
          <p:cNvPicPr preferRelativeResize="0"/>
          <p:nvPr/>
        </p:nvPicPr>
        <p:blipFill rotWithShape="1">
          <a:blip r:embed="rId3">
            <a:alphaModFix/>
          </a:blip>
          <a:srcRect b="0" l="0" r="0" t="0"/>
          <a:stretch/>
        </p:blipFill>
        <p:spPr>
          <a:xfrm>
            <a:off x="4191000" y="1709594"/>
            <a:ext cx="3810000" cy="2452830"/>
          </a:xfrm>
          <a:prstGeom prst="rect">
            <a:avLst/>
          </a:prstGeom>
          <a:noFill/>
          <a:ln>
            <a:noFill/>
          </a:ln>
        </p:spPr>
      </p:pic>
      <p:grpSp>
        <p:nvGrpSpPr>
          <p:cNvPr id="295" name="Google Shape;295;p8"/>
          <p:cNvGrpSpPr/>
          <p:nvPr/>
        </p:nvGrpSpPr>
        <p:grpSpPr>
          <a:xfrm>
            <a:off x="587041" y="1756401"/>
            <a:ext cx="2837152" cy="2172689"/>
            <a:chOff x="862012" y="1966976"/>
            <a:chExt cx="2562225" cy="1962150"/>
          </a:xfrm>
        </p:grpSpPr>
        <p:pic>
          <p:nvPicPr>
            <p:cNvPr id="296" name="Google Shape;296;p8"/>
            <p:cNvPicPr preferRelativeResize="0"/>
            <p:nvPr/>
          </p:nvPicPr>
          <p:blipFill rotWithShape="1">
            <a:blip r:embed="rId4">
              <a:alphaModFix/>
            </a:blip>
            <a:srcRect b="0" l="0" r="0" t="0"/>
            <a:stretch/>
          </p:blipFill>
          <p:spPr>
            <a:xfrm>
              <a:off x="895350" y="2009775"/>
              <a:ext cx="2486025" cy="1914525"/>
            </a:xfrm>
            <a:prstGeom prst="rect">
              <a:avLst/>
            </a:prstGeom>
            <a:noFill/>
            <a:ln>
              <a:noFill/>
            </a:ln>
          </p:spPr>
        </p:pic>
        <p:sp>
          <p:nvSpPr>
            <p:cNvPr id="297" name="Google Shape;297;p8"/>
            <p:cNvSpPr/>
            <p:nvPr/>
          </p:nvSpPr>
          <p:spPr>
            <a:xfrm>
              <a:off x="862012" y="1966976"/>
              <a:ext cx="2562225" cy="1962150"/>
            </a:xfrm>
            <a:custGeom>
              <a:rect b="b" l="l" r="r" t="t"/>
              <a:pathLst>
                <a:path extrusionOk="0" h="1962150" w="2562225">
                  <a:moveTo>
                    <a:pt x="0" y="327025"/>
                  </a:moveTo>
                  <a:lnTo>
                    <a:pt x="3543" y="278638"/>
                  </a:lnTo>
                  <a:lnTo>
                    <a:pt x="13855" y="232537"/>
                  </a:lnTo>
                  <a:lnTo>
                    <a:pt x="30429" y="189102"/>
                  </a:lnTo>
                  <a:lnTo>
                    <a:pt x="52730" y="148844"/>
                  </a:lnTo>
                  <a:lnTo>
                    <a:pt x="80289" y="112395"/>
                  </a:lnTo>
                  <a:lnTo>
                    <a:pt x="112585" y="80137"/>
                  </a:lnTo>
                  <a:lnTo>
                    <a:pt x="149097" y="52577"/>
                  </a:lnTo>
                  <a:lnTo>
                    <a:pt x="189344" y="30352"/>
                  </a:lnTo>
                  <a:lnTo>
                    <a:pt x="232790" y="13843"/>
                  </a:lnTo>
                  <a:lnTo>
                    <a:pt x="278968" y="3428"/>
                  </a:lnTo>
                  <a:lnTo>
                    <a:pt x="327329" y="0"/>
                  </a:lnTo>
                  <a:lnTo>
                    <a:pt x="2234247" y="0"/>
                  </a:lnTo>
                  <a:lnTo>
                    <a:pt x="2282634" y="3428"/>
                  </a:lnTo>
                  <a:lnTo>
                    <a:pt x="2328862" y="13843"/>
                  </a:lnTo>
                  <a:lnTo>
                    <a:pt x="2372296" y="30352"/>
                  </a:lnTo>
                  <a:lnTo>
                    <a:pt x="2412555" y="52577"/>
                  </a:lnTo>
                  <a:lnTo>
                    <a:pt x="2449004" y="80137"/>
                  </a:lnTo>
                  <a:lnTo>
                    <a:pt x="2481389" y="112395"/>
                  </a:lnTo>
                  <a:lnTo>
                    <a:pt x="2508948" y="148844"/>
                  </a:lnTo>
                  <a:lnTo>
                    <a:pt x="2531173" y="189102"/>
                  </a:lnTo>
                  <a:lnTo>
                    <a:pt x="2547810" y="232537"/>
                  </a:lnTo>
                  <a:lnTo>
                    <a:pt x="2558097" y="278638"/>
                  </a:lnTo>
                  <a:lnTo>
                    <a:pt x="2561653" y="327025"/>
                  </a:lnTo>
                  <a:lnTo>
                    <a:pt x="2561653" y="1634998"/>
                  </a:lnTo>
                  <a:lnTo>
                    <a:pt x="2558097" y="1683385"/>
                  </a:lnTo>
                  <a:lnTo>
                    <a:pt x="2547810" y="1729486"/>
                  </a:lnTo>
                  <a:lnTo>
                    <a:pt x="2531173" y="1772920"/>
                  </a:lnTo>
                  <a:lnTo>
                    <a:pt x="2508948" y="1813052"/>
                  </a:lnTo>
                  <a:lnTo>
                    <a:pt x="2481389" y="1849628"/>
                  </a:lnTo>
                  <a:lnTo>
                    <a:pt x="2449004" y="1881886"/>
                  </a:lnTo>
                  <a:lnTo>
                    <a:pt x="2412555" y="1909445"/>
                  </a:lnTo>
                  <a:lnTo>
                    <a:pt x="2372296" y="1931670"/>
                  </a:lnTo>
                  <a:lnTo>
                    <a:pt x="2328862" y="1948180"/>
                  </a:lnTo>
                  <a:lnTo>
                    <a:pt x="2282634" y="1958467"/>
                  </a:lnTo>
                  <a:lnTo>
                    <a:pt x="2234247" y="1962023"/>
                  </a:lnTo>
                  <a:lnTo>
                    <a:pt x="327329" y="1962023"/>
                  </a:lnTo>
                  <a:lnTo>
                    <a:pt x="278968" y="1958467"/>
                  </a:lnTo>
                  <a:lnTo>
                    <a:pt x="232790" y="1948180"/>
                  </a:lnTo>
                  <a:lnTo>
                    <a:pt x="189344" y="1931670"/>
                  </a:lnTo>
                  <a:lnTo>
                    <a:pt x="149097" y="1909445"/>
                  </a:lnTo>
                  <a:lnTo>
                    <a:pt x="112585" y="1881886"/>
                  </a:lnTo>
                  <a:lnTo>
                    <a:pt x="80289" y="1849628"/>
                  </a:lnTo>
                  <a:lnTo>
                    <a:pt x="52730" y="1813052"/>
                  </a:lnTo>
                  <a:lnTo>
                    <a:pt x="30429" y="1772920"/>
                  </a:lnTo>
                  <a:lnTo>
                    <a:pt x="13855" y="1729486"/>
                  </a:lnTo>
                  <a:lnTo>
                    <a:pt x="3543" y="1683385"/>
                  </a:lnTo>
                  <a:lnTo>
                    <a:pt x="0" y="1634998"/>
                  </a:lnTo>
                  <a:lnTo>
                    <a:pt x="0" y="327025"/>
                  </a:lnTo>
                  <a:close/>
                </a:path>
              </a:pathLst>
            </a:custGeom>
            <a:noFill/>
            <a:ln cap="flat" cmpd="sng" w="14025">
              <a:solidFill>
                <a:srgbClr val="FAFAF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550"/>
            </a:p>
          </p:txBody>
        </p:sp>
      </p:grpSp>
      <p:pic>
        <p:nvPicPr>
          <p:cNvPr id="298" name="Google Shape;298;p8"/>
          <p:cNvPicPr preferRelativeResize="0"/>
          <p:nvPr/>
        </p:nvPicPr>
        <p:blipFill rotWithShape="1">
          <a:blip r:embed="rId5">
            <a:alphaModFix/>
          </a:blip>
          <a:srcRect b="0" l="0" r="0" t="0"/>
          <a:stretch/>
        </p:blipFill>
        <p:spPr>
          <a:xfrm>
            <a:off x="8782050" y="1639225"/>
            <a:ext cx="2997601" cy="2304125"/>
          </a:xfrm>
          <a:prstGeom prst="rect">
            <a:avLst/>
          </a:prstGeom>
          <a:noFill/>
          <a:ln>
            <a:noFill/>
          </a:ln>
        </p:spPr>
      </p:pic>
      <p:sp>
        <p:nvSpPr>
          <p:cNvPr id="299" name="Google Shape;299;p8"/>
          <p:cNvSpPr txBox="1"/>
          <p:nvPr/>
        </p:nvSpPr>
        <p:spPr>
          <a:xfrm>
            <a:off x="377507" y="4244403"/>
            <a:ext cx="3440429" cy="672465"/>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300" u="sng">
                <a:latin typeface="Calibri"/>
                <a:ea typeface="Calibri"/>
                <a:cs typeface="Calibri"/>
                <a:sym typeface="Calibri"/>
              </a:rPr>
              <a:t>Ready for unseen future data</a:t>
            </a:r>
            <a:endParaRPr sz="1300">
              <a:latin typeface="Calibri"/>
              <a:ea typeface="Calibri"/>
              <a:cs typeface="Calibri"/>
              <a:sym typeface="Calibri"/>
            </a:endParaRPr>
          </a:p>
          <a:p>
            <a:pPr indent="0" lvl="0" marL="0" rtl="0" algn="l">
              <a:lnSpc>
                <a:spcPct val="100000"/>
              </a:lnSpc>
              <a:spcBef>
                <a:spcPts val="0"/>
              </a:spcBef>
              <a:spcAft>
                <a:spcPts val="0"/>
              </a:spcAft>
              <a:buNone/>
            </a:pPr>
            <a:r>
              <a:rPr lang="en-US" sz="1300">
                <a:solidFill>
                  <a:srgbClr val="001F5F"/>
                </a:solidFill>
                <a:latin typeface="Calibri"/>
                <a:ea typeface="Calibri"/>
                <a:cs typeface="Calibri"/>
                <a:sym typeface="Calibri"/>
              </a:rPr>
              <a:t>Applicable</a:t>
            </a:r>
            <a:r>
              <a:rPr lang="en-US" sz="1300">
                <a:solidFill>
                  <a:srgbClr val="001F5F"/>
                </a:solidFill>
                <a:latin typeface="Calibri"/>
                <a:ea typeface="Calibri"/>
                <a:cs typeface="Calibri"/>
                <a:sym typeface="Calibri"/>
              </a:rPr>
              <a:t> even during high default periods</a:t>
            </a:r>
            <a:endParaRPr sz="1300">
              <a:latin typeface="Calibri"/>
              <a:ea typeface="Calibri"/>
              <a:cs typeface="Calibri"/>
              <a:sym typeface="Calibri"/>
            </a:endParaRPr>
          </a:p>
        </p:txBody>
      </p:sp>
      <p:sp>
        <p:nvSpPr>
          <p:cNvPr id="300" name="Google Shape;300;p8"/>
          <p:cNvSpPr txBox="1"/>
          <p:nvPr/>
        </p:nvSpPr>
        <p:spPr>
          <a:xfrm>
            <a:off x="8552800" y="4256725"/>
            <a:ext cx="3287100" cy="1239000"/>
          </a:xfrm>
          <a:prstGeom prst="rect">
            <a:avLst/>
          </a:prstGeom>
          <a:noFill/>
          <a:ln>
            <a:noFill/>
          </a:ln>
        </p:spPr>
        <p:txBody>
          <a:bodyPr anchorCtr="0" anchor="t" bIns="0" lIns="18275" spcFirstLastPara="1" rIns="18275" wrap="square" tIns="0">
            <a:noAutofit/>
          </a:bodyPr>
          <a:lstStyle/>
          <a:p>
            <a:pPr indent="0" lvl="0" marL="0" rtl="0" algn="l">
              <a:lnSpc>
                <a:spcPct val="100000"/>
              </a:lnSpc>
              <a:spcBef>
                <a:spcPts val="0"/>
              </a:spcBef>
              <a:spcAft>
                <a:spcPts val="0"/>
              </a:spcAft>
              <a:buNone/>
            </a:pPr>
            <a:r>
              <a:rPr lang="en-US" sz="1200" u="sng">
                <a:latin typeface="Calibri"/>
                <a:ea typeface="Calibri"/>
                <a:cs typeface="Calibri"/>
                <a:sym typeface="Calibri"/>
              </a:rPr>
              <a:t>R</a:t>
            </a:r>
            <a:r>
              <a:rPr lang="en-US" sz="1200" u="sng">
                <a:latin typeface="Calibri"/>
                <a:ea typeface="Calibri"/>
                <a:cs typeface="Calibri"/>
                <a:sym typeface="Calibri"/>
              </a:rPr>
              <a:t>educe labor costs</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solidFill>
                  <a:srgbClr val="00AF50"/>
                </a:solidFill>
                <a:latin typeface="Calibri"/>
                <a:ea typeface="Calibri"/>
                <a:cs typeface="Calibri"/>
                <a:sym typeface="Calibri"/>
              </a:rPr>
              <a:t>Anyone can become a talented person who can play an active role.</a:t>
            </a:r>
            <a:endParaRPr sz="1200">
              <a:latin typeface="Calibri"/>
              <a:ea typeface="Calibri"/>
              <a:cs typeface="Calibri"/>
              <a:sym typeface="Calibri"/>
            </a:endParaRPr>
          </a:p>
          <a:p>
            <a:pPr indent="-292100" lvl="0" marL="298450" marR="5080" rtl="0" algn="l">
              <a:lnSpc>
                <a:spcPct val="130000"/>
              </a:lnSpc>
              <a:spcBef>
                <a:spcPts val="0"/>
              </a:spcBef>
              <a:spcAft>
                <a:spcPts val="0"/>
              </a:spcAft>
              <a:buSzPts val="1200"/>
              <a:buFont typeface="Noto Sans Symbols"/>
              <a:buChar char="✔"/>
            </a:pPr>
            <a:r>
              <a:rPr lang="en-US" sz="1200">
                <a:latin typeface="Calibri"/>
                <a:ea typeface="Calibri"/>
                <a:cs typeface="Calibri"/>
                <a:sym typeface="Calibri"/>
              </a:rPr>
              <a:t>Until now, the screening related to lending has been left to experts with excellent statistics and long practical experience. However, consultation fee is quite expensive!</a:t>
            </a:r>
            <a:endParaRPr sz="1200">
              <a:latin typeface="Calibri"/>
              <a:ea typeface="Calibri"/>
              <a:cs typeface="Calibri"/>
              <a:sym typeface="Calibri"/>
            </a:endParaRPr>
          </a:p>
          <a:p>
            <a:pPr indent="-298450" lvl="0" marL="298450" marR="5080" rtl="0" algn="just">
              <a:lnSpc>
                <a:spcPct val="100400"/>
              </a:lnSpc>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PMS enables automatic screening just by data. No expertise required! The expense cut by PMS can be returned to current employees as salary or welfare benefits.</a:t>
            </a:r>
            <a:endParaRPr sz="1200">
              <a:latin typeface="Calibri"/>
              <a:ea typeface="Calibri"/>
              <a:cs typeface="Calibri"/>
              <a:sym typeface="Calibri"/>
            </a:endParaRPr>
          </a:p>
        </p:txBody>
      </p:sp>
      <p:sp>
        <p:nvSpPr>
          <p:cNvPr id="301" name="Google Shape;301;p8"/>
          <p:cNvSpPr txBox="1"/>
          <p:nvPr/>
        </p:nvSpPr>
        <p:spPr>
          <a:xfrm>
            <a:off x="491490" y="4690067"/>
            <a:ext cx="3410700" cy="1487100"/>
          </a:xfrm>
          <a:prstGeom prst="rect">
            <a:avLst/>
          </a:prstGeom>
          <a:noFill/>
          <a:ln>
            <a:noFill/>
          </a:ln>
        </p:spPr>
        <p:txBody>
          <a:bodyPr anchorCtr="0" anchor="t" bIns="0" lIns="18275" spcFirstLastPara="1" rIns="18275" wrap="square" tIns="0">
            <a:noAutofit/>
          </a:bodyPr>
          <a:lstStyle/>
          <a:p>
            <a:pPr indent="-171450" lvl="0" marL="184150" marR="186690" rtl="0" algn="just">
              <a:lnSpc>
                <a:spcPct val="119166"/>
              </a:lnSpc>
              <a:spcBef>
                <a:spcPts val="0"/>
              </a:spcBef>
              <a:spcAft>
                <a:spcPts val="0"/>
              </a:spcAft>
              <a:buSzPts val="1200"/>
              <a:buFont typeface="Noto Sans Symbols"/>
              <a:buChar char="✔"/>
            </a:pPr>
            <a:r>
              <a:rPr lang="en-US" sz="1200">
                <a:latin typeface="Calibri"/>
                <a:ea typeface="Calibri"/>
                <a:cs typeface="Calibri"/>
                <a:sym typeface="Calibri"/>
              </a:rPr>
              <a:t>Since the model adopts multiple models such as highly interpretable models and rule-based algorithms, it can be </a:t>
            </a:r>
            <a:r>
              <a:rPr lang="en-US" sz="1200">
                <a:latin typeface="Calibri"/>
                <a:ea typeface="Calibri"/>
                <a:cs typeface="Calibri"/>
                <a:sym typeface="Calibri"/>
              </a:rPr>
              <a:t>flexibly modified, </a:t>
            </a:r>
            <a:r>
              <a:rPr lang="en-US" sz="1200">
                <a:latin typeface="Calibri"/>
                <a:ea typeface="Calibri"/>
                <a:cs typeface="Calibri"/>
                <a:sym typeface="Calibri"/>
              </a:rPr>
              <a:t>preventing worst-case scenarios in advance!</a:t>
            </a:r>
            <a:endParaRPr sz="1200">
              <a:latin typeface="Calibri"/>
              <a:ea typeface="Calibri"/>
              <a:cs typeface="Calibri"/>
              <a:sym typeface="Calibri"/>
            </a:endParaRPr>
          </a:p>
          <a:p>
            <a:pPr indent="-171450" lvl="0" marL="184150" marR="186690" rtl="0" algn="just">
              <a:lnSpc>
                <a:spcPct val="119166"/>
              </a:lnSpc>
              <a:spcBef>
                <a:spcPts val="0"/>
              </a:spcBef>
              <a:spcAft>
                <a:spcPts val="0"/>
              </a:spcAft>
              <a:buSzPts val="1200"/>
              <a:buFont typeface="Noto Sans Symbols"/>
              <a:buChar char="✔"/>
            </a:pPr>
            <a:r>
              <a:rPr lang="en-US" sz="1200">
                <a:latin typeface="Calibri"/>
                <a:ea typeface="Calibri"/>
                <a:cs typeface="Calibri"/>
                <a:sym typeface="Calibri"/>
              </a:rPr>
              <a:t>By switching automatic default assessment to manual, </a:t>
            </a:r>
            <a:r>
              <a:rPr lang="en-US" sz="1200" u="sng">
                <a:latin typeface="Calibri"/>
                <a:ea typeface="Calibri"/>
                <a:cs typeface="Calibri"/>
                <a:sym typeface="Calibri"/>
              </a:rPr>
              <a:t>you can shift the goal from profit maximization to loss minimization</a:t>
            </a:r>
            <a:r>
              <a:rPr lang="en-US" sz="1200">
                <a:latin typeface="Calibri"/>
                <a:ea typeface="Calibri"/>
                <a:cs typeface="Calibri"/>
                <a:sym typeface="Calibri"/>
              </a:rPr>
              <a:t>.</a:t>
            </a:r>
            <a:endParaRPr sz="12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5" name="Shape 305"/>
        <p:cNvGrpSpPr/>
        <p:nvPr/>
      </p:nvGrpSpPr>
      <p:grpSpPr>
        <a:xfrm>
          <a:off x="0" y="0"/>
          <a:ext cx="0" cy="0"/>
          <a:chOff x="0" y="0"/>
          <a:chExt cx="0" cy="0"/>
        </a:xfrm>
      </p:grpSpPr>
      <p:grpSp>
        <p:nvGrpSpPr>
          <p:cNvPr id="306" name="Google Shape;306;p9"/>
          <p:cNvGrpSpPr/>
          <p:nvPr/>
        </p:nvGrpSpPr>
        <p:grpSpPr>
          <a:xfrm>
            <a:off x="0" y="12"/>
            <a:ext cx="12192318" cy="309499"/>
            <a:chOff x="0" y="12"/>
            <a:chExt cx="12192318" cy="309499"/>
          </a:xfrm>
        </p:grpSpPr>
        <p:sp>
          <p:nvSpPr>
            <p:cNvPr id="307" name="Google Shape;307;p9"/>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8" name="Google Shape;308;p9"/>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9" name="Google Shape;309;p9"/>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10" name="Google Shape;310;p9"/>
          <p:cNvSpPr txBox="1"/>
          <p:nvPr>
            <p:ph type="title"/>
          </p:nvPr>
        </p:nvSpPr>
        <p:spPr>
          <a:xfrm>
            <a:off x="584200" y="331724"/>
            <a:ext cx="5024755" cy="632460"/>
          </a:xfrm>
          <a:prstGeom prst="rect">
            <a:avLst/>
          </a:prstGeom>
          <a:noFill/>
          <a:ln>
            <a:noFill/>
          </a:ln>
        </p:spPr>
        <p:txBody>
          <a:bodyPr anchorCtr="0" anchor="ctr" bIns="0" lIns="18275" spcFirstLastPara="1" rIns="18275" wrap="square" tIns="0">
            <a:noAutofit/>
          </a:bodyPr>
          <a:lstStyle/>
          <a:p>
            <a:pPr indent="0" lvl="0" marL="12700" rtl="0" algn="l">
              <a:lnSpc>
                <a:spcPct val="100000"/>
              </a:lnSpc>
              <a:spcBef>
                <a:spcPts val="0"/>
              </a:spcBef>
              <a:spcAft>
                <a:spcPts val="0"/>
              </a:spcAft>
              <a:buNone/>
            </a:pPr>
            <a:r>
              <a:rPr lang="en-US" sz="2400">
                <a:latin typeface="Calibri"/>
                <a:ea typeface="Calibri"/>
                <a:cs typeface="Calibri"/>
                <a:sym typeface="Calibri"/>
              </a:rPr>
              <a:t>Proposal for New AI Business②</a:t>
            </a:r>
            <a:endParaRPr sz="2400">
              <a:latin typeface="Calibri"/>
              <a:ea typeface="Calibri"/>
              <a:cs typeface="Calibri"/>
              <a:sym typeface="Calibri"/>
            </a:endParaRPr>
          </a:p>
        </p:txBody>
      </p:sp>
      <p:sp>
        <p:nvSpPr>
          <p:cNvPr id="311" name="Google Shape;311;p9"/>
          <p:cNvSpPr txBox="1"/>
          <p:nvPr/>
        </p:nvSpPr>
        <p:spPr>
          <a:xfrm>
            <a:off x="7713726" y="3202368"/>
            <a:ext cx="4104004" cy="714375"/>
          </a:xfrm>
          <a:prstGeom prst="rect">
            <a:avLst/>
          </a:prstGeom>
          <a:noFill/>
          <a:ln>
            <a:noFill/>
          </a:ln>
        </p:spPr>
        <p:txBody>
          <a:bodyPr anchorCtr="0" anchor="t" bIns="0" lIns="18275" spcFirstLastPara="1" rIns="18275" wrap="square" tIns="0">
            <a:noAutofit/>
          </a:bodyPr>
          <a:lstStyle/>
          <a:p>
            <a:pPr indent="-235584" lvl="0" marL="241300" marR="5080" rtl="0" algn="l">
              <a:lnSpc>
                <a:spcPct val="94900"/>
              </a:lnSpc>
              <a:spcBef>
                <a:spcPts val="0"/>
              </a:spcBef>
              <a:spcAft>
                <a:spcPts val="0"/>
              </a:spcAft>
              <a:buSzPts val="1500"/>
              <a:buFont typeface="Noto Sans Symbols"/>
              <a:buChar char="✔"/>
            </a:pPr>
            <a:r>
              <a:rPr lang="en-US" sz="1500">
                <a:latin typeface="Calibri"/>
                <a:ea typeface="Calibri"/>
                <a:cs typeface="Calibri"/>
                <a:sym typeface="Calibri"/>
              </a:rPr>
              <a:t>By focusing PR efforts on groups with a low predicted default tendency, you can optimize of sales and advertising.</a:t>
            </a:r>
            <a:endParaRPr sz="1500">
              <a:latin typeface="Calibri"/>
              <a:ea typeface="Calibri"/>
              <a:cs typeface="Calibri"/>
              <a:sym typeface="Calibri"/>
            </a:endParaRPr>
          </a:p>
        </p:txBody>
      </p:sp>
      <p:sp>
        <p:nvSpPr>
          <p:cNvPr id="312" name="Google Shape;312;p9"/>
          <p:cNvSpPr txBox="1"/>
          <p:nvPr/>
        </p:nvSpPr>
        <p:spPr>
          <a:xfrm>
            <a:off x="7713726" y="4329747"/>
            <a:ext cx="3895725" cy="714375"/>
          </a:xfrm>
          <a:prstGeom prst="rect">
            <a:avLst/>
          </a:prstGeom>
          <a:noFill/>
          <a:ln>
            <a:noFill/>
          </a:ln>
        </p:spPr>
        <p:txBody>
          <a:bodyPr anchorCtr="0" anchor="t" bIns="0" lIns="18275" spcFirstLastPara="1" rIns="18275" wrap="square" tIns="0">
            <a:noAutofit/>
          </a:bodyPr>
          <a:lstStyle/>
          <a:p>
            <a:pPr indent="-229234" lvl="0" marL="241300" marR="5080" rtl="0" algn="just">
              <a:lnSpc>
                <a:spcPct val="94900"/>
              </a:lnSpc>
              <a:spcBef>
                <a:spcPts val="0"/>
              </a:spcBef>
              <a:spcAft>
                <a:spcPts val="0"/>
              </a:spcAft>
              <a:buSzPts val="1500"/>
              <a:buFont typeface="Noto Sans Symbols"/>
              <a:buChar char="✔"/>
            </a:pPr>
            <a:r>
              <a:rPr lang="en-US" sz="1500">
                <a:latin typeface="Calibri"/>
                <a:ea typeface="Calibri"/>
                <a:cs typeface="Calibri"/>
                <a:sym typeface="Calibri"/>
              </a:rPr>
              <a:t>R</a:t>
            </a:r>
            <a:r>
              <a:rPr lang="en-US" sz="1500">
                <a:latin typeface="Calibri"/>
                <a:ea typeface="Calibri"/>
                <a:cs typeface="Calibri"/>
                <a:sym typeface="Calibri"/>
              </a:rPr>
              <a:t>e-propose the optimal plan tailored to each individual customer based on past data.</a:t>
            </a:r>
            <a:endParaRPr sz="1500">
              <a:latin typeface="Calibri"/>
              <a:ea typeface="Calibri"/>
              <a:cs typeface="Calibri"/>
              <a:sym typeface="Calibri"/>
            </a:endParaRPr>
          </a:p>
        </p:txBody>
      </p:sp>
      <p:sp>
        <p:nvSpPr>
          <p:cNvPr id="313" name="Google Shape;313;p9"/>
          <p:cNvSpPr txBox="1"/>
          <p:nvPr/>
        </p:nvSpPr>
        <p:spPr>
          <a:xfrm>
            <a:off x="7713726" y="5461952"/>
            <a:ext cx="3978275" cy="714375"/>
          </a:xfrm>
          <a:prstGeom prst="rect">
            <a:avLst/>
          </a:prstGeom>
          <a:noFill/>
          <a:ln>
            <a:noFill/>
          </a:ln>
        </p:spPr>
        <p:txBody>
          <a:bodyPr anchorCtr="0" anchor="t" bIns="0" lIns="18275" spcFirstLastPara="1" rIns="18275" wrap="square" tIns="0">
            <a:noAutofit/>
          </a:bodyPr>
          <a:lstStyle/>
          <a:p>
            <a:pPr indent="-241934" lvl="0" marL="241300" marR="5080" rtl="0" algn="l">
              <a:lnSpc>
                <a:spcPct val="94900"/>
              </a:lnSpc>
              <a:spcBef>
                <a:spcPts val="0"/>
              </a:spcBef>
              <a:spcAft>
                <a:spcPts val="0"/>
              </a:spcAft>
              <a:buSzPts val="1500"/>
              <a:buFont typeface="Noto Sans Symbols"/>
              <a:buChar char="✔"/>
            </a:pPr>
            <a:r>
              <a:rPr lang="en-US" sz="1500">
                <a:latin typeface="Calibri"/>
                <a:ea typeface="Calibri"/>
                <a:cs typeface="Calibri"/>
                <a:sym typeface="Calibri"/>
              </a:rPr>
              <a:t>By detecting changes in default trends with high sensitivity, we can respond to customer needs more swiftly than competitors, possibly expanding our market share.</a:t>
            </a:r>
            <a:endParaRPr sz="1500">
              <a:latin typeface="Calibri"/>
              <a:ea typeface="Calibri"/>
              <a:cs typeface="Calibri"/>
              <a:sym typeface="Calibri"/>
            </a:endParaRPr>
          </a:p>
        </p:txBody>
      </p:sp>
      <p:sp>
        <p:nvSpPr>
          <p:cNvPr id="314" name="Google Shape;314;p9"/>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5" name="Google Shape;315;p9"/>
          <p:cNvSpPr txBox="1"/>
          <p:nvPr/>
        </p:nvSpPr>
        <p:spPr>
          <a:xfrm>
            <a:off x="536575" y="1288100"/>
            <a:ext cx="6978000" cy="300300"/>
          </a:xfrm>
          <a:prstGeom prst="rect">
            <a:avLst/>
          </a:prstGeom>
          <a:noFill/>
          <a:ln>
            <a:noFill/>
          </a:ln>
        </p:spPr>
        <p:txBody>
          <a:bodyPr anchorCtr="0" anchor="t" bIns="0" lIns="18275" spcFirstLastPara="1" rIns="18275" wrap="square" tIns="0">
            <a:noAutofit/>
          </a:bodyPr>
          <a:lstStyle/>
          <a:p>
            <a:pPr indent="0" lvl="0" marL="12700" rtl="0" algn="l">
              <a:spcBef>
                <a:spcPts val="0"/>
              </a:spcBef>
              <a:spcAft>
                <a:spcPts val="0"/>
              </a:spcAft>
              <a:buClr>
                <a:schemeClr val="dk1"/>
              </a:buClr>
              <a:buFont typeface="Arial"/>
              <a:buNone/>
            </a:pPr>
            <a:r>
              <a:rPr lang="en-US" sz="1700">
                <a:solidFill>
                  <a:srgbClr val="001F5F"/>
                </a:solidFill>
                <a:latin typeface="Calibri"/>
                <a:ea typeface="Calibri"/>
                <a:cs typeface="Calibri"/>
                <a:sym typeface="Calibri"/>
              </a:rPr>
              <a:t>AI enables diversified data analysis from a large volume of customer data.</a:t>
            </a:r>
            <a:endParaRPr sz="1700">
              <a:solidFill>
                <a:schemeClr val="dk1"/>
              </a:solidFill>
              <a:latin typeface="Calibri"/>
              <a:ea typeface="Calibri"/>
              <a:cs typeface="Calibri"/>
              <a:sym typeface="Calibri"/>
            </a:endParaRPr>
          </a:p>
          <a:p>
            <a:pPr indent="0" lvl="0" marL="12700" rtl="0" algn="l">
              <a:lnSpc>
                <a:spcPct val="100000"/>
              </a:lnSpc>
              <a:spcBef>
                <a:spcPts val="0"/>
              </a:spcBef>
              <a:spcAft>
                <a:spcPts val="0"/>
              </a:spcAft>
              <a:buNone/>
            </a:pPr>
            <a:r>
              <a:t/>
            </a:r>
            <a:endParaRPr>
              <a:solidFill>
                <a:srgbClr val="001F5F"/>
              </a:solidFill>
              <a:latin typeface="Calibri"/>
              <a:ea typeface="Calibri"/>
              <a:cs typeface="Calibri"/>
              <a:sym typeface="Calibri"/>
            </a:endParaRPr>
          </a:p>
        </p:txBody>
      </p:sp>
      <p:sp>
        <p:nvSpPr>
          <p:cNvPr id="316" name="Google Shape;316;p9"/>
          <p:cNvSpPr txBox="1"/>
          <p:nvPr/>
        </p:nvSpPr>
        <p:spPr>
          <a:xfrm>
            <a:off x="5888601" y="480625"/>
            <a:ext cx="5987400" cy="4290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800">
                <a:solidFill>
                  <a:srgbClr val="001F5F"/>
                </a:solidFill>
                <a:latin typeface="Calibri"/>
                <a:ea typeface="Calibri"/>
                <a:cs typeface="Calibri"/>
                <a:sym typeface="Calibri"/>
              </a:rPr>
              <a:t>Default Tendency Analysis</a:t>
            </a:r>
            <a:r>
              <a:rPr lang="en-US" sz="1800">
                <a:solidFill>
                  <a:srgbClr val="001F5F"/>
                </a:solidFill>
                <a:latin typeface="Calibri"/>
                <a:ea typeface="Calibri"/>
                <a:cs typeface="Calibri"/>
                <a:sym typeface="Calibri"/>
              </a:rPr>
              <a:t>〜</a:t>
            </a:r>
            <a:r>
              <a:rPr lang="en-US" sz="1800">
                <a:solidFill>
                  <a:srgbClr val="001F5F"/>
                </a:solidFill>
                <a:latin typeface="Calibri"/>
                <a:ea typeface="Calibri"/>
                <a:cs typeface="Calibri"/>
                <a:sym typeface="Calibri"/>
              </a:rPr>
              <a:t>Supporting Business Strategy〜</a:t>
            </a:r>
            <a:endParaRPr sz="1800">
              <a:latin typeface="Calibri"/>
              <a:ea typeface="Calibri"/>
              <a:cs typeface="Calibri"/>
              <a:sym typeface="Calibri"/>
            </a:endParaRPr>
          </a:p>
        </p:txBody>
      </p:sp>
      <p:sp>
        <p:nvSpPr>
          <p:cNvPr id="317" name="Google Shape;317;p9"/>
          <p:cNvSpPr txBox="1"/>
          <p:nvPr/>
        </p:nvSpPr>
        <p:spPr>
          <a:xfrm>
            <a:off x="803909" y="3304222"/>
            <a:ext cx="3996690" cy="714375"/>
          </a:xfrm>
          <a:prstGeom prst="rect">
            <a:avLst/>
          </a:prstGeom>
          <a:noFill/>
          <a:ln>
            <a:noFill/>
          </a:ln>
        </p:spPr>
        <p:txBody>
          <a:bodyPr anchorCtr="0" anchor="t" bIns="0" lIns="18275" spcFirstLastPara="1" rIns="18275" wrap="square" tIns="0">
            <a:noAutofit/>
          </a:bodyPr>
          <a:lstStyle/>
          <a:p>
            <a:pPr indent="-248284" lvl="0" marL="241300" marR="5080" rtl="0" algn="l">
              <a:lnSpc>
                <a:spcPct val="94900"/>
              </a:lnSpc>
              <a:spcBef>
                <a:spcPts val="0"/>
              </a:spcBef>
              <a:spcAft>
                <a:spcPts val="0"/>
              </a:spcAft>
              <a:buSzPts val="1800"/>
              <a:buFont typeface="Arial"/>
              <a:buChar char="•"/>
            </a:pPr>
            <a:r>
              <a:rPr lang="en-US" sz="1800">
                <a:latin typeface="Calibri"/>
                <a:ea typeface="Calibri"/>
                <a:cs typeface="Calibri"/>
                <a:sym typeface="Calibri"/>
              </a:rPr>
              <a:t>W</a:t>
            </a:r>
            <a:r>
              <a:rPr lang="en-US" sz="1800">
                <a:latin typeface="Calibri"/>
                <a:ea typeface="Calibri"/>
                <a:cs typeface="Calibri"/>
                <a:sym typeface="Calibri"/>
              </a:rPr>
              <a:t>ant more people to know and use HomeCredit! </a:t>
            </a:r>
            <a:r>
              <a:rPr lang="en-US" sz="1800">
                <a:latin typeface="Calibri"/>
                <a:ea typeface="Calibri"/>
                <a:cs typeface="Calibri"/>
                <a:sym typeface="Calibri"/>
              </a:rPr>
              <a:t>A</a:t>
            </a:r>
            <a:r>
              <a:rPr lang="en-US" sz="1800">
                <a:latin typeface="Calibri"/>
                <a:ea typeface="Calibri"/>
                <a:cs typeface="Calibri"/>
                <a:sym typeface="Calibri"/>
              </a:rPr>
              <a:t>nd to increase the number of new applicants!</a:t>
            </a:r>
            <a:endParaRPr sz="1800">
              <a:latin typeface="Calibri"/>
              <a:ea typeface="Calibri"/>
              <a:cs typeface="Calibri"/>
              <a:sym typeface="Calibri"/>
            </a:endParaRPr>
          </a:p>
          <a:p>
            <a:pPr indent="-248284" lvl="0" marL="241300" marR="5080" rtl="0" algn="l">
              <a:lnSpc>
                <a:spcPct val="94900"/>
              </a:lnSpc>
              <a:spcBef>
                <a:spcPts val="0"/>
              </a:spcBef>
              <a:spcAft>
                <a:spcPts val="0"/>
              </a:spcAft>
              <a:buSzPts val="1800"/>
              <a:buFont typeface="Arial"/>
              <a:buChar char="•"/>
            </a:pPr>
            <a:r>
              <a:rPr lang="en-US" sz="1800">
                <a:solidFill>
                  <a:schemeClr val="dk1"/>
                </a:solidFill>
                <a:latin typeface="Calibri"/>
                <a:ea typeface="Calibri"/>
                <a:cs typeface="Calibri"/>
                <a:sym typeface="Calibri"/>
              </a:rPr>
              <a:t>W</a:t>
            </a:r>
            <a:r>
              <a:rPr lang="en-US" sz="1800">
                <a:solidFill>
                  <a:schemeClr val="dk1"/>
                </a:solidFill>
                <a:latin typeface="Calibri"/>
                <a:ea typeface="Calibri"/>
                <a:cs typeface="Calibri"/>
                <a:sym typeface="Calibri"/>
              </a:rPr>
              <a:t>ant suited plans for those customers who use the service for a long time or multiple times!</a:t>
            </a:r>
            <a:endParaRPr sz="1800">
              <a:solidFill>
                <a:schemeClr val="dk1"/>
              </a:solidFill>
              <a:latin typeface="Calibri"/>
              <a:ea typeface="Calibri"/>
              <a:cs typeface="Calibri"/>
              <a:sym typeface="Calibri"/>
            </a:endParaRPr>
          </a:p>
          <a:p>
            <a:pPr indent="-248284" lvl="0" marL="241300" marR="5080" rtl="0" algn="l">
              <a:lnSpc>
                <a:spcPct val="94900"/>
              </a:lnSpc>
              <a:spcBef>
                <a:spcPts val="0"/>
              </a:spcBef>
              <a:spcAft>
                <a:spcPts val="0"/>
              </a:spcAft>
              <a:buSzPts val="1800"/>
              <a:buFont typeface="Arial"/>
              <a:buChar char="•"/>
            </a:pPr>
            <a:r>
              <a:rPr lang="en-US" sz="1800">
                <a:solidFill>
                  <a:schemeClr val="dk1"/>
                </a:solidFill>
                <a:latin typeface="Calibri"/>
                <a:ea typeface="Calibri"/>
                <a:cs typeface="Calibri"/>
                <a:sym typeface="Calibri"/>
              </a:rPr>
              <a:t>Want to adapt to market trends and changes in segments and aim to expand our industry share from a long-term perspective!</a:t>
            </a:r>
            <a:endParaRPr sz="1800">
              <a:solidFill>
                <a:schemeClr val="dk1"/>
              </a:solidFill>
              <a:latin typeface="Calibri"/>
              <a:ea typeface="Calibri"/>
              <a:cs typeface="Calibri"/>
              <a:sym typeface="Calibri"/>
            </a:endParaRPr>
          </a:p>
        </p:txBody>
      </p:sp>
      <p:grpSp>
        <p:nvGrpSpPr>
          <p:cNvPr id="318" name="Google Shape;318;p9"/>
          <p:cNvGrpSpPr/>
          <p:nvPr/>
        </p:nvGrpSpPr>
        <p:grpSpPr>
          <a:xfrm>
            <a:off x="5257800" y="4229100"/>
            <a:ext cx="918591" cy="1062101"/>
            <a:chOff x="5257800" y="4229100"/>
            <a:chExt cx="918591" cy="1062101"/>
          </a:xfrm>
        </p:grpSpPr>
        <p:sp>
          <p:nvSpPr>
            <p:cNvPr id="319" name="Google Shape;319;p9"/>
            <p:cNvSpPr/>
            <p:nvPr/>
          </p:nvSpPr>
          <p:spPr>
            <a:xfrm>
              <a:off x="5257800" y="4229100"/>
              <a:ext cx="914400" cy="1057275"/>
            </a:xfrm>
            <a:custGeom>
              <a:rect b="b" l="l" r="r" t="t"/>
              <a:pathLst>
                <a:path extrusionOk="0" h="1057275" w="914400">
                  <a:moveTo>
                    <a:pt x="456946" y="0"/>
                  </a:moveTo>
                  <a:lnTo>
                    <a:pt x="456946" y="264287"/>
                  </a:lnTo>
                  <a:lnTo>
                    <a:pt x="0" y="264287"/>
                  </a:lnTo>
                  <a:lnTo>
                    <a:pt x="0" y="792733"/>
                  </a:lnTo>
                  <a:lnTo>
                    <a:pt x="456946" y="792733"/>
                  </a:lnTo>
                  <a:lnTo>
                    <a:pt x="456946" y="1056894"/>
                  </a:lnTo>
                  <a:lnTo>
                    <a:pt x="913891" y="528447"/>
                  </a:lnTo>
                  <a:lnTo>
                    <a:pt x="456946" y="0"/>
                  </a:lnTo>
                  <a:close/>
                </a:path>
              </a:pathLst>
            </a:custGeom>
            <a:solidFill>
              <a:srgbClr val="DAE2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0" name="Google Shape;320;p9"/>
            <p:cNvSpPr/>
            <p:nvPr/>
          </p:nvSpPr>
          <p:spPr>
            <a:xfrm>
              <a:off x="5262626" y="4233926"/>
              <a:ext cx="913765" cy="1057275"/>
            </a:xfrm>
            <a:custGeom>
              <a:rect b="b" l="l" r="r" t="t"/>
              <a:pathLst>
                <a:path extrusionOk="0" h="1057275" w="913764">
                  <a:moveTo>
                    <a:pt x="0" y="264160"/>
                  </a:moveTo>
                  <a:lnTo>
                    <a:pt x="456819" y="264160"/>
                  </a:lnTo>
                  <a:lnTo>
                    <a:pt x="456819" y="0"/>
                  </a:lnTo>
                  <a:lnTo>
                    <a:pt x="913764" y="528447"/>
                  </a:lnTo>
                  <a:lnTo>
                    <a:pt x="456819" y="1056894"/>
                  </a:lnTo>
                  <a:lnTo>
                    <a:pt x="456819" y="792607"/>
                  </a:lnTo>
                  <a:lnTo>
                    <a:pt x="0" y="792607"/>
                  </a:lnTo>
                  <a:lnTo>
                    <a:pt x="0" y="264160"/>
                  </a:lnTo>
                  <a:close/>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21" name="Google Shape;321;p9"/>
          <p:cNvSpPr/>
          <p:nvPr/>
        </p:nvSpPr>
        <p:spPr>
          <a:xfrm>
            <a:off x="575700" y="2847663"/>
            <a:ext cx="4410075" cy="3629025"/>
          </a:xfrm>
          <a:custGeom>
            <a:rect b="b" l="l" r="r" t="t"/>
            <a:pathLst>
              <a:path extrusionOk="0" h="3629025" w="4410075">
                <a:moveTo>
                  <a:pt x="0" y="604901"/>
                </a:moveTo>
                <a:lnTo>
                  <a:pt x="1816" y="557529"/>
                </a:lnTo>
                <a:lnTo>
                  <a:pt x="7188" y="511301"/>
                </a:lnTo>
                <a:lnTo>
                  <a:pt x="15963" y="466216"/>
                </a:lnTo>
                <a:lnTo>
                  <a:pt x="28016" y="422275"/>
                </a:lnTo>
                <a:lnTo>
                  <a:pt x="43218" y="379857"/>
                </a:lnTo>
                <a:lnTo>
                  <a:pt x="61429" y="338836"/>
                </a:lnTo>
                <a:lnTo>
                  <a:pt x="82511" y="299592"/>
                </a:lnTo>
                <a:lnTo>
                  <a:pt x="106337" y="262127"/>
                </a:lnTo>
                <a:lnTo>
                  <a:pt x="132765" y="226567"/>
                </a:lnTo>
                <a:lnTo>
                  <a:pt x="161670" y="193039"/>
                </a:lnTo>
                <a:lnTo>
                  <a:pt x="192912" y="161798"/>
                </a:lnTo>
                <a:lnTo>
                  <a:pt x="226352" y="132841"/>
                </a:lnTo>
                <a:lnTo>
                  <a:pt x="261861" y="106425"/>
                </a:lnTo>
                <a:lnTo>
                  <a:pt x="299313" y="82550"/>
                </a:lnTo>
                <a:lnTo>
                  <a:pt x="338556" y="61467"/>
                </a:lnTo>
                <a:lnTo>
                  <a:pt x="379475" y="43307"/>
                </a:lnTo>
                <a:lnTo>
                  <a:pt x="421919" y="28066"/>
                </a:lnTo>
                <a:lnTo>
                  <a:pt x="465759" y="16001"/>
                </a:lnTo>
                <a:lnTo>
                  <a:pt x="510870" y="7238"/>
                </a:lnTo>
                <a:lnTo>
                  <a:pt x="557098" y="1777"/>
                </a:lnTo>
                <a:lnTo>
                  <a:pt x="604329" y="0"/>
                </a:lnTo>
                <a:lnTo>
                  <a:pt x="3805301" y="0"/>
                </a:lnTo>
                <a:lnTo>
                  <a:pt x="3852545" y="1777"/>
                </a:lnTo>
                <a:lnTo>
                  <a:pt x="3898773" y="7238"/>
                </a:lnTo>
                <a:lnTo>
                  <a:pt x="3943858" y="16001"/>
                </a:lnTo>
                <a:lnTo>
                  <a:pt x="3987673" y="28066"/>
                </a:lnTo>
                <a:lnTo>
                  <a:pt x="4030091" y="43307"/>
                </a:lnTo>
                <a:lnTo>
                  <a:pt x="4070985" y="61467"/>
                </a:lnTo>
                <a:lnTo>
                  <a:pt x="4110228" y="82550"/>
                </a:lnTo>
                <a:lnTo>
                  <a:pt x="4147692" y="106425"/>
                </a:lnTo>
                <a:lnTo>
                  <a:pt x="4183253" y="132841"/>
                </a:lnTo>
                <a:lnTo>
                  <a:pt x="4216654" y="161798"/>
                </a:lnTo>
                <a:lnTo>
                  <a:pt x="4247896" y="193039"/>
                </a:lnTo>
                <a:lnTo>
                  <a:pt x="4276852" y="226567"/>
                </a:lnTo>
                <a:lnTo>
                  <a:pt x="4303268" y="262127"/>
                </a:lnTo>
                <a:lnTo>
                  <a:pt x="4327144" y="299592"/>
                </a:lnTo>
                <a:lnTo>
                  <a:pt x="4348226" y="338836"/>
                </a:lnTo>
                <a:lnTo>
                  <a:pt x="4366387" y="379857"/>
                </a:lnTo>
                <a:lnTo>
                  <a:pt x="4381627" y="422275"/>
                </a:lnTo>
                <a:lnTo>
                  <a:pt x="4393692" y="466216"/>
                </a:lnTo>
                <a:lnTo>
                  <a:pt x="4402455" y="511301"/>
                </a:lnTo>
                <a:lnTo>
                  <a:pt x="4407789" y="557529"/>
                </a:lnTo>
                <a:lnTo>
                  <a:pt x="4409567" y="604901"/>
                </a:lnTo>
                <a:lnTo>
                  <a:pt x="4409567" y="3024174"/>
                </a:lnTo>
                <a:lnTo>
                  <a:pt x="4407789" y="3071431"/>
                </a:lnTo>
                <a:lnTo>
                  <a:pt x="4402455" y="3117710"/>
                </a:lnTo>
                <a:lnTo>
                  <a:pt x="4393692" y="3162858"/>
                </a:lnTo>
                <a:lnTo>
                  <a:pt x="4381627" y="3206737"/>
                </a:lnTo>
                <a:lnTo>
                  <a:pt x="4366387" y="3249218"/>
                </a:lnTo>
                <a:lnTo>
                  <a:pt x="4348226" y="3290163"/>
                </a:lnTo>
                <a:lnTo>
                  <a:pt x="4327144" y="3329444"/>
                </a:lnTo>
                <a:lnTo>
                  <a:pt x="4303268" y="3366922"/>
                </a:lnTo>
                <a:lnTo>
                  <a:pt x="4276852" y="3402469"/>
                </a:lnTo>
                <a:lnTo>
                  <a:pt x="4247896" y="3435946"/>
                </a:lnTo>
                <a:lnTo>
                  <a:pt x="4216654" y="3467214"/>
                </a:lnTo>
                <a:lnTo>
                  <a:pt x="4183253" y="3496144"/>
                </a:lnTo>
                <a:lnTo>
                  <a:pt x="4147692" y="3522599"/>
                </a:lnTo>
                <a:lnTo>
                  <a:pt x="4110228" y="3546436"/>
                </a:lnTo>
                <a:lnTo>
                  <a:pt x="4070985" y="3567544"/>
                </a:lnTo>
                <a:lnTo>
                  <a:pt x="4030091" y="3585768"/>
                </a:lnTo>
                <a:lnTo>
                  <a:pt x="3987673" y="3600983"/>
                </a:lnTo>
                <a:lnTo>
                  <a:pt x="3943858" y="3613048"/>
                </a:lnTo>
                <a:lnTo>
                  <a:pt x="3898773" y="3621824"/>
                </a:lnTo>
                <a:lnTo>
                  <a:pt x="3852545" y="3627196"/>
                </a:lnTo>
                <a:lnTo>
                  <a:pt x="3805301" y="3629025"/>
                </a:lnTo>
                <a:lnTo>
                  <a:pt x="604329" y="3629025"/>
                </a:lnTo>
                <a:lnTo>
                  <a:pt x="557098" y="3627196"/>
                </a:lnTo>
                <a:lnTo>
                  <a:pt x="510870" y="3621824"/>
                </a:lnTo>
                <a:lnTo>
                  <a:pt x="465759" y="3613048"/>
                </a:lnTo>
                <a:lnTo>
                  <a:pt x="421919" y="3600983"/>
                </a:lnTo>
                <a:lnTo>
                  <a:pt x="379475" y="3585768"/>
                </a:lnTo>
                <a:lnTo>
                  <a:pt x="338556" y="3567544"/>
                </a:lnTo>
                <a:lnTo>
                  <a:pt x="299313" y="3546436"/>
                </a:lnTo>
                <a:lnTo>
                  <a:pt x="261861" y="3522599"/>
                </a:lnTo>
                <a:lnTo>
                  <a:pt x="226352" y="3496144"/>
                </a:lnTo>
                <a:lnTo>
                  <a:pt x="192912" y="3467214"/>
                </a:lnTo>
                <a:lnTo>
                  <a:pt x="161670" y="3435946"/>
                </a:lnTo>
                <a:lnTo>
                  <a:pt x="132765" y="3402469"/>
                </a:lnTo>
                <a:lnTo>
                  <a:pt x="106337" y="3366922"/>
                </a:lnTo>
                <a:lnTo>
                  <a:pt x="82511" y="3329444"/>
                </a:lnTo>
                <a:lnTo>
                  <a:pt x="61429" y="3290163"/>
                </a:lnTo>
                <a:lnTo>
                  <a:pt x="43218" y="3249218"/>
                </a:lnTo>
                <a:lnTo>
                  <a:pt x="28016" y="3206737"/>
                </a:lnTo>
                <a:lnTo>
                  <a:pt x="15963" y="3162858"/>
                </a:lnTo>
                <a:lnTo>
                  <a:pt x="7188" y="3117710"/>
                </a:lnTo>
                <a:lnTo>
                  <a:pt x="1816" y="3071431"/>
                </a:lnTo>
                <a:lnTo>
                  <a:pt x="0" y="3024174"/>
                </a:lnTo>
                <a:lnTo>
                  <a:pt x="0" y="604901"/>
                </a:lnTo>
                <a:close/>
              </a:path>
            </a:pathLst>
          </a:custGeom>
          <a:noFill/>
          <a:ln cap="flat" cmpd="sng" w="19050">
            <a:solidFill>
              <a:srgbClr val="9DC3E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2" name="Google Shape;322;p9"/>
          <p:cNvSpPr/>
          <p:nvPr/>
        </p:nvSpPr>
        <p:spPr>
          <a:xfrm>
            <a:off x="6667500" y="4286250"/>
            <a:ext cx="847090" cy="847090"/>
          </a:xfrm>
          <a:custGeom>
            <a:rect b="b" l="l" r="r" t="t"/>
            <a:pathLst>
              <a:path extrusionOk="0" h="847089" w="847090">
                <a:moveTo>
                  <a:pt x="423545" y="0"/>
                </a:moveTo>
                <a:lnTo>
                  <a:pt x="374142" y="2793"/>
                </a:lnTo>
                <a:lnTo>
                  <a:pt x="326390" y="11175"/>
                </a:lnTo>
                <a:lnTo>
                  <a:pt x="280670" y="24637"/>
                </a:lnTo>
                <a:lnTo>
                  <a:pt x="237235" y="43052"/>
                </a:lnTo>
                <a:lnTo>
                  <a:pt x="196469" y="65912"/>
                </a:lnTo>
                <a:lnTo>
                  <a:pt x="158623" y="93091"/>
                </a:lnTo>
                <a:lnTo>
                  <a:pt x="124078" y="124079"/>
                </a:lnTo>
                <a:lnTo>
                  <a:pt x="93091" y="158623"/>
                </a:lnTo>
                <a:lnTo>
                  <a:pt x="65913" y="196469"/>
                </a:lnTo>
                <a:lnTo>
                  <a:pt x="43052" y="237236"/>
                </a:lnTo>
                <a:lnTo>
                  <a:pt x="24638" y="280669"/>
                </a:lnTo>
                <a:lnTo>
                  <a:pt x="11175" y="326389"/>
                </a:lnTo>
                <a:lnTo>
                  <a:pt x="2794" y="374142"/>
                </a:lnTo>
                <a:lnTo>
                  <a:pt x="0" y="423544"/>
                </a:lnTo>
                <a:lnTo>
                  <a:pt x="2794" y="472948"/>
                </a:lnTo>
                <a:lnTo>
                  <a:pt x="11175" y="520700"/>
                </a:lnTo>
                <a:lnTo>
                  <a:pt x="24638" y="566419"/>
                </a:lnTo>
                <a:lnTo>
                  <a:pt x="43052" y="609854"/>
                </a:lnTo>
                <a:lnTo>
                  <a:pt x="65913" y="650620"/>
                </a:lnTo>
                <a:lnTo>
                  <a:pt x="93091" y="688467"/>
                </a:lnTo>
                <a:lnTo>
                  <a:pt x="124078" y="723011"/>
                </a:lnTo>
                <a:lnTo>
                  <a:pt x="158623" y="754126"/>
                </a:lnTo>
                <a:lnTo>
                  <a:pt x="196469" y="781176"/>
                </a:lnTo>
                <a:lnTo>
                  <a:pt x="237235" y="804037"/>
                </a:lnTo>
                <a:lnTo>
                  <a:pt x="280670" y="822451"/>
                </a:lnTo>
                <a:lnTo>
                  <a:pt x="326390" y="835913"/>
                </a:lnTo>
                <a:lnTo>
                  <a:pt x="374142" y="844295"/>
                </a:lnTo>
                <a:lnTo>
                  <a:pt x="423545" y="847089"/>
                </a:lnTo>
                <a:lnTo>
                  <a:pt x="472948" y="844295"/>
                </a:lnTo>
                <a:lnTo>
                  <a:pt x="520700" y="835913"/>
                </a:lnTo>
                <a:lnTo>
                  <a:pt x="566420" y="822451"/>
                </a:lnTo>
                <a:lnTo>
                  <a:pt x="609853" y="804037"/>
                </a:lnTo>
                <a:lnTo>
                  <a:pt x="650621" y="781176"/>
                </a:lnTo>
                <a:lnTo>
                  <a:pt x="688467" y="754126"/>
                </a:lnTo>
                <a:lnTo>
                  <a:pt x="723010" y="723011"/>
                </a:lnTo>
                <a:lnTo>
                  <a:pt x="754126" y="688467"/>
                </a:lnTo>
                <a:lnTo>
                  <a:pt x="781176" y="650620"/>
                </a:lnTo>
                <a:lnTo>
                  <a:pt x="804036" y="609854"/>
                </a:lnTo>
                <a:lnTo>
                  <a:pt x="822451" y="566419"/>
                </a:lnTo>
                <a:lnTo>
                  <a:pt x="835914" y="520700"/>
                </a:lnTo>
                <a:lnTo>
                  <a:pt x="844296" y="472948"/>
                </a:lnTo>
                <a:lnTo>
                  <a:pt x="847090" y="423544"/>
                </a:lnTo>
                <a:lnTo>
                  <a:pt x="844296" y="374142"/>
                </a:lnTo>
                <a:lnTo>
                  <a:pt x="835914" y="326389"/>
                </a:lnTo>
                <a:lnTo>
                  <a:pt x="822451" y="280669"/>
                </a:lnTo>
                <a:lnTo>
                  <a:pt x="804036" y="237236"/>
                </a:lnTo>
                <a:lnTo>
                  <a:pt x="781176" y="196469"/>
                </a:lnTo>
                <a:lnTo>
                  <a:pt x="754126" y="158623"/>
                </a:lnTo>
                <a:lnTo>
                  <a:pt x="723010" y="124079"/>
                </a:lnTo>
                <a:lnTo>
                  <a:pt x="688467" y="93091"/>
                </a:lnTo>
                <a:lnTo>
                  <a:pt x="650621" y="65912"/>
                </a:lnTo>
                <a:lnTo>
                  <a:pt x="609853" y="43052"/>
                </a:lnTo>
                <a:lnTo>
                  <a:pt x="566420" y="24637"/>
                </a:lnTo>
                <a:lnTo>
                  <a:pt x="520700" y="11175"/>
                </a:lnTo>
                <a:lnTo>
                  <a:pt x="472948" y="2793"/>
                </a:lnTo>
                <a:lnTo>
                  <a:pt x="423545" y="0"/>
                </a:lnTo>
                <a:close/>
              </a:path>
            </a:pathLst>
          </a:custGeom>
          <a:solidFill>
            <a:srgbClr val="5B9BD4">
              <a:alpha val="79607"/>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3" name="Google Shape;323;p9"/>
          <p:cNvSpPr txBox="1"/>
          <p:nvPr/>
        </p:nvSpPr>
        <p:spPr>
          <a:xfrm>
            <a:off x="6703671" y="4543385"/>
            <a:ext cx="847200" cy="4806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800">
                <a:solidFill>
                  <a:srgbClr val="FFFFFF"/>
                </a:solidFill>
                <a:latin typeface="Calibri"/>
                <a:ea typeface="Calibri"/>
                <a:cs typeface="Calibri"/>
                <a:sym typeface="Calibri"/>
              </a:rPr>
              <a:t>Existing</a:t>
            </a:r>
            <a:endParaRPr sz="1800">
              <a:latin typeface="Calibri"/>
              <a:ea typeface="Calibri"/>
              <a:cs typeface="Calibri"/>
              <a:sym typeface="Calibri"/>
            </a:endParaRPr>
          </a:p>
        </p:txBody>
      </p:sp>
      <p:grpSp>
        <p:nvGrpSpPr>
          <p:cNvPr id="324" name="Google Shape;324;p9"/>
          <p:cNvGrpSpPr/>
          <p:nvPr/>
        </p:nvGrpSpPr>
        <p:grpSpPr>
          <a:xfrm>
            <a:off x="6667500" y="3181350"/>
            <a:ext cx="847090" cy="1109725"/>
            <a:chOff x="6667500" y="3181350"/>
            <a:chExt cx="847090" cy="1109725"/>
          </a:xfrm>
        </p:grpSpPr>
        <p:sp>
          <p:nvSpPr>
            <p:cNvPr id="325" name="Google Shape;325;p9"/>
            <p:cNvSpPr/>
            <p:nvPr/>
          </p:nvSpPr>
          <p:spPr>
            <a:xfrm>
              <a:off x="7100951" y="4033900"/>
              <a:ext cx="0" cy="257175"/>
            </a:xfrm>
            <a:custGeom>
              <a:rect b="b" l="l" r="r" t="t"/>
              <a:pathLst>
                <a:path extrusionOk="0" h="257175" w="120000">
                  <a:moveTo>
                    <a:pt x="0" y="257048"/>
                  </a:moveTo>
                  <a:lnTo>
                    <a:pt x="0" y="0"/>
                  </a:lnTo>
                </a:path>
              </a:pathLst>
            </a:custGeom>
            <a:noFill/>
            <a:ln cap="flat" cmpd="sng" w="12700">
              <a:solidFill>
                <a:srgbClr val="79A9D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6" name="Google Shape;326;p9"/>
            <p:cNvSpPr/>
            <p:nvPr/>
          </p:nvSpPr>
          <p:spPr>
            <a:xfrm>
              <a:off x="6667500" y="3181350"/>
              <a:ext cx="847090" cy="847090"/>
            </a:xfrm>
            <a:custGeom>
              <a:rect b="b" l="l" r="r" t="t"/>
              <a:pathLst>
                <a:path extrusionOk="0" h="847089" w="847090">
                  <a:moveTo>
                    <a:pt x="423545" y="0"/>
                  </a:moveTo>
                  <a:lnTo>
                    <a:pt x="374142" y="2794"/>
                  </a:lnTo>
                  <a:lnTo>
                    <a:pt x="326390" y="11175"/>
                  </a:lnTo>
                  <a:lnTo>
                    <a:pt x="280670" y="24637"/>
                  </a:lnTo>
                  <a:lnTo>
                    <a:pt x="237235" y="43052"/>
                  </a:lnTo>
                  <a:lnTo>
                    <a:pt x="196469" y="65912"/>
                  </a:lnTo>
                  <a:lnTo>
                    <a:pt x="158623" y="93090"/>
                  </a:lnTo>
                  <a:lnTo>
                    <a:pt x="124078" y="124078"/>
                  </a:lnTo>
                  <a:lnTo>
                    <a:pt x="93091" y="158623"/>
                  </a:lnTo>
                  <a:lnTo>
                    <a:pt x="65913" y="196469"/>
                  </a:lnTo>
                  <a:lnTo>
                    <a:pt x="43052" y="237236"/>
                  </a:lnTo>
                  <a:lnTo>
                    <a:pt x="24638" y="280670"/>
                  </a:lnTo>
                  <a:lnTo>
                    <a:pt x="11175" y="326389"/>
                  </a:lnTo>
                  <a:lnTo>
                    <a:pt x="2794" y="374141"/>
                  </a:lnTo>
                  <a:lnTo>
                    <a:pt x="0" y="423545"/>
                  </a:lnTo>
                  <a:lnTo>
                    <a:pt x="2794" y="472948"/>
                  </a:lnTo>
                  <a:lnTo>
                    <a:pt x="11175" y="520700"/>
                  </a:lnTo>
                  <a:lnTo>
                    <a:pt x="24638" y="566419"/>
                  </a:lnTo>
                  <a:lnTo>
                    <a:pt x="43052" y="609854"/>
                  </a:lnTo>
                  <a:lnTo>
                    <a:pt x="65913" y="650620"/>
                  </a:lnTo>
                  <a:lnTo>
                    <a:pt x="93091" y="688467"/>
                  </a:lnTo>
                  <a:lnTo>
                    <a:pt x="124078" y="723011"/>
                  </a:lnTo>
                  <a:lnTo>
                    <a:pt x="158623" y="754126"/>
                  </a:lnTo>
                  <a:lnTo>
                    <a:pt x="196469" y="781176"/>
                  </a:lnTo>
                  <a:lnTo>
                    <a:pt x="237235" y="804037"/>
                  </a:lnTo>
                  <a:lnTo>
                    <a:pt x="280670" y="822451"/>
                  </a:lnTo>
                  <a:lnTo>
                    <a:pt x="326390" y="835913"/>
                  </a:lnTo>
                  <a:lnTo>
                    <a:pt x="374142" y="844295"/>
                  </a:lnTo>
                  <a:lnTo>
                    <a:pt x="423545" y="847089"/>
                  </a:lnTo>
                  <a:lnTo>
                    <a:pt x="472948" y="844295"/>
                  </a:lnTo>
                  <a:lnTo>
                    <a:pt x="520700" y="835913"/>
                  </a:lnTo>
                  <a:lnTo>
                    <a:pt x="566420" y="822451"/>
                  </a:lnTo>
                  <a:lnTo>
                    <a:pt x="609853" y="804037"/>
                  </a:lnTo>
                  <a:lnTo>
                    <a:pt x="650621" y="781176"/>
                  </a:lnTo>
                  <a:lnTo>
                    <a:pt x="688467" y="754126"/>
                  </a:lnTo>
                  <a:lnTo>
                    <a:pt x="723010" y="723011"/>
                  </a:lnTo>
                  <a:lnTo>
                    <a:pt x="754126" y="688467"/>
                  </a:lnTo>
                  <a:lnTo>
                    <a:pt x="781176" y="650620"/>
                  </a:lnTo>
                  <a:lnTo>
                    <a:pt x="804036" y="609854"/>
                  </a:lnTo>
                  <a:lnTo>
                    <a:pt x="822451" y="566419"/>
                  </a:lnTo>
                  <a:lnTo>
                    <a:pt x="835914" y="520700"/>
                  </a:lnTo>
                  <a:lnTo>
                    <a:pt x="844296" y="472948"/>
                  </a:lnTo>
                  <a:lnTo>
                    <a:pt x="847090" y="423545"/>
                  </a:lnTo>
                  <a:lnTo>
                    <a:pt x="844296" y="374141"/>
                  </a:lnTo>
                  <a:lnTo>
                    <a:pt x="835914" y="326389"/>
                  </a:lnTo>
                  <a:lnTo>
                    <a:pt x="822451" y="280670"/>
                  </a:lnTo>
                  <a:lnTo>
                    <a:pt x="804036" y="237236"/>
                  </a:lnTo>
                  <a:lnTo>
                    <a:pt x="781176" y="196469"/>
                  </a:lnTo>
                  <a:lnTo>
                    <a:pt x="754126" y="158623"/>
                  </a:lnTo>
                  <a:lnTo>
                    <a:pt x="723010" y="124078"/>
                  </a:lnTo>
                  <a:lnTo>
                    <a:pt x="688467" y="93090"/>
                  </a:lnTo>
                  <a:lnTo>
                    <a:pt x="650621" y="65912"/>
                  </a:lnTo>
                  <a:lnTo>
                    <a:pt x="609853" y="43052"/>
                  </a:lnTo>
                  <a:lnTo>
                    <a:pt x="566420" y="24637"/>
                  </a:lnTo>
                  <a:lnTo>
                    <a:pt x="520700" y="11175"/>
                  </a:lnTo>
                  <a:lnTo>
                    <a:pt x="472948" y="2794"/>
                  </a:lnTo>
                  <a:lnTo>
                    <a:pt x="423545" y="0"/>
                  </a:lnTo>
                  <a:close/>
                </a:path>
              </a:pathLst>
            </a:custGeom>
            <a:solidFill>
              <a:srgbClr val="5B9BD4">
                <a:alpha val="8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7" name="Google Shape;327;p9"/>
            <p:cNvSpPr/>
            <p:nvPr/>
          </p:nvSpPr>
          <p:spPr>
            <a:xfrm>
              <a:off x="6667500" y="3181350"/>
              <a:ext cx="847090" cy="847090"/>
            </a:xfrm>
            <a:custGeom>
              <a:rect b="b" l="l" r="r" t="t"/>
              <a:pathLst>
                <a:path extrusionOk="0" h="847089" w="847090">
                  <a:moveTo>
                    <a:pt x="0" y="423545"/>
                  </a:moveTo>
                  <a:lnTo>
                    <a:pt x="2794" y="374141"/>
                  </a:lnTo>
                  <a:lnTo>
                    <a:pt x="11175" y="326389"/>
                  </a:lnTo>
                  <a:lnTo>
                    <a:pt x="24638" y="280670"/>
                  </a:lnTo>
                  <a:lnTo>
                    <a:pt x="43052" y="237236"/>
                  </a:lnTo>
                  <a:lnTo>
                    <a:pt x="65913" y="196469"/>
                  </a:lnTo>
                  <a:lnTo>
                    <a:pt x="93091" y="158623"/>
                  </a:lnTo>
                  <a:lnTo>
                    <a:pt x="124078" y="124078"/>
                  </a:lnTo>
                  <a:lnTo>
                    <a:pt x="158623" y="93090"/>
                  </a:lnTo>
                  <a:lnTo>
                    <a:pt x="196469" y="65912"/>
                  </a:lnTo>
                  <a:lnTo>
                    <a:pt x="237235" y="43052"/>
                  </a:lnTo>
                  <a:lnTo>
                    <a:pt x="280670" y="24637"/>
                  </a:lnTo>
                  <a:lnTo>
                    <a:pt x="326390" y="11175"/>
                  </a:lnTo>
                  <a:lnTo>
                    <a:pt x="374142" y="2794"/>
                  </a:lnTo>
                  <a:lnTo>
                    <a:pt x="423545" y="0"/>
                  </a:lnTo>
                  <a:lnTo>
                    <a:pt x="472948" y="2794"/>
                  </a:lnTo>
                  <a:lnTo>
                    <a:pt x="520700" y="11175"/>
                  </a:lnTo>
                  <a:lnTo>
                    <a:pt x="566420" y="24637"/>
                  </a:lnTo>
                  <a:lnTo>
                    <a:pt x="609853" y="43052"/>
                  </a:lnTo>
                  <a:lnTo>
                    <a:pt x="650621" y="65912"/>
                  </a:lnTo>
                  <a:lnTo>
                    <a:pt x="688467" y="93090"/>
                  </a:lnTo>
                  <a:lnTo>
                    <a:pt x="723010" y="124078"/>
                  </a:lnTo>
                  <a:lnTo>
                    <a:pt x="754126" y="158623"/>
                  </a:lnTo>
                  <a:lnTo>
                    <a:pt x="781176" y="196469"/>
                  </a:lnTo>
                  <a:lnTo>
                    <a:pt x="804036" y="237236"/>
                  </a:lnTo>
                  <a:lnTo>
                    <a:pt x="822451" y="280670"/>
                  </a:lnTo>
                  <a:lnTo>
                    <a:pt x="835914" y="326389"/>
                  </a:lnTo>
                  <a:lnTo>
                    <a:pt x="844296" y="374141"/>
                  </a:lnTo>
                  <a:lnTo>
                    <a:pt x="847090" y="423545"/>
                  </a:lnTo>
                  <a:lnTo>
                    <a:pt x="844296" y="472948"/>
                  </a:lnTo>
                  <a:lnTo>
                    <a:pt x="835914" y="520700"/>
                  </a:lnTo>
                  <a:lnTo>
                    <a:pt x="822451" y="566419"/>
                  </a:lnTo>
                  <a:lnTo>
                    <a:pt x="804036" y="609854"/>
                  </a:lnTo>
                  <a:lnTo>
                    <a:pt x="781176" y="650620"/>
                  </a:lnTo>
                  <a:lnTo>
                    <a:pt x="754126" y="688467"/>
                  </a:lnTo>
                  <a:lnTo>
                    <a:pt x="723010" y="723011"/>
                  </a:lnTo>
                  <a:lnTo>
                    <a:pt x="688467" y="754126"/>
                  </a:lnTo>
                  <a:lnTo>
                    <a:pt x="650621" y="781176"/>
                  </a:lnTo>
                  <a:lnTo>
                    <a:pt x="609853" y="804037"/>
                  </a:lnTo>
                  <a:lnTo>
                    <a:pt x="566420" y="822451"/>
                  </a:lnTo>
                  <a:lnTo>
                    <a:pt x="520700" y="835913"/>
                  </a:lnTo>
                  <a:lnTo>
                    <a:pt x="472948" y="844295"/>
                  </a:lnTo>
                  <a:lnTo>
                    <a:pt x="423545" y="847089"/>
                  </a:lnTo>
                  <a:lnTo>
                    <a:pt x="374142" y="844295"/>
                  </a:lnTo>
                  <a:lnTo>
                    <a:pt x="326390" y="835913"/>
                  </a:lnTo>
                  <a:lnTo>
                    <a:pt x="280670" y="822451"/>
                  </a:lnTo>
                  <a:lnTo>
                    <a:pt x="237235" y="804037"/>
                  </a:lnTo>
                  <a:lnTo>
                    <a:pt x="196469" y="781176"/>
                  </a:lnTo>
                  <a:lnTo>
                    <a:pt x="158623" y="754126"/>
                  </a:lnTo>
                  <a:lnTo>
                    <a:pt x="124078" y="723011"/>
                  </a:lnTo>
                  <a:lnTo>
                    <a:pt x="93091" y="688467"/>
                  </a:lnTo>
                  <a:lnTo>
                    <a:pt x="65913" y="650620"/>
                  </a:lnTo>
                  <a:lnTo>
                    <a:pt x="43052" y="609854"/>
                  </a:lnTo>
                  <a:lnTo>
                    <a:pt x="24638" y="566419"/>
                  </a:lnTo>
                  <a:lnTo>
                    <a:pt x="11175" y="520700"/>
                  </a:lnTo>
                  <a:lnTo>
                    <a:pt x="2794" y="472948"/>
                  </a:lnTo>
                  <a:lnTo>
                    <a:pt x="0" y="423545"/>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28" name="Google Shape;328;p9"/>
          <p:cNvSpPr txBox="1"/>
          <p:nvPr/>
        </p:nvSpPr>
        <p:spPr>
          <a:xfrm>
            <a:off x="6807200" y="3378200"/>
            <a:ext cx="577850" cy="35814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2000">
                <a:solidFill>
                  <a:srgbClr val="FFFFFF"/>
                </a:solidFill>
                <a:latin typeface="Calibri"/>
                <a:ea typeface="Calibri"/>
                <a:cs typeface="Calibri"/>
                <a:sym typeface="Calibri"/>
              </a:rPr>
              <a:t>New</a:t>
            </a:r>
            <a:endParaRPr sz="2000">
              <a:latin typeface="Calibri"/>
              <a:ea typeface="Calibri"/>
              <a:cs typeface="Calibri"/>
              <a:sym typeface="Calibri"/>
            </a:endParaRPr>
          </a:p>
        </p:txBody>
      </p:sp>
      <p:grpSp>
        <p:nvGrpSpPr>
          <p:cNvPr id="329" name="Google Shape;329;p9"/>
          <p:cNvGrpSpPr/>
          <p:nvPr/>
        </p:nvGrpSpPr>
        <p:grpSpPr>
          <a:xfrm>
            <a:off x="6667500" y="5138801"/>
            <a:ext cx="847090" cy="1100074"/>
            <a:chOff x="6667500" y="5138801"/>
            <a:chExt cx="847090" cy="1100074"/>
          </a:xfrm>
        </p:grpSpPr>
        <p:sp>
          <p:nvSpPr>
            <p:cNvPr id="330" name="Google Shape;330;p9"/>
            <p:cNvSpPr/>
            <p:nvPr/>
          </p:nvSpPr>
          <p:spPr>
            <a:xfrm>
              <a:off x="7100951" y="5138801"/>
              <a:ext cx="0" cy="257175"/>
            </a:xfrm>
            <a:custGeom>
              <a:rect b="b" l="l" r="r" t="t"/>
              <a:pathLst>
                <a:path extrusionOk="0" h="257175" w="120000">
                  <a:moveTo>
                    <a:pt x="0" y="0"/>
                  </a:moveTo>
                  <a:lnTo>
                    <a:pt x="0" y="257048"/>
                  </a:lnTo>
                </a:path>
              </a:pathLst>
            </a:custGeom>
            <a:noFill/>
            <a:ln cap="flat" cmpd="sng" w="12700">
              <a:solidFill>
                <a:srgbClr val="79A9D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1" name="Google Shape;331;p9"/>
            <p:cNvSpPr/>
            <p:nvPr/>
          </p:nvSpPr>
          <p:spPr>
            <a:xfrm>
              <a:off x="6667500" y="5391150"/>
              <a:ext cx="847090" cy="847725"/>
            </a:xfrm>
            <a:custGeom>
              <a:rect b="b" l="l" r="r" t="t"/>
              <a:pathLst>
                <a:path extrusionOk="0" h="847725" w="847090">
                  <a:moveTo>
                    <a:pt x="423545" y="0"/>
                  </a:moveTo>
                  <a:lnTo>
                    <a:pt x="374142" y="2793"/>
                  </a:lnTo>
                  <a:lnTo>
                    <a:pt x="326390" y="11175"/>
                  </a:lnTo>
                  <a:lnTo>
                    <a:pt x="280670" y="24637"/>
                  </a:lnTo>
                  <a:lnTo>
                    <a:pt x="237235" y="43053"/>
                  </a:lnTo>
                  <a:lnTo>
                    <a:pt x="196469" y="65912"/>
                  </a:lnTo>
                  <a:lnTo>
                    <a:pt x="158623" y="93090"/>
                  </a:lnTo>
                  <a:lnTo>
                    <a:pt x="124078" y="124078"/>
                  </a:lnTo>
                  <a:lnTo>
                    <a:pt x="93091" y="158622"/>
                  </a:lnTo>
                  <a:lnTo>
                    <a:pt x="65913" y="196469"/>
                  </a:lnTo>
                  <a:lnTo>
                    <a:pt x="43052" y="237286"/>
                  </a:lnTo>
                  <a:lnTo>
                    <a:pt x="24638" y="280708"/>
                  </a:lnTo>
                  <a:lnTo>
                    <a:pt x="11175" y="326440"/>
                  </a:lnTo>
                  <a:lnTo>
                    <a:pt x="2794" y="374167"/>
                  </a:lnTo>
                  <a:lnTo>
                    <a:pt x="0" y="423557"/>
                  </a:lnTo>
                  <a:lnTo>
                    <a:pt x="2794" y="472960"/>
                  </a:lnTo>
                  <a:lnTo>
                    <a:pt x="11175" y="520687"/>
                  </a:lnTo>
                  <a:lnTo>
                    <a:pt x="24638" y="566407"/>
                  </a:lnTo>
                  <a:lnTo>
                    <a:pt x="43052" y="609828"/>
                  </a:lnTo>
                  <a:lnTo>
                    <a:pt x="65913" y="650633"/>
                  </a:lnTo>
                  <a:lnTo>
                    <a:pt x="93091" y="688479"/>
                  </a:lnTo>
                  <a:lnTo>
                    <a:pt x="124078" y="723061"/>
                  </a:lnTo>
                  <a:lnTo>
                    <a:pt x="158623" y="754075"/>
                  </a:lnTo>
                  <a:lnTo>
                    <a:pt x="196469" y="781177"/>
                  </a:lnTo>
                  <a:lnTo>
                    <a:pt x="237235" y="804075"/>
                  </a:lnTo>
                  <a:lnTo>
                    <a:pt x="280670" y="822426"/>
                  </a:lnTo>
                  <a:lnTo>
                    <a:pt x="326390" y="835939"/>
                  </a:lnTo>
                  <a:lnTo>
                    <a:pt x="374142" y="844270"/>
                  </a:lnTo>
                  <a:lnTo>
                    <a:pt x="423545" y="847128"/>
                  </a:lnTo>
                  <a:lnTo>
                    <a:pt x="472948" y="844270"/>
                  </a:lnTo>
                  <a:lnTo>
                    <a:pt x="520700" y="835939"/>
                  </a:lnTo>
                  <a:lnTo>
                    <a:pt x="566420" y="822426"/>
                  </a:lnTo>
                  <a:lnTo>
                    <a:pt x="609853" y="804075"/>
                  </a:lnTo>
                  <a:lnTo>
                    <a:pt x="650621" y="781177"/>
                  </a:lnTo>
                  <a:lnTo>
                    <a:pt x="688467" y="754075"/>
                  </a:lnTo>
                  <a:lnTo>
                    <a:pt x="723010" y="723061"/>
                  </a:lnTo>
                  <a:lnTo>
                    <a:pt x="754126" y="688479"/>
                  </a:lnTo>
                  <a:lnTo>
                    <a:pt x="781176" y="650633"/>
                  </a:lnTo>
                  <a:lnTo>
                    <a:pt x="804036" y="609828"/>
                  </a:lnTo>
                  <a:lnTo>
                    <a:pt x="822451" y="566407"/>
                  </a:lnTo>
                  <a:lnTo>
                    <a:pt x="835914" y="520687"/>
                  </a:lnTo>
                  <a:lnTo>
                    <a:pt x="844296" y="472960"/>
                  </a:lnTo>
                  <a:lnTo>
                    <a:pt x="847090" y="423557"/>
                  </a:lnTo>
                  <a:lnTo>
                    <a:pt x="844296" y="374167"/>
                  </a:lnTo>
                  <a:lnTo>
                    <a:pt x="835914" y="326440"/>
                  </a:lnTo>
                  <a:lnTo>
                    <a:pt x="822451" y="280708"/>
                  </a:lnTo>
                  <a:lnTo>
                    <a:pt x="804036" y="237286"/>
                  </a:lnTo>
                  <a:lnTo>
                    <a:pt x="781176" y="196469"/>
                  </a:lnTo>
                  <a:lnTo>
                    <a:pt x="754126" y="158622"/>
                  </a:lnTo>
                  <a:lnTo>
                    <a:pt x="723010" y="124078"/>
                  </a:lnTo>
                  <a:lnTo>
                    <a:pt x="688467" y="93090"/>
                  </a:lnTo>
                  <a:lnTo>
                    <a:pt x="650621" y="65912"/>
                  </a:lnTo>
                  <a:lnTo>
                    <a:pt x="609853" y="43053"/>
                  </a:lnTo>
                  <a:lnTo>
                    <a:pt x="566420" y="24637"/>
                  </a:lnTo>
                  <a:lnTo>
                    <a:pt x="520700" y="11175"/>
                  </a:lnTo>
                  <a:lnTo>
                    <a:pt x="472948" y="2793"/>
                  </a:lnTo>
                  <a:lnTo>
                    <a:pt x="423545" y="0"/>
                  </a:lnTo>
                  <a:close/>
                </a:path>
              </a:pathLst>
            </a:custGeom>
            <a:solidFill>
              <a:srgbClr val="5B9BD4">
                <a:alpha val="4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2" name="Google Shape;332;p9"/>
            <p:cNvSpPr/>
            <p:nvPr/>
          </p:nvSpPr>
          <p:spPr>
            <a:xfrm>
              <a:off x="6667500" y="5391150"/>
              <a:ext cx="847090" cy="847725"/>
            </a:xfrm>
            <a:custGeom>
              <a:rect b="b" l="l" r="r" t="t"/>
              <a:pathLst>
                <a:path extrusionOk="0" h="847725" w="847090">
                  <a:moveTo>
                    <a:pt x="0" y="423557"/>
                  </a:moveTo>
                  <a:lnTo>
                    <a:pt x="2794" y="374167"/>
                  </a:lnTo>
                  <a:lnTo>
                    <a:pt x="11175" y="326440"/>
                  </a:lnTo>
                  <a:lnTo>
                    <a:pt x="24638" y="280708"/>
                  </a:lnTo>
                  <a:lnTo>
                    <a:pt x="43052" y="237286"/>
                  </a:lnTo>
                  <a:lnTo>
                    <a:pt x="65913" y="196469"/>
                  </a:lnTo>
                  <a:lnTo>
                    <a:pt x="93091" y="158622"/>
                  </a:lnTo>
                  <a:lnTo>
                    <a:pt x="124078" y="124078"/>
                  </a:lnTo>
                  <a:lnTo>
                    <a:pt x="158623" y="93090"/>
                  </a:lnTo>
                  <a:lnTo>
                    <a:pt x="196469" y="65912"/>
                  </a:lnTo>
                  <a:lnTo>
                    <a:pt x="237235" y="43053"/>
                  </a:lnTo>
                  <a:lnTo>
                    <a:pt x="280670" y="24637"/>
                  </a:lnTo>
                  <a:lnTo>
                    <a:pt x="326390" y="11175"/>
                  </a:lnTo>
                  <a:lnTo>
                    <a:pt x="374142" y="2793"/>
                  </a:lnTo>
                  <a:lnTo>
                    <a:pt x="423545" y="0"/>
                  </a:lnTo>
                  <a:lnTo>
                    <a:pt x="472948" y="2793"/>
                  </a:lnTo>
                  <a:lnTo>
                    <a:pt x="520700" y="11175"/>
                  </a:lnTo>
                  <a:lnTo>
                    <a:pt x="566420" y="24637"/>
                  </a:lnTo>
                  <a:lnTo>
                    <a:pt x="609853" y="43053"/>
                  </a:lnTo>
                  <a:lnTo>
                    <a:pt x="650621" y="65912"/>
                  </a:lnTo>
                  <a:lnTo>
                    <a:pt x="688467" y="93090"/>
                  </a:lnTo>
                  <a:lnTo>
                    <a:pt x="723010" y="124078"/>
                  </a:lnTo>
                  <a:lnTo>
                    <a:pt x="754126" y="158622"/>
                  </a:lnTo>
                  <a:lnTo>
                    <a:pt x="781176" y="196469"/>
                  </a:lnTo>
                  <a:lnTo>
                    <a:pt x="804036" y="237286"/>
                  </a:lnTo>
                  <a:lnTo>
                    <a:pt x="822451" y="280708"/>
                  </a:lnTo>
                  <a:lnTo>
                    <a:pt x="835914" y="326440"/>
                  </a:lnTo>
                  <a:lnTo>
                    <a:pt x="844296" y="374167"/>
                  </a:lnTo>
                  <a:lnTo>
                    <a:pt x="847090" y="423557"/>
                  </a:lnTo>
                  <a:lnTo>
                    <a:pt x="844296" y="472960"/>
                  </a:lnTo>
                  <a:lnTo>
                    <a:pt x="835914" y="520687"/>
                  </a:lnTo>
                  <a:lnTo>
                    <a:pt x="822451" y="566407"/>
                  </a:lnTo>
                  <a:lnTo>
                    <a:pt x="804036" y="609828"/>
                  </a:lnTo>
                  <a:lnTo>
                    <a:pt x="781176" y="650633"/>
                  </a:lnTo>
                  <a:lnTo>
                    <a:pt x="754126" y="688479"/>
                  </a:lnTo>
                  <a:lnTo>
                    <a:pt x="723010" y="723061"/>
                  </a:lnTo>
                  <a:lnTo>
                    <a:pt x="688467" y="754075"/>
                  </a:lnTo>
                  <a:lnTo>
                    <a:pt x="650621" y="781177"/>
                  </a:lnTo>
                  <a:lnTo>
                    <a:pt x="609853" y="804075"/>
                  </a:lnTo>
                  <a:lnTo>
                    <a:pt x="566420" y="822426"/>
                  </a:lnTo>
                  <a:lnTo>
                    <a:pt x="520700" y="835939"/>
                  </a:lnTo>
                  <a:lnTo>
                    <a:pt x="472948" y="844270"/>
                  </a:lnTo>
                  <a:lnTo>
                    <a:pt x="423545" y="847128"/>
                  </a:lnTo>
                  <a:lnTo>
                    <a:pt x="374142" y="844270"/>
                  </a:lnTo>
                  <a:lnTo>
                    <a:pt x="326390" y="835939"/>
                  </a:lnTo>
                  <a:lnTo>
                    <a:pt x="280670" y="822426"/>
                  </a:lnTo>
                  <a:lnTo>
                    <a:pt x="237235" y="804075"/>
                  </a:lnTo>
                  <a:lnTo>
                    <a:pt x="196469" y="781177"/>
                  </a:lnTo>
                  <a:lnTo>
                    <a:pt x="158623" y="754075"/>
                  </a:lnTo>
                  <a:lnTo>
                    <a:pt x="124078" y="723061"/>
                  </a:lnTo>
                  <a:lnTo>
                    <a:pt x="93091" y="688479"/>
                  </a:lnTo>
                  <a:lnTo>
                    <a:pt x="65913" y="650633"/>
                  </a:lnTo>
                  <a:lnTo>
                    <a:pt x="43052" y="609828"/>
                  </a:lnTo>
                  <a:lnTo>
                    <a:pt x="24638" y="566407"/>
                  </a:lnTo>
                  <a:lnTo>
                    <a:pt x="11175" y="520687"/>
                  </a:lnTo>
                  <a:lnTo>
                    <a:pt x="2794" y="472960"/>
                  </a:lnTo>
                  <a:lnTo>
                    <a:pt x="0" y="423557"/>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33" name="Google Shape;333;p9"/>
          <p:cNvSpPr txBox="1"/>
          <p:nvPr/>
        </p:nvSpPr>
        <p:spPr>
          <a:xfrm>
            <a:off x="6831314" y="5551829"/>
            <a:ext cx="577800" cy="3582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1600">
                <a:solidFill>
                  <a:srgbClr val="FFFFFF"/>
                </a:solidFill>
                <a:latin typeface="Calibri"/>
                <a:ea typeface="Calibri"/>
                <a:cs typeface="Calibri"/>
                <a:sym typeface="Calibri"/>
              </a:rPr>
              <a:t>Long-</a:t>
            </a:r>
            <a:br>
              <a:rPr lang="en-US" sz="1600">
                <a:solidFill>
                  <a:srgbClr val="FFFFFF"/>
                </a:solidFill>
                <a:latin typeface="Calibri"/>
                <a:ea typeface="Calibri"/>
                <a:cs typeface="Calibri"/>
                <a:sym typeface="Calibri"/>
              </a:rPr>
            </a:br>
            <a:r>
              <a:rPr lang="en-US" sz="1600">
                <a:solidFill>
                  <a:srgbClr val="FFFFFF"/>
                </a:solidFill>
                <a:latin typeface="Calibri"/>
                <a:ea typeface="Calibri"/>
                <a:cs typeface="Calibri"/>
                <a:sym typeface="Calibri"/>
              </a:rPr>
              <a:t>term</a:t>
            </a:r>
            <a:endParaRPr sz="1600">
              <a:latin typeface="Calibri"/>
              <a:ea typeface="Calibri"/>
              <a:cs typeface="Calibri"/>
              <a:sym typeface="Calibri"/>
            </a:endParaRPr>
          </a:p>
        </p:txBody>
      </p:sp>
      <p:sp>
        <p:nvSpPr>
          <p:cNvPr id="334" name="Google Shape;334;p9"/>
          <p:cNvSpPr/>
          <p:nvPr/>
        </p:nvSpPr>
        <p:spPr>
          <a:xfrm>
            <a:off x="6448425" y="2945638"/>
            <a:ext cx="5432679" cy="3629025"/>
          </a:xfrm>
          <a:custGeom>
            <a:rect b="b" l="l" r="r" t="t"/>
            <a:pathLst>
              <a:path extrusionOk="0" h="3629025" w="5543550">
                <a:moveTo>
                  <a:pt x="0" y="604901"/>
                </a:moveTo>
                <a:lnTo>
                  <a:pt x="1777" y="557529"/>
                </a:lnTo>
                <a:lnTo>
                  <a:pt x="7238" y="511301"/>
                </a:lnTo>
                <a:lnTo>
                  <a:pt x="16001" y="466216"/>
                </a:lnTo>
                <a:lnTo>
                  <a:pt x="28066" y="422275"/>
                </a:lnTo>
                <a:lnTo>
                  <a:pt x="43179" y="379857"/>
                </a:lnTo>
                <a:lnTo>
                  <a:pt x="61468" y="338836"/>
                </a:lnTo>
                <a:lnTo>
                  <a:pt x="82550" y="299592"/>
                </a:lnTo>
                <a:lnTo>
                  <a:pt x="106299" y="262127"/>
                </a:lnTo>
                <a:lnTo>
                  <a:pt x="132715" y="226567"/>
                </a:lnTo>
                <a:lnTo>
                  <a:pt x="161671" y="193039"/>
                </a:lnTo>
                <a:lnTo>
                  <a:pt x="192913" y="161798"/>
                </a:lnTo>
                <a:lnTo>
                  <a:pt x="226314" y="132841"/>
                </a:lnTo>
                <a:lnTo>
                  <a:pt x="261874" y="106425"/>
                </a:lnTo>
                <a:lnTo>
                  <a:pt x="299211" y="82550"/>
                </a:lnTo>
                <a:lnTo>
                  <a:pt x="338454" y="61467"/>
                </a:lnTo>
                <a:lnTo>
                  <a:pt x="379349" y="43307"/>
                </a:lnTo>
                <a:lnTo>
                  <a:pt x="421894" y="28066"/>
                </a:lnTo>
                <a:lnTo>
                  <a:pt x="465708" y="16001"/>
                </a:lnTo>
                <a:lnTo>
                  <a:pt x="510794" y="7238"/>
                </a:lnTo>
                <a:lnTo>
                  <a:pt x="557022" y="1777"/>
                </a:lnTo>
                <a:lnTo>
                  <a:pt x="604266" y="0"/>
                </a:lnTo>
                <a:lnTo>
                  <a:pt x="4938903" y="0"/>
                </a:lnTo>
                <a:lnTo>
                  <a:pt x="4986147" y="1777"/>
                </a:lnTo>
                <a:lnTo>
                  <a:pt x="5032375" y="7238"/>
                </a:lnTo>
                <a:lnTo>
                  <a:pt x="5077459" y="16001"/>
                </a:lnTo>
                <a:lnTo>
                  <a:pt x="5121275" y="28066"/>
                </a:lnTo>
                <a:lnTo>
                  <a:pt x="5163693" y="43307"/>
                </a:lnTo>
                <a:lnTo>
                  <a:pt x="5204586" y="61467"/>
                </a:lnTo>
                <a:lnTo>
                  <a:pt x="5243830" y="82550"/>
                </a:lnTo>
                <a:lnTo>
                  <a:pt x="5281295" y="106425"/>
                </a:lnTo>
                <a:lnTo>
                  <a:pt x="5316855" y="132841"/>
                </a:lnTo>
                <a:lnTo>
                  <a:pt x="5350256" y="161798"/>
                </a:lnTo>
                <a:lnTo>
                  <a:pt x="5381498" y="193039"/>
                </a:lnTo>
                <a:lnTo>
                  <a:pt x="5410327" y="226567"/>
                </a:lnTo>
                <a:lnTo>
                  <a:pt x="5436743" y="262127"/>
                </a:lnTo>
                <a:lnTo>
                  <a:pt x="5460619" y="299592"/>
                </a:lnTo>
                <a:lnTo>
                  <a:pt x="5481701" y="338836"/>
                </a:lnTo>
                <a:lnTo>
                  <a:pt x="5499861" y="379857"/>
                </a:lnTo>
                <a:lnTo>
                  <a:pt x="5515102" y="422275"/>
                </a:lnTo>
                <a:lnTo>
                  <a:pt x="5527167" y="466216"/>
                </a:lnTo>
                <a:lnTo>
                  <a:pt x="5535930" y="511301"/>
                </a:lnTo>
                <a:lnTo>
                  <a:pt x="5541264" y="557529"/>
                </a:lnTo>
                <a:lnTo>
                  <a:pt x="5543169" y="604901"/>
                </a:lnTo>
                <a:lnTo>
                  <a:pt x="5543169" y="3024174"/>
                </a:lnTo>
                <a:lnTo>
                  <a:pt x="5541264" y="3071444"/>
                </a:lnTo>
                <a:lnTo>
                  <a:pt x="5535930" y="3117710"/>
                </a:lnTo>
                <a:lnTo>
                  <a:pt x="5527167" y="3162858"/>
                </a:lnTo>
                <a:lnTo>
                  <a:pt x="5515102" y="3206737"/>
                </a:lnTo>
                <a:lnTo>
                  <a:pt x="5499861" y="3249218"/>
                </a:lnTo>
                <a:lnTo>
                  <a:pt x="5481701" y="3290163"/>
                </a:lnTo>
                <a:lnTo>
                  <a:pt x="5460619" y="3329444"/>
                </a:lnTo>
                <a:lnTo>
                  <a:pt x="5436743" y="3366935"/>
                </a:lnTo>
                <a:lnTo>
                  <a:pt x="5410327" y="3402469"/>
                </a:lnTo>
                <a:lnTo>
                  <a:pt x="5381498" y="3435946"/>
                </a:lnTo>
                <a:lnTo>
                  <a:pt x="5350256" y="3467214"/>
                </a:lnTo>
                <a:lnTo>
                  <a:pt x="5316855" y="3496144"/>
                </a:lnTo>
                <a:lnTo>
                  <a:pt x="5281295" y="3522599"/>
                </a:lnTo>
                <a:lnTo>
                  <a:pt x="5243830" y="3546436"/>
                </a:lnTo>
                <a:lnTo>
                  <a:pt x="5204586" y="3567544"/>
                </a:lnTo>
                <a:lnTo>
                  <a:pt x="5163693" y="3585768"/>
                </a:lnTo>
                <a:lnTo>
                  <a:pt x="5121275" y="3600983"/>
                </a:lnTo>
                <a:lnTo>
                  <a:pt x="5077459" y="3613048"/>
                </a:lnTo>
                <a:lnTo>
                  <a:pt x="5032375" y="3621836"/>
                </a:lnTo>
                <a:lnTo>
                  <a:pt x="4986147" y="3627196"/>
                </a:lnTo>
                <a:lnTo>
                  <a:pt x="4938903" y="3629025"/>
                </a:lnTo>
                <a:lnTo>
                  <a:pt x="604266" y="3629025"/>
                </a:lnTo>
                <a:lnTo>
                  <a:pt x="557022" y="3627196"/>
                </a:lnTo>
                <a:lnTo>
                  <a:pt x="510794" y="3621836"/>
                </a:lnTo>
                <a:lnTo>
                  <a:pt x="465708" y="3613048"/>
                </a:lnTo>
                <a:lnTo>
                  <a:pt x="421894" y="3600983"/>
                </a:lnTo>
                <a:lnTo>
                  <a:pt x="379349" y="3585768"/>
                </a:lnTo>
                <a:lnTo>
                  <a:pt x="338454" y="3567544"/>
                </a:lnTo>
                <a:lnTo>
                  <a:pt x="299211" y="3546436"/>
                </a:lnTo>
                <a:lnTo>
                  <a:pt x="261874" y="3522599"/>
                </a:lnTo>
                <a:lnTo>
                  <a:pt x="226314" y="3496144"/>
                </a:lnTo>
                <a:lnTo>
                  <a:pt x="192913" y="3467214"/>
                </a:lnTo>
                <a:lnTo>
                  <a:pt x="161671" y="3435946"/>
                </a:lnTo>
                <a:lnTo>
                  <a:pt x="132715" y="3402469"/>
                </a:lnTo>
                <a:lnTo>
                  <a:pt x="106299" y="3366935"/>
                </a:lnTo>
                <a:lnTo>
                  <a:pt x="82550" y="3329444"/>
                </a:lnTo>
                <a:lnTo>
                  <a:pt x="61468" y="3290163"/>
                </a:lnTo>
                <a:lnTo>
                  <a:pt x="43179" y="3249218"/>
                </a:lnTo>
                <a:lnTo>
                  <a:pt x="28066" y="3206737"/>
                </a:lnTo>
                <a:lnTo>
                  <a:pt x="16001" y="3162858"/>
                </a:lnTo>
                <a:lnTo>
                  <a:pt x="7238" y="3117710"/>
                </a:lnTo>
                <a:lnTo>
                  <a:pt x="1777" y="3071444"/>
                </a:lnTo>
                <a:lnTo>
                  <a:pt x="0" y="3024174"/>
                </a:lnTo>
                <a:lnTo>
                  <a:pt x="0" y="604901"/>
                </a:lnTo>
                <a:close/>
              </a:path>
            </a:pathLst>
          </a:custGeom>
          <a:noFill/>
          <a:ln cap="flat" cmpd="sng" w="19025">
            <a:solidFill>
              <a:srgbClr val="00AFE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335" name="Google Shape;335;p9"/>
          <p:cNvGrpSpPr/>
          <p:nvPr/>
        </p:nvGrpSpPr>
        <p:grpSpPr>
          <a:xfrm>
            <a:off x="1628775" y="2019300"/>
            <a:ext cx="2452116" cy="480441"/>
            <a:chOff x="1628775" y="2019300"/>
            <a:chExt cx="2452116" cy="480441"/>
          </a:xfrm>
        </p:grpSpPr>
        <p:sp>
          <p:nvSpPr>
            <p:cNvPr id="336" name="Google Shape;336;p9"/>
            <p:cNvSpPr/>
            <p:nvPr/>
          </p:nvSpPr>
          <p:spPr>
            <a:xfrm>
              <a:off x="1628775" y="2019300"/>
              <a:ext cx="2447925" cy="476250"/>
            </a:xfrm>
            <a:custGeom>
              <a:rect b="b" l="l" r="r" t="t"/>
              <a:pathLst>
                <a:path extrusionOk="0" h="476250" w="2447925">
                  <a:moveTo>
                    <a:pt x="2208022" y="0"/>
                  </a:moveTo>
                  <a:lnTo>
                    <a:pt x="0" y="0"/>
                  </a:lnTo>
                  <a:lnTo>
                    <a:pt x="239268" y="237871"/>
                  </a:lnTo>
                  <a:lnTo>
                    <a:pt x="0" y="475741"/>
                  </a:lnTo>
                  <a:lnTo>
                    <a:pt x="2208022" y="475741"/>
                  </a:lnTo>
                  <a:lnTo>
                    <a:pt x="2447416" y="237871"/>
                  </a:lnTo>
                  <a:lnTo>
                    <a:pt x="2208022" y="0"/>
                  </a:lnTo>
                  <a:close/>
                </a:path>
              </a:pathLst>
            </a:custGeom>
            <a:solidFill>
              <a:srgbClr val="DAE2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7" name="Google Shape;337;p9"/>
            <p:cNvSpPr/>
            <p:nvPr/>
          </p:nvSpPr>
          <p:spPr>
            <a:xfrm>
              <a:off x="1633601" y="2024126"/>
              <a:ext cx="2447290" cy="475615"/>
            </a:xfrm>
            <a:custGeom>
              <a:rect b="b" l="l" r="r" t="t"/>
              <a:pathLst>
                <a:path extrusionOk="0" h="475614" w="2447290">
                  <a:moveTo>
                    <a:pt x="0" y="0"/>
                  </a:moveTo>
                  <a:lnTo>
                    <a:pt x="2208022" y="0"/>
                  </a:lnTo>
                  <a:lnTo>
                    <a:pt x="2447290" y="237744"/>
                  </a:lnTo>
                  <a:lnTo>
                    <a:pt x="2208022" y="475614"/>
                  </a:lnTo>
                  <a:lnTo>
                    <a:pt x="0" y="475614"/>
                  </a:lnTo>
                  <a:lnTo>
                    <a:pt x="239268" y="237744"/>
                  </a:lnTo>
                  <a:lnTo>
                    <a:pt x="0" y="0"/>
                  </a:lnTo>
                  <a:close/>
                </a:path>
              </a:pathLst>
            </a:custGeom>
            <a:noFill/>
            <a:ln cap="flat" cmpd="sng" w="12700">
              <a:solidFill>
                <a:srgbClr val="8FAAD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38" name="Google Shape;338;p9"/>
          <p:cNvSpPr txBox="1"/>
          <p:nvPr/>
        </p:nvSpPr>
        <p:spPr>
          <a:xfrm>
            <a:off x="1917050" y="2080325"/>
            <a:ext cx="1905000" cy="3096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800">
                <a:solidFill>
                  <a:srgbClr val="001F5F"/>
                </a:solidFill>
                <a:latin typeface="Calibri"/>
                <a:ea typeface="Calibri"/>
                <a:cs typeface="Calibri"/>
                <a:sym typeface="Calibri"/>
              </a:rPr>
              <a:t>Current situ</a:t>
            </a:r>
            <a:r>
              <a:rPr lang="en-US" sz="1800">
                <a:solidFill>
                  <a:srgbClr val="001F5F"/>
                </a:solidFill>
                <a:latin typeface="Calibri"/>
                <a:ea typeface="Calibri"/>
                <a:cs typeface="Calibri"/>
                <a:sym typeface="Calibri"/>
              </a:rPr>
              <a:t>ation</a:t>
            </a:r>
            <a:endParaRPr sz="1800">
              <a:latin typeface="Calibri"/>
              <a:ea typeface="Calibri"/>
              <a:cs typeface="Calibri"/>
              <a:sym typeface="Calibri"/>
            </a:endParaRPr>
          </a:p>
        </p:txBody>
      </p:sp>
      <p:grpSp>
        <p:nvGrpSpPr>
          <p:cNvPr id="339" name="Google Shape;339;p9"/>
          <p:cNvGrpSpPr/>
          <p:nvPr/>
        </p:nvGrpSpPr>
        <p:grpSpPr>
          <a:xfrm>
            <a:off x="8001000" y="2019300"/>
            <a:ext cx="2442591" cy="480441"/>
            <a:chOff x="8001000" y="2019300"/>
            <a:chExt cx="2442591" cy="480441"/>
          </a:xfrm>
        </p:grpSpPr>
        <p:sp>
          <p:nvSpPr>
            <p:cNvPr id="340" name="Google Shape;340;p9"/>
            <p:cNvSpPr/>
            <p:nvPr/>
          </p:nvSpPr>
          <p:spPr>
            <a:xfrm>
              <a:off x="8001000" y="2019300"/>
              <a:ext cx="2438400" cy="476250"/>
            </a:xfrm>
            <a:custGeom>
              <a:rect b="b" l="l" r="r" t="t"/>
              <a:pathLst>
                <a:path extrusionOk="0" h="476250" w="2438400">
                  <a:moveTo>
                    <a:pt x="2199513" y="0"/>
                  </a:moveTo>
                  <a:lnTo>
                    <a:pt x="0" y="0"/>
                  </a:lnTo>
                  <a:lnTo>
                    <a:pt x="238378" y="237871"/>
                  </a:lnTo>
                  <a:lnTo>
                    <a:pt x="0" y="475741"/>
                  </a:lnTo>
                  <a:lnTo>
                    <a:pt x="2199513" y="475741"/>
                  </a:lnTo>
                  <a:lnTo>
                    <a:pt x="2437892" y="237871"/>
                  </a:lnTo>
                  <a:lnTo>
                    <a:pt x="2199513" y="0"/>
                  </a:lnTo>
                  <a:close/>
                </a:path>
              </a:pathLst>
            </a:custGeom>
            <a:solidFill>
              <a:srgbClr val="B4C6E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1" name="Google Shape;341;p9"/>
            <p:cNvSpPr/>
            <p:nvPr/>
          </p:nvSpPr>
          <p:spPr>
            <a:xfrm>
              <a:off x="8005826" y="2024126"/>
              <a:ext cx="2437765" cy="475615"/>
            </a:xfrm>
            <a:custGeom>
              <a:rect b="b" l="l" r="r" t="t"/>
              <a:pathLst>
                <a:path extrusionOk="0" h="475614" w="2437765">
                  <a:moveTo>
                    <a:pt x="0" y="0"/>
                  </a:moveTo>
                  <a:lnTo>
                    <a:pt x="2199385" y="0"/>
                  </a:lnTo>
                  <a:lnTo>
                    <a:pt x="2437765" y="237744"/>
                  </a:lnTo>
                  <a:lnTo>
                    <a:pt x="2199385" y="475614"/>
                  </a:lnTo>
                  <a:lnTo>
                    <a:pt x="0" y="475614"/>
                  </a:lnTo>
                  <a:lnTo>
                    <a:pt x="238378" y="237744"/>
                  </a:lnTo>
                  <a:lnTo>
                    <a:pt x="0" y="0"/>
                  </a:lnTo>
                  <a:close/>
                </a:path>
              </a:pathLst>
            </a:custGeom>
            <a:noFill/>
            <a:ln cap="flat" cmpd="sng" w="12700">
              <a:solidFill>
                <a:srgbClr val="8FAAD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42" name="Google Shape;342;p9"/>
          <p:cNvSpPr txBox="1"/>
          <p:nvPr/>
        </p:nvSpPr>
        <p:spPr>
          <a:xfrm>
            <a:off x="8258950" y="2080325"/>
            <a:ext cx="1905000" cy="3096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900">
                <a:solidFill>
                  <a:srgbClr val="001F5F"/>
                </a:solidFill>
                <a:latin typeface="Calibri"/>
                <a:ea typeface="Calibri"/>
                <a:cs typeface="Calibri"/>
                <a:sym typeface="Calibri"/>
              </a:rPr>
              <a:t>Solutions</a:t>
            </a:r>
            <a:endParaRPr sz="19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6" name="Shape 346"/>
        <p:cNvGrpSpPr/>
        <p:nvPr/>
      </p:nvGrpSpPr>
      <p:grpSpPr>
        <a:xfrm>
          <a:off x="0" y="0"/>
          <a:ext cx="0" cy="0"/>
          <a:chOff x="0" y="0"/>
          <a:chExt cx="0" cy="0"/>
        </a:xfrm>
      </p:grpSpPr>
      <p:sp>
        <p:nvSpPr>
          <p:cNvPr id="347" name="Google Shape;347;g39b82a97786_0_0"/>
          <p:cNvSpPr txBox="1"/>
          <p:nvPr>
            <p:ph idx="1" type="body"/>
          </p:nvPr>
        </p:nvSpPr>
        <p:spPr>
          <a:xfrm>
            <a:off x="640715" y="1236916"/>
            <a:ext cx="10644000" cy="2790300"/>
          </a:xfrm>
          <a:prstGeom prst="rect">
            <a:avLst/>
          </a:prstGeom>
          <a:noFill/>
          <a:ln>
            <a:noFill/>
          </a:ln>
        </p:spPr>
        <p:txBody>
          <a:bodyPr anchorCtr="0" anchor="t" bIns="0" lIns="18275" spcFirstLastPara="1" rIns="18275" wrap="square" tIns="0">
            <a:normAutofit fontScale="77500" lnSpcReduction="10000"/>
          </a:bodyPr>
          <a:lstStyle/>
          <a:p>
            <a:pPr indent="0" lvl="0" marL="238125" rtl="0" algn="l">
              <a:lnSpc>
                <a:spcPct val="100000"/>
              </a:lnSpc>
              <a:spcBef>
                <a:spcPts val="0"/>
              </a:spcBef>
              <a:spcAft>
                <a:spcPts val="0"/>
              </a:spcAft>
              <a:buNone/>
            </a:pPr>
            <a:r>
              <a:rPr lang="en-US"/>
              <a:t>We have entered an era where human judgment alone is insufficient!</a:t>
            </a:r>
            <a:endParaRPr/>
          </a:p>
          <a:p>
            <a:pPr indent="-217404" lvl="0" marL="240028" rtl="0" algn="l">
              <a:lnSpc>
                <a:spcPct val="100000"/>
              </a:lnSpc>
              <a:spcBef>
                <a:spcPts val="1580"/>
              </a:spcBef>
              <a:spcAft>
                <a:spcPts val="0"/>
              </a:spcAft>
              <a:buClr>
                <a:srgbClr val="252525"/>
              </a:buClr>
              <a:buSzPct val="100000"/>
              <a:buFont typeface="Noto Sans Symbols"/>
              <a:buChar char="■"/>
            </a:pPr>
            <a:r>
              <a:rPr b="0" lang="en-US" sz="1604">
                <a:solidFill>
                  <a:srgbClr val="252525"/>
                </a:solidFill>
                <a:latin typeface="Arial"/>
                <a:ea typeface="Arial"/>
                <a:cs typeface="Arial"/>
                <a:sym typeface="Arial"/>
              </a:rPr>
              <a:t>The graph below visualizes the top four features that determine whether a customer defaults or not, based on default customer prediction.</a:t>
            </a:r>
            <a:endParaRPr sz="1604">
              <a:latin typeface="Arial"/>
              <a:ea typeface="Arial"/>
              <a:cs typeface="Arial"/>
              <a:sym typeface="Arial"/>
            </a:endParaRPr>
          </a:p>
          <a:p>
            <a:pPr indent="-217404" lvl="0" marL="240028" rtl="0" algn="l">
              <a:lnSpc>
                <a:spcPct val="100000"/>
              </a:lnSpc>
              <a:spcBef>
                <a:spcPts val="875"/>
              </a:spcBef>
              <a:spcAft>
                <a:spcPts val="0"/>
              </a:spcAft>
              <a:buClr>
                <a:srgbClr val="252525"/>
              </a:buClr>
              <a:buSzPct val="100000"/>
              <a:buFont typeface="Noto Sans Symbols"/>
              <a:buChar char="■"/>
            </a:pPr>
            <a:r>
              <a:rPr b="0" lang="en-US" sz="1604">
                <a:solidFill>
                  <a:srgbClr val="252525"/>
                </a:solidFill>
                <a:latin typeface="Arial"/>
                <a:ea typeface="Arial"/>
                <a:cs typeface="Arial"/>
                <a:sym typeface="Arial"/>
              </a:rPr>
              <a:t>There are two major insights that can be drawn from these.</a:t>
            </a:r>
            <a:endParaRPr sz="1604">
              <a:latin typeface="Arial"/>
              <a:ea typeface="Arial"/>
              <a:cs typeface="Arial"/>
              <a:sym typeface="Arial"/>
            </a:endParaRPr>
          </a:p>
          <a:p>
            <a:pPr indent="-230740" lvl="1" marL="696595" marR="167005" rtl="0" algn="l">
              <a:lnSpc>
                <a:spcPct val="106666"/>
              </a:lnSpc>
              <a:spcBef>
                <a:spcPts val="645"/>
              </a:spcBef>
              <a:spcAft>
                <a:spcPts val="0"/>
              </a:spcAft>
              <a:buClr>
                <a:srgbClr val="252525"/>
              </a:buClr>
              <a:buSzPct val="100000"/>
              <a:buFont typeface="Noto Sans Symbols"/>
              <a:buChar char="■"/>
            </a:pPr>
            <a:r>
              <a:rPr lang="en-US" sz="1604">
                <a:solidFill>
                  <a:srgbClr val="252525"/>
                </a:solidFill>
                <a:latin typeface="Arial"/>
                <a:ea typeface="Arial"/>
                <a:cs typeface="Arial"/>
                <a:sym typeface="Arial"/>
              </a:rPr>
              <a:t>While the credit score is a fairly straightforward feature, it is necessary to correctly distinguish people who fall within the overlapping area (blue region) on the graph.</a:t>
            </a:r>
            <a:endParaRPr sz="1604">
              <a:latin typeface="Arial"/>
              <a:ea typeface="Arial"/>
              <a:cs typeface="Arial"/>
              <a:sym typeface="Arial"/>
            </a:endParaRPr>
          </a:p>
          <a:p>
            <a:pPr indent="-230740" lvl="1" marL="697230" rtl="0" algn="l">
              <a:lnSpc>
                <a:spcPct val="113333"/>
              </a:lnSpc>
              <a:spcBef>
                <a:spcPts val="345"/>
              </a:spcBef>
              <a:spcAft>
                <a:spcPts val="0"/>
              </a:spcAft>
              <a:buClr>
                <a:srgbClr val="252525"/>
              </a:buClr>
              <a:buSzPct val="100000"/>
              <a:buFont typeface="Noto Sans Symbols"/>
              <a:buChar char="■"/>
            </a:pPr>
            <a:r>
              <a:rPr lang="en-US" sz="1604">
                <a:solidFill>
                  <a:srgbClr val="252525"/>
                </a:solidFill>
                <a:latin typeface="Arial"/>
                <a:ea typeface="Arial"/>
                <a:cs typeface="Arial"/>
                <a:sym typeface="Arial"/>
              </a:rPr>
              <a:t>For all the other three features, there are areas with many red points in the middle section overall (black line area). These areas suggest that man-made judgement could not predict appropriately, and that </a:t>
            </a:r>
            <a:r>
              <a:rPr b="0" lang="en-US" sz="1604">
                <a:solidFill>
                  <a:srgbClr val="252525"/>
                </a:solidFill>
                <a:latin typeface="Arial"/>
                <a:ea typeface="Arial"/>
                <a:cs typeface="Arial"/>
                <a:sym typeface="Arial"/>
              </a:rPr>
              <a:t>plan</a:t>
            </a:r>
            <a:r>
              <a:rPr lang="en-US" sz="1604">
                <a:solidFill>
                  <a:srgbClr val="252525"/>
                </a:solidFill>
                <a:latin typeface="Arial"/>
                <a:ea typeface="Arial"/>
                <a:cs typeface="Arial"/>
                <a:sym typeface="Arial"/>
              </a:rPr>
              <a:t>s</a:t>
            </a:r>
            <a:r>
              <a:rPr b="0" lang="en-US" sz="1604">
                <a:solidFill>
                  <a:srgbClr val="252525"/>
                </a:solidFill>
                <a:latin typeface="Arial"/>
                <a:ea typeface="Arial"/>
                <a:cs typeface="Arial"/>
                <a:sym typeface="Arial"/>
              </a:rPr>
              <a:t> that </a:t>
            </a:r>
            <a:r>
              <a:rPr lang="en-US" sz="1604">
                <a:solidFill>
                  <a:srgbClr val="252525"/>
                </a:solidFill>
                <a:latin typeface="Arial"/>
                <a:ea typeface="Arial"/>
                <a:cs typeface="Arial"/>
                <a:sym typeface="Arial"/>
              </a:rPr>
              <a:t>were not suited for the </a:t>
            </a:r>
            <a:r>
              <a:rPr lang="en-US" sz="1604">
                <a:solidFill>
                  <a:srgbClr val="252525"/>
                </a:solidFill>
                <a:latin typeface="Arial"/>
                <a:ea typeface="Arial"/>
                <a:cs typeface="Arial"/>
                <a:sym typeface="Arial"/>
              </a:rPr>
              <a:t>customers had been proposed.</a:t>
            </a:r>
            <a:r>
              <a:rPr b="0" lang="en-US" sz="1604">
                <a:solidFill>
                  <a:srgbClr val="252525"/>
                </a:solidFill>
                <a:latin typeface="Arial"/>
                <a:ea typeface="Arial"/>
                <a:cs typeface="Arial"/>
                <a:sym typeface="Arial"/>
              </a:rPr>
              <a:t>It is extremely difficult to investigate features prone to default manually</a:t>
            </a:r>
            <a:r>
              <a:rPr lang="en-US" sz="1604">
                <a:solidFill>
                  <a:srgbClr val="252525"/>
                </a:solidFill>
                <a:latin typeface="Arial"/>
                <a:ea typeface="Arial"/>
                <a:cs typeface="Arial"/>
                <a:sym typeface="Arial"/>
              </a:rPr>
              <a:t>. U</a:t>
            </a:r>
            <a:r>
              <a:rPr b="0" lang="en-US" sz="1604">
                <a:solidFill>
                  <a:srgbClr val="252525"/>
                </a:solidFill>
                <a:latin typeface="Arial"/>
                <a:ea typeface="Arial"/>
                <a:cs typeface="Arial"/>
                <a:sym typeface="Arial"/>
              </a:rPr>
              <a:t>nderstandable features such as the credit score can be bi</a:t>
            </a:r>
            <a:r>
              <a:rPr lang="en-US" sz="1604">
                <a:solidFill>
                  <a:srgbClr val="252525"/>
                </a:solidFill>
                <a:latin typeface="Arial"/>
                <a:ea typeface="Arial"/>
                <a:cs typeface="Arial"/>
                <a:sym typeface="Arial"/>
              </a:rPr>
              <a:t>ased</a:t>
            </a:r>
            <a:r>
              <a:rPr b="0" lang="en-US" sz="1604">
                <a:solidFill>
                  <a:srgbClr val="252525"/>
                </a:solidFill>
                <a:latin typeface="Arial"/>
                <a:ea typeface="Arial"/>
                <a:cs typeface="Arial"/>
                <a:sym typeface="Arial"/>
              </a:rPr>
              <a:t>.</a:t>
            </a:r>
            <a:endParaRPr sz="1604">
              <a:latin typeface="Arial"/>
              <a:ea typeface="Arial"/>
              <a:cs typeface="Arial"/>
              <a:sym typeface="Arial"/>
            </a:endParaRPr>
          </a:p>
          <a:p>
            <a:pPr indent="-217404" lvl="0" marL="240028" rtl="0" algn="l">
              <a:lnSpc>
                <a:spcPct val="100000"/>
              </a:lnSpc>
              <a:spcBef>
                <a:spcPts val="1664"/>
              </a:spcBef>
              <a:spcAft>
                <a:spcPts val="0"/>
              </a:spcAft>
              <a:buClr>
                <a:srgbClr val="252525"/>
              </a:buClr>
              <a:buSzPct val="100000"/>
              <a:buFont typeface="Noto Sans Symbols"/>
              <a:buChar char="■"/>
            </a:pPr>
            <a:r>
              <a:rPr b="0" lang="en-US" sz="1604">
                <a:solidFill>
                  <a:srgbClr val="252525"/>
                </a:solidFill>
                <a:latin typeface="Arial"/>
                <a:ea typeface="Arial"/>
                <a:cs typeface="Arial"/>
                <a:sym typeface="Arial"/>
              </a:rPr>
              <a:t>The</a:t>
            </a:r>
            <a:r>
              <a:rPr b="0" lang="en-US" sz="1604">
                <a:solidFill>
                  <a:srgbClr val="252525"/>
                </a:solidFill>
              </a:rPr>
              <a:t>se</a:t>
            </a:r>
            <a:r>
              <a:rPr b="0" lang="en-US" sz="1604">
                <a:solidFill>
                  <a:srgbClr val="252525"/>
                </a:solidFill>
                <a:latin typeface="Arial"/>
                <a:ea typeface="Arial"/>
                <a:cs typeface="Arial"/>
                <a:sym typeface="Arial"/>
              </a:rPr>
              <a:t> issues can be clarified not only by predicting defaults but also by conducting default trend analysis.</a:t>
            </a:r>
            <a:endParaRPr sz="1604">
              <a:latin typeface="Arial"/>
              <a:ea typeface="Arial"/>
              <a:cs typeface="Arial"/>
              <a:sym typeface="Arial"/>
            </a:endParaRPr>
          </a:p>
          <a:p>
            <a:pPr indent="-217404" lvl="0" marL="240028" rtl="0" algn="l">
              <a:lnSpc>
                <a:spcPct val="100000"/>
              </a:lnSpc>
              <a:spcBef>
                <a:spcPts val="875"/>
              </a:spcBef>
              <a:spcAft>
                <a:spcPts val="0"/>
              </a:spcAft>
              <a:buClr>
                <a:srgbClr val="252525"/>
              </a:buClr>
              <a:buSzPct val="100000"/>
              <a:buFont typeface="Noto Sans Symbols"/>
              <a:buChar char="■"/>
            </a:pPr>
            <a:r>
              <a:rPr b="0" lang="en-US" sz="1604">
                <a:solidFill>
                  <a:srgbClr val="252525"/>
                </a:solidFill>
                <a:latin typeface="Arial"/>
                <a:ea typeface="Arial"/>
                <a:cs typeface="Arial"/>
                <a:sym typeface="Arial"/>
              </a:rPr>
              <a:t>The insights gained can be utilized in many areas such as sales, advertising, and planning, providing new perspectives for management strategy.</a:t>
            </a:r>
            <a:endParaRPr sz="1604">
              <a:latin typeface="Arial"/>
              <a:ea typeface="Arial"/>
              <a:cs typeface="Arial"/>
              <a:sym typeface="Arial"/>
            </a:endParaRPr>
          </a:p>
        </p:txBody>
      </p:sp>
      <p:grpSp>
        <p:nvGrpSpPr>
          <p:cNvPr id="348" name="Google Shape;348;g39b82a97786_0_0"/>
          <p:cNvGrpSpPr/>
          <p:nvPr/>
        </p:nvGrpSpPr>
        <p:grpSpPr>
          <a:xfrm>
            <a:off x="0" y="12"/>
            <a:ext cx="12192318" cy="309499"/>
            <a:chOff x="0" y="12"/>
            <a:chExt cx="12192318" cy="309499"/>
          </a:xfrm>
        </p:grpSpPr>
        <p:sp>
          <p:nvSpPr>
            <p:cNvPr id="349" name="Google Shape;349;g39b82a97786_0_0"/>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0" name="Google Shape;350;g39b82a97786_0_0"/>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51" name="Google Shape;351;g39b82a97786_0_0"/>
          <p:cNvSpPr txBox="1"/>
          <p:nvPr>
            <p:ph type="title"/>
          </p:nvPr>
        </p:nvSpPr>
        <p:spPr>
          <a:xfrm>
            <a:off x="536257" y="388619"/>
            <a:ext cx="10123200" cy="5754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3200">
                <a:latin typeface="Calibri"/>
                <a:ea typeface="Calibri"/>
                <a:cs typeface="Calibri"/>
                <a:sym typeface="Calibri"/>
              </a:rPr>
              <a:t>Use Case 2: Issues Visualized through Default Trend Analysis</a:t>
            </a:r>
            <a:endParaRPr sz="3200">
              <a:latin typeface="Calibri"/>
              <a:ea typeface="Calibri"/>
              <a:cs typeface="Calibri"/>
              <a:sym typeface="Calibri"/>
            </a:endParaRPr>
          </a:p>
        </p:txBody>
      </p:sp>
      <p:sp>
        <p:nvSpPr>
          <p:cNvPr id="352" name="Google Shape;352;g39b82a97786_0_0"/>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353" name="Google Shape;353;g39b82a97786_0_0"/>
          <p:cNvGrpSpPr/>
          <p:nvPr/>
        </p:nvGrpSpPr>
        <p:grpSpPr>
          <a:xfrm>
            <a:off x="752475" y="4400550"/>
            <a:ext cx="10713333" cy="2271713"/>
            <a:chOff x="752475" y="4400550"/>
            <a:chExt cx="10713333" cy="2271713"/>
          </a:xfrm>
        </p:grpSpPr>
        <p:pic>
          <p:nvPicPr>
            <p:cNvPr id="354" name="Google Shape;354;g39b82a97786_0_0"/>
            <p:cNvPicPr preferRelativeResize="0"/>
            <p:nvPr/>
          </p:nvPicPr>
          <p:blipFill rotWithShape="1">
            <a:blip r:embed="rId3">
              <a:alphaModFix/>
            </a:blip>
            <a:srcRect b="0" l="0" r="0" t="0"/>
            <a:stretch/>
          </p:blipFill>
          <p:spPr>
            <a:xfrm>
              <a:off x="752475" y="4400550"/>
              <a:ext cx="10713333" cy="2271713"/>
            </a:xfrm>
            <a:prstGeom prst="rect">
              <a:avLst/>
            </a:prstGeom>
            <a:noFill/>
            <a:ln>
              <a:noFill/>
            </a:ln>
          </p:spPr>
        </p:pic>
        <p:sp>
          <p:nvSpPr>
            <p:cNvPr id="355" name="Google Shape;355;g39b82a97786_0_0"/>
            <p:cNvSpPr/>
            <p:nvPr/>
          </p:nvSpPr>
          <p:spPr>
            <a:xfrm>
              <a:off x="6534150" y="4657725"/>
              <a:ext cx="1066800" cy="0"/>
            </a:xfrm>
            <a:custGeom>
              <a:rect b="b" l="l" r="r" t="t"/>
              <a:pathLst>
                <a:path extrusionOk="0" h="120000" w="1066800">
                  <a:moveTo>
                    <a:pt x="0" y="0"/>
                  </a:moveTo>
                  <a:lnTo>
                    <a:pt x="1066673" y="0"/>
                  </a:lnTo>
                </a:path>
              </a:pathLst>
            </a:custGeom>
            <a:noFill/>
            <a:ln cap="flat" cmpd="sng" w="381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6" name="Google Shape;356;g39b82a97786_0_0"/>
            <p:cNvSpPr/>
            <p:nvPr/>
          </p:nvSpPr>
          <p:spPr>
            <a:xfrm>
              <a:off x="7734300" y="4657725"/>
              <a:ext cx="1409700" cy="0"/>
            </a:xfrm>
            <a:custGeom>
              <a:rect b="b" l="l" r="r" t="t"/>
              <a:pathLst>
                <a:path extrusionOk="0" h="120000" w="1409700">
                  <a:moveTo>
                    <a:pt x="0" y="0"/>
                  </a:moveTo>
                  <a:lnTo>
                    <a:pt x="1409319" y="0"/>
                  </a:lnTo>
                </a:path>
              </a:pathLst>
            </a:custGeom>
            <a:noFill/>
            <a:ln cap="flat" cmpd="sng" w="38100">
              <a:solidFill>
                <a:srgbClr val="00AF5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7" name="Google Shape;357;g39b82a97786_0_0"/>
            <p:cNvSpPr/>
            <p:nvPr/>
          </p:nvSpPr>
          <p:spPr>
            <a:xfrm>
              <a:off x="962025" y="4895850"/>
              <a:ext cx="6543040" cy="1485900"/>
            </a:xfrm>
            <a:custGeom>
              <a:rect b="b" l="l" r="r" t="t"/>
              <a:pathLst>
                <a:path extrusionOk="0" h="1485900" w="6543040">
                  <a:moveTo>
                    <a:pt x="0" y="742835"/>
                  </a:moveTo>
                  <a:lnTo>
                    <a:pt x="1269" y="675259"/>
                  </a:lnTo>
                  <a:lnTo>
                    <a:pt x="4991" y="609346"/>
                  </a:lnTo>
                  <a:lnTo>
                    <a:pt x="11049" y="545338"/>
                  </a:lnTo>
                  <a:lnTo>
                    <a:pt x="19354" y="483616"/>
                  </a:lnTo>
                  <a:lnTo>
                    <a:pt x="29794" y="424434"/>
                  </a:lnTo>
                  <a:lnTo>
                    <a:pt x="42252" y="367919"/>
                  </a:lnTo>
                  <a:lnTo>
                    <a:pt x="56616" y="314451"/>
                  </a:lnTo>
                  <a:lnTo>
                    <a:pt x="72771" y="264287"/>
                  </a:lnTo>
                  <a:lnTo>
                    <a:pt x="90627" y="217550"/>
                  </a:lnTo>
                  <a:lnTo>
                    <a:pt x="110070" y="174751"/>
                  </a:lnTo>
                  <a:lnTo>
                    <a:pt x="130987" y="135889"/>
                  </a:lnTo>
                  <a:lnTo>
                    <a:pt x="153263" y="101473"/>
                  </a:lnTo>
                  <a:lnTo>
                    <a:pt x="201472" y="46481"/>
                  </a:lnTo>
                  <a:lnTo>
                    <a:pt x="253822" y="11937"/>
                  </a:lnTo>
                  <a:lnTo>
                    <a:pt x="309499" y="0"/>
                  </a:lnTo>
                  <a:lnTo>
                    <a:pt x="337566" y="3048"/>
                  </a:lnTo>
                  <a:lnTo>
                    <a:pt x="391668" y="26543"/>
                  </a:lnTo>
                  <a:lnTo>
                    <a:pt x="442087" y="71500"/>
                  </a:lnTo>
                  <a:lnTo>
                    <a:pt x="487934" y="135889"/>
                  </a:lnTo>
                  <a:lnTo>
                    <a:pt x="508762" y="174751"/>
                  </a:lnTo>
                  <a:lnTo>
                    <a:pt x="528193" y="217550"/>
                  </a:lnTo>
                  <a:lnTo>
                    <a:pt x="546100" y="264287"/>
                  </a:lnTo>
                  <a:lnTo>
                    <a:pt x="562229" y="314451"/>
                  </a:lnTo>
                  <a:lnTo>
                    <a:pt x="576580" y="367919"/>
                  </a:lnTo>
                  <a:lnTo>
                    <a:pt x="589153" y="424434"/>
                  </a:lnTo>
                  <a:lnTo>
                    <a:pt x="599566" y="483616"/>
                  </a:lnTo>
                  <a:lnTo>
                    <a:pt x="607822" y="545338"/>
                  </a:lnTo>
                  <a:lnTo>
                    <a:pt x="613918" y="609346"/>
                  </a:lnTo>
                  <a:lnTo>
                    <a:pt x="617601" y="675259"/>
                  </a:lnTo>
                  <a:lnTo>
                    <a:pt x="618871" y="742835"/>
                  </a:lnTo>
                  <a:lnTo>
                    <a:pt x="617601" y="810450"/>
                  </a:lnTo>
                  <a:lnTo>
                    <a:pt x="613918" y="876363"/>
                  </a:lnTo>
                  <a:lnTo>
                    <a:pt x="607822" y="940308"/>
                  </a:lnTo>
                  <a:lnTo>
                    <a:pt x="599566" y="1002030"/>
                  </a:lnTo>
                  <a:lnTo>
                    <a:pt x="589153" y="1061275"/>
                  </a:lnTo>
                  <a:lnTo>
                    <a:pt x="576580" y="1117765"/>
                  </a:lnTo>
                  <a:lnTo>
                    <a:pt x="562229" y="1171232"/>
                  </a:lnTo>
                  <a:lnTo>
                    <a:pt x="546100" y="1221435"/>
                  </a:lnTo>
                  <a:lnTo>
                    <a:pt x="528193" y="1268095"/>
                  </a:lnTo>
                  <a:lnTo>
                    <a:pt x="508762" y="1310970"/>
                  </a:lnTo>
                  <a:lnTo>
                    <a:pt x="487934" y="1349768"/>
                  </a:lnTo>
                  <a:lnTo>
                    <a:pt x="465581" y="1384249"/>
                  </a:lnTo>
                  <a:lnTo>
                    <a:pt x="417449" y="1439202"/>
                  </a:lnTo>
                  <a:lnTo>
                    <a:pt x="365125" y="1473708"/>
                  </a:lnTo>
                  <a:lnTo>
                    <a:pt x="309499" y="1485671"/>
                  </a:lnTo>
                  <a:lnTo>
                    <a:pt x="281279" y="1482636"/>
                  </a:lnTo>
                  <a:lnTo>
                    <a:pt x="227177" y="1459141"/>
                  </a:lnTo>
                  <a:lnTo>
                    <a:pt x="176796" y="1414145"/>
                  </a:lnTo>
                  <a:lnTo>
                    <a:pt x="130987" y="1349768"/>
                  </a:lnTo>
                  <a:lnTo>
                    <a:pt x="110070" y="1310970"/>
                  </a:lnTo>
                  <a:lnTo>
                    <a:pt x="90627" y="1268095"/>
                  </a:lnTo>
                  <a:lnTo>
                    <a:pt x="72771" y="1221435"/>
                  </a:lnTo>
                  <a:lnTo>
                    <a:pt x="56616" y="1171232"/>
                  </a:lnTo>
                  <a:lnTo>
                    <a:pt x="42252" y="1117765"/>
                  </a:lnTo>
                  <a:lnTo>
                    <a:pt x="29794" y="1061275"/>
                  </a:lnTo>
                  <a:lnTo>
                    <a:pt x="19354" y="1002030"/>
                  </a:lnTo>
                  <a:lnTo>
                    <a:pt x="11049" y="940308"/>
                  </a:lnTo>
                  <a:lnTo>
                    <a:pt x="4991" y="876363"/>
                  </a:lnTo>
                  <a:lnTo>
                    <a:pt x="1269" y="810450"/>
                  </a:lnTo>
                  <a:lnTo>
                    <a:pt x="0" y="742835"/>
                  </a:lnTo>
                  <a:close/>
                </a:path>
                <a:path extrusionOk="0" h="1485900" w="6543040">
                  <a:moveTo>
                    <a:pt x="5829300" y="742835"/>
                  </a:moveTo>
                  <a:lnTo>
                    <a:pt x="5830570" y="678688"/>
                  </a:lnTo>
                  <a:lnTo>
                    <a:pt x="5834507" y="616204"/>
                  </a:lnTo>
                  <a:lnTo>
                    <a:pt x="5840730" y="555371"/>
                  </a:lnTo>
                  <a:lnTo>
                    <a:pt x="5849366" y="496443"/>
                  </a:lnTo>
                  <a:lnTo>
                    <a:pt x="5860288" y="439674"/>
                  </a:lnTo>
                  <a:lnTo>
                    <a:pt x="5873242" y="385444"/>
                  </a:lnTo>
                  <a:lnTo>
                    <a:pt x="5888228" y="333756"/>
                  </a:lnTo>
                  <a:lnTo>
                    <a:pt x="5905119" y="284988"/>
                  </a:lnTo>
                  <a:lnTo>
                    <a:pt x="5923788" y="239268"/>
                  </a:lnTo>
                  <a:lnTo>
                    <a:pt x="5944234" y="196723"/>
                  </a:lnTo>
                  <a:lnTo>
                    <a:pt x="5966206" y="157861"/>
                  </a:lnTo>
                  <a:lnTo>
                    <a:pt x="5989701" y="122681"/>
                  </a:lnTo>
                  <a:lnTo>
                    <a:pt x="6014466" y="91439"/>
                  </a:lnTo>
                  <a:lnTo>
                    <a:pt x="6067806" y="41782"/>
                  </a:lnTo>
                  <a:lnTo>
                    <a:pt x="6125336" y="10794"/>
                  </a:lnTo>
                  <a:lnTo>
                    <a:pt x="6186170" y="0"/>
                  </a:lnTo>
                  <a:lnTo>
                    <a:pt x="6217031" y="2667"/>
                  </a:lnTo>
                  <a:lnTo>
                    <a:pt x="6276340" y="23875"/>
                  </a:lnTo>
                  <a:lnTo>
                    <a:pt x="6331839" y="64388"/>
                  </a:lnTo>
                  <a:lnTo>
                    <a:pt x="6382766" y="122681"/>
                  </a:lnTo>
                  <a:lnTo>
                    <a:pt x="6406133" y="157861"/>
                  </a:lnTo>
                  <a:lnTo>
                    <a:pt x="6428105" y="196723"/>
                  </a:lnTo>
                  <a:lnTo>
                    <a:pt x="6448552" y="239268"/>
                  </a:lnTo>
                  <a:lnTo>
                    <a:pt x="6467221" y="284988"/>
                  </a:lnTo>
                  <a:lnTo>
                    <a:pt x="6484111" y="333756"/>
                  </a:lnTo>
                  <a:lnTo>
                    <a:pt x="6499098" y="385444"/>
                  </a:lnTo>
                  <a:lnTo>
                    <a:pt x="6512052" y="439674"/>
                  </a:lnTo>
                  <a:lnTo>
                    <a:pt x="6522974" y="496443"/>
                  </a:lnTo>
                  <a:lnTo>
                    <a:pt x="6531609" y="555371"/>
                  </a:lnTo>
                  <a:lnTo>
                    <a:pt x="6537959" y="616204"/>
                  </a:lnTo>
                  <a:lnTo>
                    <a:pt x="6541770" y="678688"/>
                  </a:lnTo>
                  <a:lnTo>
                    <a:pt x="6543040" y="742835"/>
                  </a:lnTo>
                  <a:lnTo>
                    <a:pt x="6541770" y="806932"/>
                  </a:lnTo>
                  <a:lnTo>
                    <a:pt x="6537959" y="869518"/>
                  </a:lnTo>
                  <a:lnTo>
                    <a:pt x="6531609" y="930351"/>
                  </a:lnTo>
                  <a:lnTo>
                    <a:pt x="6522974" y="989241"/>
                  </a:lnTo>
                  <a:lnTo>
                    <a:pt x="6512052" y="1045946"/>
                  </a:lnTo>
                  <a:lnTo>
                    <a:pt x="6499098" y="1100239"/>
                  </a:lnTo>
                  <a:lnTo>
                    <a:pt x="6484111" y="1151902"/>
                  </a:lnTo>
                  <a:lnTo>
                    <a:pt x="6467221" y="1200721"/>
                  </a:lnTo>
                  <a:lnTo>
                    <a:pt x="6448552" y="1246454"/>
                  </a:lnTo>
                  <a:lnTo>
                    <a:pt x="6428105" y="1288897"/>
                  </a:lnTo>
                  <a:lnTo>
                    <a:pt x="6406133" y="1327810"/>
                  </a:lnTo>
                  <a:lnTo>
                    <a:pt x="6382766" y="1362989"/>
                  </a:lnTo>
                  <a:lnTo>
                    <a:pt x="6357874" y="1394206"/>
                  </a:lnTo>
                  <a:lnTo>
                    <a:pt x="6304533" y="1443824"/>
                  </a:lnTo>
                  <a:lnTo>
                    <a:pt x="6247003" y="1474914"/>
                  </a:lnTo>
                  <a:lnTo>
                    <a:pt x="6186170" y="1485671"/>
                  </a:lnTo>
                  <a:lnTo>
                    <a:pt x="6155435" y="1482940"/>
                  </a:lnTo>
                  <a:lnTo>
                    <a:pt x="6096127" y="1461808"/>
                  </a:lnTo>
                  <a:lnTo>
                    <a:pt x="6040628" y="1421218"/>
                  </a:lnTo>
                  <a:lnTo>
                    <a:pt x="5989701" y="1362989"/>
                  </a:lnTo>
                  <a:lnTo>
                    <a:pt x="5966206" y="1327810"/>
                  </a:lnTo>
                  <a:lnTo>
                    <a:pt x="5944234" y="1288897"/>
                  </a:lnTo>
                  <a:lnTo>
                    <a:pt x="5923788" y="1246454"/>
                  </a:lnTo>
                  <a:lnTo>
                    <a:pt x="5905119" y="1200721"/>
                  </a:lnTo>
                  <a:lnTo>
                    <a:pt x="5888228" y="1151902"/>
                  </a:lnTo>
                  <a:lnTo>
                    <a:pt x="5873242" y="1100239"/>
                  </a:lnTo>
                  <a:lnTo>
                    <a:pt x="5860288" y="1045946"/>
                  </a:lnTo>
                  <a:lnTo>
                    <a:pt x="5849366" y="989241"/>
                  </a:lnTo>
                  <a:lnTo>
                    <a:pt x="5840730" y="930351"/>
                  </a:lnTo>
                  <a:lnTo>
                    <a:pt x="5834507" y="869518"/>
                  </a:lnTo>
                  <a:lnTo>
                    <a:pt x="5830570" y="806932"/>
                  </a:lnTo>
                  <a:lnTo>
                    <a:pt x="5829300" y="742835"/>
                  </a:lnTo>
                  <a:close/>
                </a:path>
                <a:path extrusionOk="0" h="1485900" w="6543040">
                  <a:moveTo>
                    <a:pt x="3719449" y="1456969"/>
                  </a:moveTo>
                  <a:lnTo>
                    <a:pt x="3655695" y="1455585"/>
                  </a:lnTo>
                  <a:lnTo>
                    <a:pt x="3593719" y="1451546"/>
                  </a:lnTo>
                  <a:lnTo>
                    <a:pt x="3534029" y="1444980"/>
                  </a:lnTo>
                  <a:lnTo>
                    <a:pt x="3476625" y="1436014"/>
                  </a:lnTo>
                  <a:lnTo>
                    <a:pt x="3422141" y="1424800"/>
                  </a:lnTo>
                  <a:lnTo>
                    <a:pt x="3370707" y="1411452"/>
                  </a:lnTo>
                  <a:lnTo>
                    <a:pt x="3322701" y="1396098"/>
                  </a:lnTo>
                  <a:lnTo>
                    <a:pt x="3278378" y="1378902"/>
                  </a:lnTo>
                  <a:lnTo>
                    <a:pt x="3238119" y="1359979"/>
                  </a:lnTo>
                  <a:lnTo>
                    <a:pt x="3202178" y="1339456"/>
                  </a:lnTo>
                  <a:lnTo>
                    <a:pt x="3170936" y="1317485"/>
                  </a:lnTo>
                  <a:lnTo>
                    <a:pt x="3123691" y="1269695"/>
                  </a:lnTo>
                  <a:lnTo>
                    <a:pt x="3098800" y="1217701"/>
                  </a:lnTo>
                  <a:lnTo>
                    <a:pt x="3095625" y="1190447"/>
                  </a:lnTo>
                  <a:lnTo>
                    <a:pt x="3098800" y="1163193"/>
                  </a:lnTo>
                  <a:lnTo>
                    <a:pt x="3123691" y="1111186"/>
                  </a:lnTo>
                  <a:lnTo>
                    <a:pt x="3170936" y="1063409"/>
                  </a:lnTo>
                  <a:lnTo>
                    <a:pt x="3202178" y="1041425"/>
                  </a:lnTo>
                  <a:lnTo>
                    <a:pt x="3238119" y="1020914"/>
                  </a:lnTo>
                  <a:lnTo>
                    <a:pt x="3278378" y="1001991"/>
                  </a:lnTo>
                  <a:lnTo>
                    <a:pt x="3322701" y="984783"/>
                  </a:lnTo>
                  <a:lnTo>
                    <a:pt x="3370707" y="969441"/>
                  </a:lnTo>
                  <a:lnTo>
                    <a:pt x="3422141" y="956094"/>
                  </a:lnTo>
                  <a:lnTo>
                    <a:pt x="3476625" y="944867"/>
                  </a:lnTo>
                  <a:lnTo>
                    <a:pt x="3534029" y="935901"/>
                  </a:lnTo>
                  <a:lnTo>
                    <a:pt x="3593719" y="929335"/>
                  </a:lnTo>
                  <a:lnTo>
                    <a:pt x="3655695" y="925296"/>
                  </a:lnTo>
                  <a:lnTo>
                    <a:pt x="3719449" y="923925"/>
                  </a:lnTo>
                  <a:lnTo>
                    <a:pt x="3783329" y="925296"/>
                  </a:lnTo>
                  <a:lnTo>
                    <a:pt x="3845305" y="929335"/>
                  </a:lnTo>
                  <a:lnTo>
                    <a:pt x="3904996" y="935901"/>
                  </a:lnTo>
                  <a:lnTo>
                    <a:pt x="3962400" y="944867"/>
                  </a:lnTo>
                  <a:lnTo>
                    <a:pt x="4016883" y="956094"/>
                  </a:lnTo>
                  <a:lnTo>
                    <a:pt x="4068317" y="969441"/>
                  </a:lnTo>
                  <a:lnTo>
                    <a:pt x="4116324" y="984783"/>
                  </a:lnTo>
                  <a:lnTo>
                    <a:pt x="4160647" y="1001991"/>
                  </a:lnTo>
                  <a:lnTo>
                    <a:pt x="4200906" y="1020914"/>
                  </a:lnTo>
                  <a:lnTo>
                    <a:pt x="4236847" y="1041425"/>
                  </a:lnTo>
                  <a:lnTo>
                    <a:pt x="4268089" y="1063409"/>
                  </a:lnTo>
                  <a:lnTo>
                    <a:pt x="4315333" y="1111186"/>
                  </a:lnTo>
                  <a:lnTo>
                    <a:pt x="4340225" y="1163193"/>
                  </a:lnTo>
                  <a:lnTo>
                    <a:pt x="4343400" y="1190447"/>
                  </a:lnTo>
                  <a:lnTo>
                    <a:pt x="4340225" y="1217701"/>
                  </a:lnTo>
                  <a:lnTo>
                    <a:pt x="4315333" y="1269695"/>
                  </a:lnTo>
                  <a:lnTo>
                    <a:pt x="4268089" y="1317485"/>
                  </a:lnTo>
                  <a:lnTo>
                    <a:pt x="4236847" y="1339456"/>
                  </a:lnTo>
                  <a:lnTo>
                    <a:pt x="4200906" y="1359979"/>
                  </a:lnTo>
                  <a:lnTo>
                    <a:pt x="4160647" y="1378902"/>
                  </a:lnTo>
                  <a:lnTo>
                    <a:pt x="4116324" y="1396098"/>
                  </a:lnTo>
                  <a:lnTo>
                    <a:pt x="4068317" y="1411452"/>
                  </a:lnTo>
                  <a:lnTo>
                    <a:pt x="4016883" y="1424800"/>
                  </a:lnTo>
                  <a:lnTo>
                    <a:pt x="3962400" y="1436014"/>
                  </a:lnTo>
                  <a:lnTo>
                    <a:pt x="3904996" y="1444980"/>
                  </a:lnTo>
                  <a:lnTo>
                    <a:pt x="3845305" y="1451546"/>
                  </a:lnTo>
                  <a:lnTo>
                    <a:pt x="3783329" y="1455585"/>
                  </a:lnTo>
                  <a:lnTo>
                    <a:pt x="3719449" y="1456969"/>
                  </a:lnTo>
                  <a:close/>
                </a:path>
              </a:pathLst>
            </a:custGeom>
            <a:noFill/>
            <a:ln cap="flat" cmpd="sng" w="381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8" name="Google Shape;358;g39b82a97786_0_0"/>
            <p:cNvSpPr/>
            <p:nvPr/>
          </p:nvSpPr>
          <p:spPr>
            <a:xfrm>
              <a:off x="9658350" y="5238750"/>
              <a:ext cx="1238250" cy="1047750"/>
            </a:xfrm>
            <a:custGeom>
              <a:rect b="b" l="l" r="r" t="t"/>
              <a:pathLst>
                <a:path extrusionOk="0" h="1047750" w="1238250">
                  <a:moveTo>
                    <a:pt x="0" y="1047750"/>
                  </a:moveTo>
                  <a:lnTo>
                    <a:pt x="683641" y="0"/>
                  </a:lnTo>
                  <a:lnTo>
                    <a:pt x="1237869" y="1047750"/>
                  </a:lnTo>
                  <a:lnTo>
                    <a:pt x="0" y="1047750"/>
                  </a:lnTo>
                  <a:close/>
                </a:path>
              </a:pathLst>
            </a:custGeom>
            <a:noFill/>
            <a:ln cap="flat" cmpd="sng" w="38100">
              <a:solidFill>
                <a:srgbClr val="0431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59" name="Google Shape;359;g39b82a97786_0_0"/>
          <p:cNvSpPr/>
          <p:nvPr/>
        </p:nvSpPr>
        <p:spPr>
          <a:xfrm>
            <a:off x="1125675" y="4372850"/>
            <a:ext cx="10228500" cy="37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US" sz="1300">
                <a:solidFill>
                  <a:schemeClr val="dk1"/>
                </a:solidFill>
              </a:rPr>
              <a:t>Top 4 Features Determining Default or Non-Default in Default Trend Analysis (red=Default, green=No Default)</a:t>
            </a:r>
            <a:endParaRPr sz="1300"/>
          </a:p>
        </p:txBody>
      </p:sp>
      <p:sp>
        <p:nvSpPr>
          <p:cNvPr id="360" name="Google Shape;360;g39b82a97786_0_0"/>
          <p:cNvSpPr/>
          <p:nvPr/>
        </p:nvSpPr>
        <p:spPr>
          <a:xfrm>
            <a:off x="855550" y="6542025"/>
            <a:ext cx="2058900" cy="182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t>Required Loan Amount for the Borrowing Purpose</a:t>
            </a:r>
            <a:endParaRPr sz="600"/>
          </a:p>
        </p:txBody>
      </p:sp>
      <p:sp>
        <p:nvSpPr>
          <p:cNvPr id="361" name="Google Shape;361;g39b82a97786_0_0"/>
          <p:cNvSpPr/>
          <p:nvPr/>
        </p:nvSpPr>
        <p:spPr>
          <a:xfrm>
            <a:off x="3744550" y="6558425"/>
            <a:ext cx="2058900" cy="182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t>Required Loan Amount ÷ Borrowed Amount</a:t>
            </a:r>
            <a:endParaRPr sz="600"/>
          </a:p>
        </p:txBody>
      </p:sp>
      <p:sp>
        <p:nvSpPr>
          <p:cNvPr id="362" name="Google Shape;362;g39b82a97786_0_0"/>
          <p:cNvSpPr/>
          <p:nvPr/>
        </p:nvSpPr>
        <p:spPr>
          <a:xfrm>
            <a:off x="6522075" y="6522075"/>
            <a:ext cx="2137800" cy="14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t>Repayment Period </a:t>
            </a:r>
            <a:br>
              <a:rPr lang="en-US" sz="600"/>
            </a:br>
            <a:r>
              <a:rPr lang="en-US" sz="600"/>
              <a:t>(Borrowed Amount ÷ Monthly Payment)</a:t>
            </a:r>
            <a:endParaRPr sz="600"/>
          </a:p>
        </p:txBody>
      </p:sp>
      <p:sp>
        <p:nvSpPr>
          <p:cNvPr id="363" name="Google Shape;363;g39b82a97786_0_0"/>
          <p:cNvSpPr/>
          <p:nvPr/>
        </p:nvSpPr>
        <p:spPr>
          <a:xfrm>
            <a:off x="9466825" y="6478450"/>
            <a:ext cx="1650600" cy="19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t>Average of the Three Credit Scores</a:t>
            </a:r>
            <a:endParaRPr sz="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7" name="Shape 367"/>
        <p:cNvGrpSpPr/>
        <p:nvPr/>
      </p:nvGrpSpPr>
      <p:grpSpPr>
        <a:xfrm>
          <a:off x="0" y="0"/>
          <a:ext cx="0" cy="0"/>
          <a:chOff x="0" y="0"/>
          <a:chExt cx="0" cy="0"/>
        </a:xfrm>
      </p:grpSpPr>
      <p:grpSp>
        <p:nvGrpSpPr>
          <p:cNvPr id="368" name="Google Shape;368;g39b82a97786_0_15"/>
          <p:cNvGrpSpPr/>
          <p:nvPr/>
        </p:nvGrpSpPr>
        <p:grpSpPr>
          <a:xfrm>
            <a:off x="0" y="12"/>
            <a:ext cx="12192318" cy="309499"/>
            <a:chOff x="0" y="12"/>
            <a:chExt cx="12192318" cy="309499"/>
          </a:xfrm>
        </p:grpSpPr>
        <p:sp>
          <p:nvSpPr>
            <p:cNvPr id="369" name="Google Shape;369;g39b82a97786_0_15"/>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0" name="Google Shape;370;g39b82a97786_0_15"/>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71" name="Google Shape;371;g39b82a97786_0_15"/>
          <p:cNvSpPr txBox="1"/>
          <p:nvPr>
            <p:ph type="title"/>
          </p:nvPr>
        </p:nvSpPr>
        <p:spPr>
          <a:xfrm>
            <a:off x="536257" y="388619"/>
            <a:ext cx="7794600" cy="5754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sz="3100">
                <a:latin typeface="Calibri"/>
                <a:ea typeface="Calibri"/>
                <a:cs typeface="Calibri"/>
                <a:sym typeface="Calibri"/>
              </a:rPr>
              <a:t>Use Case 3: Expansion of New Financial Services</a:t>
            </a:r>
            <a:endParaRPr sz="3100">
              <a:latin typeface="Calibri"/>
              <a:ea typeface="Calibri"/>
              <a:cs typeface="Calibri"/>
              <a:sym typeface="Calibri"/>
            </a:endParaRPr>
          </a:p>
        </p:txBody>
      </p:sp>
      <p:sp>
        <p:nvSpPr>
          <p:cNvPr id="372" name="Google Shape;372;g39b82a97786_0_15"/>
          <p:cNvSpPr txBox="1"/>
          <p:nvPr/>
        </p:nvSpPr>
        <p:spPr>
          <a:xfrm>
            <a:off x="8331200" y="6493786"/>
            <a:ext cx="3670800" cy="275100"/>
          </a:xfrm>
          <a:prstGeom prst="rect">
            <a:avLst/>
          </a:prstGeom>
          <a:noFill/>
          <a:ln>
            <a:noFill/>
          </a:ln>
        </p:spPr>
        <p:txBody>
          <a:bodyPr anchorCtr="0" anchor="t" bIns="0" lIns="18275" spcFirstLastPara="1" rIns="18275" wrap="square" tIns="0">
            <a:noAutofit/>
          </a:bodyPr>
          <a:lstStyle/>
          <a:p>
            <a:pPr indent="0" lvl="0" marL="12700" marR="5080" rtl="0" algn="l">
              <a:lnSpc>
                <a:spcPct val="101600"/>
              </a:lnSpc>
              <a:spcBef>
                <a:spcPts val="0"/>
              </a:spcBef>
              <a:spcAft>
                <a:spcPts val="0"/>
              </a:spcAft>
              <a:buNone/>
            </a:pPr>
            <a:r>
              <a:rPr lang="en-US" sz="700">
                <a:latin typeface="Calibri"/>
                <a:ea typeface="Calibri"/>
                <a:cs typeface="Calibri"/>
                <a:sym typeface="Calibri"/>
              </a:rPr>
              <a:t>Above table: Excerpted from "Current Status of the Loan Industry and the Actual Situation of Fund Procurement by Operators" </a:t>
            </a:r>
            <a:br>
              <a:rPr lang="en-US" sz="700">
                <a:latin typeface="Calibri"/>
                <a:ea typeface="Calibri"/>
                <a:cs typeface="Calibri"/>
                <a:sym typeface="Calibri"/>
              </a:rPr>
            </a:br>
            <a:r>
              <a:rPr lang="en-US" sz="700">
                <a:latin typeface="Calibri"/>
                <a:ea typeface="Calibri"/>
                <a:cs typeface="Calibri"/>
                <a:sym typeface="Calibri"/>
              </a:rPr>
              <a:t>Below graph: Excerpted from "home-credit-annual-report-2017"</a:t>
            </a:r>
            <a:endParaRPr sz="700">
              <a:latin typeface="Calibri"/>
              <a:ea typeface="Calibri"/>
              <a:cs typeface="Calibri"/>
              <a:sym typeface="Calibri"/>
            </a:endParaRPr>
          </a:p>
        </p:txBody>
      </p:sp>
      <p:sp>
        <p:nvSpPr>
          <p:cNvPr id="373" name="Google Shape;373;g39b82a97786_0_15"/>
          <p:cNvSpPr txBox="1"/>
          <p:nvPr/>
        </p:nvSpPr>
        <p:spPr>
          <a:xfrm>
            <a:off x="884237" y="1207452"/>
            <a:ext cx="6079500" cy="3003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b="1" lang="en-US" sz="1800">
                <a:solidFill>
                  <a:srgbClr val="001F5F"/>
                </a:solidFill>
                <a:latin typeface="Calibri"/>
                <a:ea typeface="Calibri"/>
                <a:cs typeface="Calibri"/>
                <a:sym typeface="Calibri"/>
              </a:rPr>
              <a:t>Using default analysis, these service can also be realized!</a:t>
            </a:r>
            <a:endParaRPr sz="1800">
              <a:latin typeface="Calibri"/>
              <a:ea typeface="Calibri"/>
              <a:cs typeface="Calibri"/>
              <a:sym typeface="Calibri"/>
            </a:endParaRPr>
          </a:p>
        </p:txBody>
      </p:sp>
      <p:sp>
        <p:nvSpPr>
          <p:cNvPr id="374" name="Google Shape;374;g39b82a97786_0_15"/>
          <p:cNvSpPr txBox="1"/>
          <p:nvPr/>
        </p:nvSpPr>
        <p:spPr>
          <a:xfrm>
            <a:off x="365351" y="5342000"/>
            <a:ext cx="848100" cy="300300"/>
          </a:xfrm>
          <a:prstGeom prst="rect">
            <a:avLst/>
          </a:prstGeom>
          <a:noFill/>
          <a:ln>
            <a:noFill/>
          </a:ln>
        </p:spPr>
        <p:txBody>
          <a:bodyPr anchorCtr="0" anchor="ctr" bIns="0" lIns="18275" spcFirstLastPara="1" rIns="18275" wrap="square" tIns="0">
            <a:noAutofit/>
          </a:bodyPr>
          <a:lstStyle/>
          <a:p>
            <a:pPr indent="0" lvl="0" marL="12700" rtl="0" algn="ctr">
              <a:lnSpc>
                <a:spcPct val="100000"/>
              </a:lnSpc>
              <a:spcBef>
                <a:spcPts val="0"/>
              </a:spcBef>
              <a:spcAft>
                <a:spcPts val="0"/>
              </a:spcAft>
              <a:buNone/>
            </a:pPr>
            <a:r>
              <a:rPr lang="en-US">
                <a:solidFill>
                  <a:srgbClr val="FFFFFF"/>
                </a:solidFill>
                <a:latin typeface="Calibri"/>
                <a:ea typeface="Calibri"/>
                <a:cs typeface="Calibri"/>
                <a:sym typeface="Calibri"/>
              </a:rPr>
              <a:t>Overview</a:t>
            </a:r>
            <a:endParaRPr>
              <a:latin typeface="Calibri"/>
              <a:ea typeface="Calibri"/>
              <a:cs typeface="Calibri"/>
              <a:sym typeface="Calibri"/>
            </a:endParaRPr>
          </a:p>
        </p:txBody>
      </p:sp>
      <p:sp>
        <p:nvSpPr>
          <p:cNvPr id="375" name="Google Shape;375;g39b82a97786_0_15"/>
          <p:cNvSpPr txBox="1"/>
          <p:nvPr/>
        </p:nvSpPr>
        <p:spPr>
          <a:xfrm>
            <a:off x="1451863" y="5305361"/>
            <a:ext cx="6334200" cy="1477500"/>
          </a:xfrm>
          <a:prstGeom prst="rect">
            <a:avLst/>
          </a:prstGeom>
          <a:noFill/>
          <a:ln>
            <a:noFill/>
          </a:ln>
        </p:spPr>
        <p:txBody>
          <a:bodyPr anchorCtr="0" anchor="t" bIns="0" lIns="18275" spcFirstLastPara="1" rIns="18275" wrap="square" tIns="0">
            <a:noAutofit/>
          </a:bodyPr>
          <a:lstStyle/>
          <a:p>
            <a:pPr indent="0" lvl="0" marL="12700" marR="83185" rtl="0" algn="l">
              <a:lnSpc>
                <a:spcPct val="116363"/>
              </a:lnSpc>
              <a:spcBef>
                <a:spcPts val="0"/>
              </a:spcBef>
              <a:spcAft>
                <a:spcPts val="0"/>
              </a:spcAft>
              <a:buNone/>
            </a:pPr>
            <a:r>
              <a:rPr lang="en-US" sz="1100">
                <a:solidFill>
                  <a:srgbClr val="252525"/>
                </a:solidFill>
                <a:latin typeface="Calibri"/>
                <a:ea typeface="Calibri"/>
                <a:cs typeface="Calibri"/>
                <a:sym typeface="Calibri"/>
              </a:rPr>
              <a:t>Currently, although the purposes for borrowing are becoming diverse, 70% of them are cash loans, which are usually used especially for purchasing home appliances, traveling, home renovations, education, wedding expenses, medical expenses, and various other purposes.</a:t>
            </a:r>
            <a:endParaRPr sz="1100">
              <a:latin typeface="Calibri"/>
              <a:ea typeface="Calibri"/>
              <a:cs typeface="Calibri"/>
              <a:sym typeface="Calibri"/>
            </a:endParaRPr>
          </a:p>
          <a:p>
            <a:pPr indent="0" lvl="0" marL="12700" marR="5080" rtl="0" algn="l">
              <a:lnSpc>
                <a:spcPct val="88700"/>
              </a:lnSpc>
              <a:spcBef>
                <a:spcPts val="0"/>
              </a:spcBef>
              <a:spcAft>
                <a:spcPts val="0"/>
              </a:spcAft>
              <a:buNone/>
            </a:pPr>
            <a:r>
              <a:rPr lang="en-US" sz="1100">
                <a:solidFill>
                  <a:srgbClr val="252525"/>
                </a:solidFill>
                <a:latin typeface="Calibri"/>
                <a:ea typeface="Calibri"/>
                <a:cs typeface="Calibri"/>
                <a:sym typeface="Calibri"/>
              </a:rPr>
              <a:t>The new service utilizing default analysis offers benefits to your company, merchants, and customers. The benefit to customers is that by contracting with a HomeCredit loan, they can repay cheaply and with peace of mind. Also, merchants do not need new capital investment to appeal only to targeted customers through purchase analysis. Furthermore, your company can expect a significant increase in revenue by increasing the number of users.</a:t>
            </a:r>
            <a:endParaRPr sz="1100">
              <a:latin typeface="Calibri"/>
              <a:ea typeface="Calibri"/>
              <a:cs typeface="Calibri"/>
              <a:sym typeface="Calibri"/>
            </a:endParaRPr>
          </a:p>
        </p:txBody>
      </p:sp>
      <p:grpSp>
        <p:nvGrpSpPr>
          <p:cNvPr id="376" name="Google Shape;376;g39b82a97786_0_15"/>
          <p:cNvGrpSpPr/>
          <p:nvPr/>
        </p:nvGrpSpPr>
        <p:grpSpPr>
          <a:xfrm>
            <a:off x="5238750" y="4114800"/>
            <a:ext cx="1443101" cy="585851"/>
            <a:chOff x="5238750" y="4114800"/>
            <a:chExt cx="1443101" cy="585851"/>
          </a:xfrm>
        </p:grpSpPr>
        <p:sp>
          <p:nvSpPr>
            <p:cNvPr id="377" name="Google Shape;377;g39b82a97786_0_15"/>
            <p:cNvSpPr/>
            <p:nvPr/>
          </p:nvSpPr>
          <p:spPr>
            <a:xfrm>
              <a:off x="5238750" y="4114800"/>
              <a:ext cx="1438275" cy="581025"/>
            </a:xfrm>
            <a:custGeom>
              <a:rect b="b" l="l" r="r" t="t"/>
              <a:pathLst>
                <a:path extrusionOk="0" h="581025" w="1438275">
                  <a:moveTo>
                    <a:pt x="1341754" y="0"/>
                  </a:moveTo>
                  <a:lnTo>
                    <a:pt x="96265" y="0"/>
                  </a:lnTo>
                  <a:lnTo>
                    <a:pt x="58800" y="7619"/>
                  </a:lnTo>
                  <a:lnTo>
                    <a:pt x="28194" y="28320"/>
                  </a:lnTo>
                  <a:lnTo>
                    <a:pt x="7620" y="59055"/>
                  </a:lnTo>
                  <a:lnTo>
                    <a:pt x="0" y="96774"/>
                  </a:lnTo>
                  <a:lnTo>
                    <a:pt x="0" y="483869"/>
                  </a:lnTo>
                  <a:lnTo>
                    <a:pt x="7620" y="521588"/>
                  </a:lnTo>
                  <a:lnTo>
                    <a:pt x="28194" y="552323"/>
                  </a:lnTo>
                  <a:lnTo>
                    <a:pt x="58800" y="573024"/>
                  </a:lnTo>
                  <a:lnTo>
                    <a:pt x="96265" y="580644"/>
                  </a:lnTo>
                  <a:lnTo>
                    <a:pt x="1341754" y="580644"/>
                  </a:lnTo>
                  <a:lnTo>
                    <a:pt x="1379220" y="573024"/>
                  </a:lnTo>
                  <a:lnTo>
                    <a:pt x="1409827" y="552323"/>
                  </a:lnTo>
                  <a:lnTo>
                    <a:pt x="1430527" y="521588"/>
                  </a:lnTo>
                  <a:lnTo>
                    <a:pt x="1438148" y="483869"/>
                  </a:lnTo>
                  <a:lnTo>
                    <a:pt x="1438148" y="96774"/>
                  </a:lnTo>
                  <a:lnTo>
                    <a:pt x="1430527" y="59055"/>
                  </a:lnTo>
                  <a:lnTo>
                    <a:pt x="1409827" y="28320"/>
                  </a:lnTo>
                  <a:lnTo>
                    <a:pt x="1379220" y="7619"/>
                  </a:lnTo>
                  <a:lnTo>
                    <a:pt x="1341754" y="0"/>
                  </a:lnTo>
                  <a:close/>
                </a:path>
              </a:pathLst>
            </a:custGeom>
            <a:solidFill>
              <a:srgbClr val="001F5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8" name="Google Shape;378;g39b82a97786_0_15"/>
            <p:cNvSpPr/>
            <p:nvPr/>
          </p:nvSpPr>
          <p:spPr>
            <a:xfrm>
              <a:off x="5243576" y="4119626"/>
              <a:ext cx="1438275" cy="581025"/>
            </a:xfrm>
            <a:custGeom>
              <a:rect b="b" l="l" r="r" t="t"/>
              <a:pathLst>
                <a:path extrusionOk="0" h="581025" w="1438275">
                  <a:moveTo>
                    <a:pt x="0" y="96774"/>
                  </a:moveTo>
                  <a:lnTo>
                    <a:pt x="7493" y="59055"/>
                  </a:lnTo>
                  <a:lnTo>
                    <a:pt x="28194" y="28321"/>
                  </a:lnTo>
                  <a:lnTo>
                    <a:pt x="58800" y="7493"/>
                  </a:lnTo>
                  <a:lnTo>
                    <a:pt x="96265" y="0"/>
                  </a:lnTo>
                  <a:lnTo>
                    <a:pt x="1341754" y="0"/>
                  </a:lnTo>
                  <a:lnTo>
                    <a:pt x="1379220" y="7493"/>
                  </a:lnTo>
                  <a:lnTo>
                    <a:pt x="1409827" y="28321"/>
                  </a:lnTo>
                  <a:lnTo>
                    <a:pt x="1430401" y="59055"/>
                  </a:lnTo>
                  <a:lnTo>
                    <a:pt x="1438021" y="96774"/>
                  </a:lnTo>
                  <a:lnTo>
                    <a:pt x="1438021" y="483743"/>
                  </a:lnTo>
                  <a:lnTo>
                    <a:pt x="1430401" y="521462"/>
                  </a:lnTo>
                  <a:lnTo>
                    <a:pt x="1409827" y="552196"/>
                  </a:lnTo>
                  <a:lnTo>
                    <a:pt x="1379220" y="573024"/>
                  </a:lnTo>
                  <a:lnTo>
                    <a:pt x="1341754" y="580517"/>
                  </a:lnTo>
                  <a:lnTo>
                    <a:pt x="96265" y="580517"/>
                  </a:lnTo>
                  <a:lnTo>
                    <a:pt x="58800" y="573024"/>
                  </a:lnTo>
                  <a:lnTo>
                    <a:pt x="28194" y="552196"/>
                  </a:lnTo>
                  <a:lnTo>
                    <a:pt x="7493" y="521462"/>
                  </a:lnTo>
                  <a:lnTo>
                    <a:pt x="0" y="483743"/>
                  </a:lnTo>
                  <a:lnTo>
                    <a:pt x="0" y="96774"/>
                  </a:lnTo>
                  <a:close/>
                </a:path>
              </a:pathLst>
            </a:custGeom>
            <a:noFill/>
            <a:ln cap="flat" cmpd="sng" w="12700">
              <a:solidFill>
                <a:srgbClr val="001F5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79" name="Google Shape;379;g39b82a97786_0_15"/>
          <p:cNvSpPr txBox="1"/>
          <p:nvPr/>
        </p:nvSpPr>
        <p:spPr>
          <a:xfrm>
            <a:off x="5336601" y="4226000"/>
            <a:ext cx="1324500" cy="369600"/>
          </a:xfrm>
          <a:prstGeom prst="rect">
            <a:avLst/>
          </a:prstGeom>
          <a:noFill/>
          <a:ln>
            <a:noFill/>
          </a:ln>
        </p:spPr>
        <p:txBody>
          <a:bodyPr anchorCtr="0" anchor="ctr" bIns="0" lIns="18275" spcFirstLastPara="1" rIns="18275" wrap="square" tIns="0">
            <a:noAutofit/>
          </a:bodyPr>
          <a:lstStyle/>
          <a:p>
            <a:pPr indent="0" lvl="0" marL="12700" rtl="0" algn="ctr">
              <a:lnSpc>
                <a:spcPct val="100000"/>
              </a:lnSpc>
              <a:spcBef>
                <a:spcPts val="0"/>
              </a:spcBef>
              <a:spcAft>
                <a:spcPts val="0"/>
              </a:spcAft>
              <a:buNone/>
            </a:pPr>
            <a:r>
              <a:rPr b="1" lang="en-US" sz="1800">
                <a:solidFill>
                  <a:srgbClr val="FFFFFF"/>
                </a:solidFill>
                <a:latin typeface="Calibri"/>
                <a:ea typeface="Calibri"/>
                <a:cs typeface="Calibri"/>
                <a:sym typeface="Calibri"/>
              </a:rPr>
              <a:t>Customer</a:t>
            </a:r>
            <a:endParaRPr sz="1800">
              <a:latin typeface="Calibri"/>
              <a:ea typeface="Calibri"/>
              <a:cs typeface="Calibri"/>
              <a:sym typeface="Calibri"/>
            </a:endParaRPr>
          </a:p>
        </p:txBody>
      </p:sp>
      <p:grpSp>
        <p:nvGrpSpPr>
          <p:cNvPr id="380" name="Google Shape;380;g39b82a97786_0_15"/>
          <p:cNvGrpSpPr/>
          <p:nvPr/>
        </p:nvGrpSpPr>
        <p:grpSpPr>
          <a:xfrm>
            <a:off x="1276349" y="4114800"/>
            <a:ext cx="1443101" cy="585851"/>
            <a:chOff x="1276349" y="4114800"/>
            <a:chExt cx="1443101" cy="585851"/>
          </a:xfrm>
        </p:grpSpPr>
        <p:sp>
          <p:nvSpPr>
            <p:cNvPr id="381" name="Google Shape;381;g39b82a97786_0_15"/>
            <p:cNvSpPr/>
            <p:nvPr/>
          </p:nvSpPr>
          <p:spPr>
            <a:xfrm>
              <a:off x="1276349" y="4114800"/>
              <a:ext cx="1438275" cy="581025"/>
            </a:xfrm>
            <a:custGeom>
              <a:rect b="b" l="l" r="r" t="t"/>
              <a:pathLst>
                <a:path extrusionOk="0" h="581025" w="1438275">
                  <a:moveTo>
                    <a:pt x="1341755" y="0"/>
                  </a:moveTo>
                  <a:lnTo>
                    <a:pt x="96393" y="0"/>
                  </a:lnTo>
                  <a:lnTo>
                    <a:pt x="58800" y="7619"/>
                  </a:lnTo>
                  <a:lnTo>
                    <a:pt x="28193" y="28320"/>
                  </a:lnTo>
                  <a:lnTo>
                    <a:pt x="7619" y="59055"/>
                  </a:lnTo>
                  <a:lnTo>
                    <a:pt x="0" y="96774"/>
                  </a:lnTo>
                  <a:lnTo>
                    <a:pt x="0" y="483869"/>
                  </a:lnTo>
                  <a:lnTo>
                    <a:pt x="7619" y="521588"/>
                  </a:lnTo>
                  <a:lnTo>
                    <a:pt x="28193" y="552323"/>
                  </a:lnTo>
                  <a:lnTo>
                    <a:pt x="58800" y="573024"/>
                  </a:lnTo>
                  <a:lnTo>
                    <a:pt x="96393" y="580644"/>
                  </a:lnTo>
                  <a:lnTo>
                    <a:pt x="1341755" y="580644"/>
                  </a:lnTo>
                  <a:lnTo>
                    <a:pt x="1379220" y="573024"/>
                  </a:lnTo>
                  <a:lnTo>
                    <a:pt x="1409827" y="552323"/>
                  </a:lnTo>
                  <a:lnTo>
                    <a:pt x="1430527" y="521588"/>
                  </a:lnTo>
                  <a:lnTo>
                    <a:pt x="1438148" y="483869"/>
                  </a:lnTo>
                  <a:lnTo>
                    <a:pt x="1438148" y="96774"/>
                  </a:lnTo>
                  <a:lnTo>
                    <a:pt x="1430527" y="59055"/>
                  </a:lnTo>
                  <a:lnTo>
                    <a:pt x="1409827" y="28320"/>
                  </a:lnTo>
                  <a:lnTo>
                    <a:pt x="1379220" y="7619"/>
                  </a:lnTo>
                  <a:lnTo>
                    <a:pt x="1341755" y="0"/>
                  </a:lnTo>
                  <a:close/>
                </a:path>
              </a:pathLst>
            </a:custGeom>
            <a:solidFill>
              <a:srgbClr val="001F5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2" name="Google Shape;382;g39b82a97786_0_15"/>
            <p:cNvSpPr/>
            <p:nvPr/>
          </p:nvSpPr>
          <p:spPr>
            <a:xfrm>
              <a:off x="1281175" y="4119626"/>
              <a:ext cx="1438275" cy="581025"/>
            </a:xfrm>
            <a:custGeom>
              <a:rect b="b" l="l" r="r" t="t"/>
              <a:pathLst>
                <a:path extrusionOk="0" h="581025" w="1438275">
                  <a:moveTo>
                    <a:pt x="0" y="96774"/>
                  </a:moveTo>
                  <a:lnTo>
                    <a:pt x="7493" y="59055"/>
                  </a:lnTo>
                  <a:lnTo>
                    <a:pt x="28193" y="28321"/>
                  </a:lnTo>
                  <a:lnTo>
                    <a:pt x="58801" y="7493"/>
                  </a:lnTo>
                  <a:lnTo>
                    <a:pt x="96265" y="0"/>
                  </a:lnTo>
                  <a:lnTo>
                    <a:pt x="1341755" y="0"/>
                  </a:lnTo>
                  <a:lnTo>
                    <a:pt x="1379220" y="7493"/>
                  </a:lnTo>
                  <a:lnTo>
                    <a:pt x="1409827" y="28321"/>
                  </a:lnTo>
                  <a:lnTo>
                    <a:pt x="1430401" y="59055"/>
                  </a:lnTo>
                  <a:lnTo>
                    <a:pt x="1438021" y="96774"/>
                  </a:lnTo>
                  <a:lnTo>
                    <a:pt x="1438021" y="483743"/>
                  </a:lnTo>
                  <a:lnTo>
                    <a:pt x="1430401" y="521462"/>
                  </a:lnTo>
                  <a:lnTo>
                    <a:pt x="1409827" y="552196"/>
                  </a:lnTo>
                  <a:lnTo>
                    <a:pt x="1379220" y="573024"/>
                  </a:lnTo>
                  <a:lnTo>
                    <a:pt x="1341755" y="580517"/>
                  </a:lnTo>
                  <a:lnTo>
                    <a:pt x="96265" y="580517"/>
                  </a:lnTo>
                  <a:lnTo>
                    <a:pt x="58801" y="573024"/>
                  </a:lnTo>
                  <a:lnTo>
                    <a:pt x="28193" y="552196"/>
                  </a:lnTo>
                  <a:lnTo>
                    <a:pt x="7493" y="521462"/>
                  </a:lnTo>
                  <a:lnTo>
                    <a:pt x="0" y="483743"/>
                  </a:lnTo>
                  <a:lnTo>
                    <a:pt x="0" y="96774"/>
                  </a:lnTo>
                  <a:close/>
                </a:path>
              </a:pathLst>
            </a:custGeom>
            <a:noFill/>
            <a:ln cap="flat" cmpd="sng" w="12700">
              <a:solidFill>
                <a:srgbClr val="001F5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83" name="Google Shape;383;g39b82a97786_0_15"/>
          <p:cNvSpPr txBox="1"/>
          <p:nvPr/>
        </p:nvSpPr>
        <p:spPr>
          <a:xfrm>
            <a:off x="1347851" y="4226000"/>
            <a:ext cx="1209600" cy="369600"/>
          </a:xfrm>
          <a:prstGeom prst="rect">
            <a:avLst/>
          </a:prstGeom>
          <a:noFill/>
          <a:ln>
            <a:noFill/>
          </a:ln>
        </p:spPr>
        <p:txBody>
          <a:bodyPr anchorCtr="0" anchor="ctr" bIns="0" lIns="18275" spcFirstLastPara="1" rIns="18275" wrap="square" tIns="0">
            <a:noAutofit/>
          </a:bodyPr>
          <a:lstStyle/>
          <a:p>
            <a:pPr indent="0" lvl="0" marL="12700" rtl="0" algn="ctr">
              <a:lnSpc>
                <a:spcPct val="100000"/>
              </a:lnSpc>
              <a:spcBef>
                <a:spcPts val="0"/>
              </a:spcBef>
              <a:spcAft>
                <a:spcPts val="0"/>
              </a:spcAft>
              <a:buNone/>
            </a:pPr>
            <a:r>
              <a:rPr b="1" lang="en-US" sz="1800">
                <a:solidFill>
                  <a:srgbClr val="FFFFFF"/>
                </a:solidFill>
                <a:latin typeface="Calibri"/>
                <a:ea typeface="Calibri"/>
                <a:cs typeface="Calibri"/>
                <a:sym typeface="Calibri"/>
              </a:rPr>
              <a:t>Merchant</a:t>
            </a:r>
            <a:endParaRPr sz="1800">
              <a:latin typeface="Calibri"/>
              <a:ea typeface="Calibri"/>
              <a:cs typeface="Calibri"/>
              <a:sym typeface="Calibri"/>
            </a:endParaRPr>
          </a:p>
        </p:txBody>
      </p:sp>
      <p:grpSp>
        <p:nvGrpSpPr>
          <p:cNvPr id="384" name="Google Shape;384;g39b82a97786_0_15"/>
          <p:cNvGrpSpPr/>
          <p:nvPr/>
        </p:nvGrpSpPr>
        <p:grpSpPr>
          <a:xfrm>
            <a:off x="1933575" y="2509901"/>
            <a:ext cx="4757801" cy="2176398"/>
            <a:chOff x="1933575" y="2509901"/>
            <a:chExt cx="4757801" cy="2176398"/>
          </a:xfrm>
        </p:grpSpPr>
        <p:sp>
          <p:nvSpPr>
            <p:cNvPr id="385" name="Google Shape;385;g39b82a97786_0_15"/>
            <p:cNvSpPr/>
            <p:nvPr/>
          </p:nvSpPr>
          <p:spPr>
            <a:xfrm>
              <a:off x="1933575" y="2543174"/>
              <a:ext cx="3914775" cy="2143125"/>
            </a:xfrm>
            <a:custGeom>
              <a:rect b="b" l="l" r="r" t="t"/>
              <a:pathLst>
                <a:path extrusionOk="0" h="2143125" w="3914775">
                  <a:moveTo>
                    <a:pt x="833120" y="177927"/>
                  </a:moveTo>
                  <a:lnTo>
                    <a:pt x="800481" y="157607"/>
                  </a:lnTo>
                  <a:lnTo>
                    <a:pt x="125603" y="1243838"/>
                  </a:lnTo>
                  <a:lnTo>
                    <a:pt x="0" y="1165352"/>
                  </a:lnTo>
                  <a:lnTo>
                    <a:pt x="18669" y="1452372"/>
                  </a:lnTo>
                  <a:lnTo>
                    <a:pt x="283718" y="1342644"/>
                  </a:lnTo>
                  <a:lnTo>
                    <a:pt x="158242" y="1264158"/>
                  </a:lnTo>
                  <a:lnTo>
                    <a:pt x="833120" y="177927"/>
                  </a:lnTo>
                  <a:close/>
                </a:path>
                <a:path extrusionOk="0" h="2143125" w="3914775">
                  <a:moveTo>
                    <a:pt x="1142746" y="341757"/>
                  </a:moveTo>
                  <a:lnTo>
                    <a:pt x="1119251" y="55118"/>
                  </a:lnTo>
                  <a:lnTo>
                    <a:pt x="856107" y="169291"/>
                  </a:lnTo>
                  <a:lnTo>
                    <a:pt x="982980" y="245618"/>
                  </a:lnTo>
                  <a:lnTo>
                    <a:pt x="326517" y="1343152"/>
                  </a:lnTo>
                  <a:lnTo>
                    <a:pt x="359410" y="1363091"/>
                  </a:lnTo>
                  <a:lnTo>
                    <a:pt x="1015873" y="265430"/>
                  </a:lnTo>
                  <a:lnTo>
                    <a:pt x="1142746" y="341757"/>
                  </a:lnTo>
                  <a:close/>
                </a:path>
                <a:path extrusionOk="0" h="2143125" w="3914775">
                  <a:moveTo>
                    <a:pt x="2758313" y="1974977"/>
                  </a:moveTo>
                  <a:lnTo>
                    <a:pt x="2529459" y="1807337"/>
                  </a:lnTo>
                  <a:lnTo>
                    <a:pt x="2529459" y="1955673"/>
                  </a:lnTo>
                  <a:lnTo>
                    <a:pt x="1248918" y="1955673"/>
                  </a:lnTo>
                  <a:lnTo>
                    <a:pt x="1248918" y="1994281"/>
                  </a:lnTo>
                  <a:lnTo>
                    <a:pt x="2529459" y="1994281"/>
                  </a:lnTo>
                  <a:lnTo>
                    <a:pt x="2529459" y="2142617"/>
                  </a:lnTo>
                  <a:lnTo>
                    <a:pt x="2758313" y="1974977"/>
                  </a:lnTo>
                  <a:close/>
                </a:path>
                <a:path extrusionOk="0" h="2143125" w="3914775">
                  <a:moveTo>
                    <a:pt x="2758313" y="1710182"/>
                  </a:moveTo>
                  <a:lnTo>
                    <a:pt x="1477772" y="1710182"/>
                  </a:lnTo>
                  <a:lnTo>
                    <a:pt x="1477772" y="1561846"/>
                  </a:lnTo>
                  <a:lnTo>
                    <a:pt x="1248918" y="1729486"/>
                  </a:lnTo>
                  <a:lnTo>
                    <a:pt x="1477772" y="1897126"/>
                  </a:lnTo>
                  <a:lnTo>
                    <a:pt x="1477772" y="1748663"/>
                  </a:lnTo>
                  <a:lnTo>
                    <a:pt x="2758313" y="1748663"/>
                  </a:lnTo>
                  <a:lnTo>
                    <a:pt x="2758313" y="1710182"/>
                  </a:lnTo>
                  <a:close/>
                </a:path>
                <a:path extrusionOk="0" h="2143125" w="3914775">
                  <a:moveTo>
                    <a:pt x="3800094" y="1214882"/>
                  </a:moveTo>
                  <a:lnTo>
                    <a:pt x="3672332" y="1289812"/>
                  </a:lnTo>
                  <a:lnTo>
                    <a:pt x="3028569" y="184658"/>
                  </a:lnTo>
                  <a:lnTo>
                    <a:pt x="2995422" y="204089"/>
                  </a:lnTo>
                  <a:lnTo>
                    <a:pt x="3639185" y="1309243"/>
                  </a:lnTo>
                  <a:lnTo>
                    <a:pt x="3511423" y="1384046"/>
                  </a:lnTo>
                  <a:lnTo>
                    <a:pt x="3773297" y="1501267"/>
                  </a:lnTo>
                  <a:lnTo>
                    <a:pt x="3800094" y="1214882"/>
                  </a:lnTo>
                  <a:close/>
                </a:path>
                <a:path extrusionOk="0" h="2143125" w="3914775">
                  <a:moveTo>
                    <a:pt x="3914267" y="1298575"/>
                  </a:moveTo>
                  <a:lnTo>
                    <a:pt x="3270250" y="188595"/>
                  </a:lnTo>
                  <a:lnTo>
                    <a:pt x="3398139" y="114046"/>
                  </a:lnTo>
                  <a:lnTo>
                    <a:pt x="3138678" y="0"/>
                  </a:lnTo>
                  <a:lnTo>
                    <a:pt x="3109214" y="282575"/>
                  </a:lnTo>
                  <a:lnTo>
                    <a:pt x="3237103" y="208026"/>
                  </a:lnTo>
                  <a:lnTo>
                    <a:pt x="3881120" y="1318006"/>
                  </a:lnTo>
                  <a:lnTo>
                    <a:pt x="3914267" y="1298575"/>
                  </a:lnTo>
                  <a:close/>
                </a:path>
              </a:pathLst>
            </a:custGeom>
            <a:solidFill>
              <a:srgbClr val="5B9BD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6" name="Google Shape;386;g39b82a97786_0_15"/>
            <p:cNvSpPr/>
            <p:nvPr/>
          </p:nvSpPr>
          <p:spPr>
            <a:xfrm>
              <a:off x="5472176" y="2509901"/>
              <a:ext cx="1219200" cy="485775"/>
            </a:xfrm>
            <a:custGeom>
              <a:rect b="b" l="l" r="r" t="t"/>
              <a:pathLst>
                <a:path extrusionOk="0" h="485775" w="1219200">
                  <a:moveTo>
                    <a:pt x="104521" y="80899"/>
                  </a:moveTo>
                  <a:lnTo>
                    <a:pt x="110998" y="49402"/>
                  </a:lnTo>
                  <a:lnTo>
                    <a:pt x="128397" y="23622"/>
                  </a:lnTo>
                  <a:lnTo>
                    <a:pt x="154304" y="6350"/>
                  </a:lnTo>
                  <a:lnTo>
                    <a:pt x="185927" y="0"/>
                  </a:lnTo>
                  <a:lnTo>
                    <a:pt x="290322" y="0"/>
                  </a:lnTo>
                  <a:lnTo>
                    <a:pt x="568833" y="0"/>
                  </a:lnTo>
                  <a:lnTo>
                    <a:pt x="1137412" y="0"/>
                  </a:lnTo>
                  <a:lnTo>
                    <a:pt x="1169162" y="6350"/>
                  </a:lnTo>
                  <a:lnTo>
                    <a:pt x="1194943" y="23622"/>
                  </a:lnTo>
                  <a:lnTo>
                    <a:pt x="1212469" y="49402"/>
                  </a:lnTo>
                  <a:lnTo>
                    <a:pt x="1218819" y="80899"/>
                  </a:lnTo>
                  <a:lnTo>
                    <a:pt x="1218819" y="283083"/>
                  </a:lnTo>
                  <a:lnTo>
                    <a:pt x="1218819" y="404495"/>
                  </a:lnTo>
                  <a:lnTo>
                    <a:pt x="1212469" y="435990"/>
                  </a:lnTo>
                  <a:lnTo>
                    <a:pt x="1194943" y="461772"/>
                  </a:lnTo>
                  <a:lnTo>
                    <a:pt x="1169162" y="479044"/>
                  </a:lnTo>
                  <a:lnTo>
                    <a:pt x="1137412" y="485394"/>
                  </a:lnTo>
                  <a:lnTo>
                    <a:pt x="568833" y="485394"/>
                  </a:lnTo>
                  <a:lnTo>
                    <a:pt x="290322" y="485394"/>
                  </a:lnTo>
                  <a:lnTo>
                    <a:pt x="185927" y="485394"/>
                  </a:lnTo>
                  <a:lnTo>
                    <a:pt x="154304" y="479044"/>
                  </a:lnTo>
                  <a:lnTo>
                    <a:pt x="128397" y="461772"/>
                  </a:lnTo>
                  <a:lnTo>
                    <a:pt x="110998" y="435990"/>
                  </a:lnTo>
                  <a:lnTo>
                    <a:pt x="104521" y="404495"/>
                  </a:lnTo>
                  <a:lnTo>
                    <a:pt x="0" y="476885"/>
                  </a:lnTo>
                  <a:lnTo>
                    <a:pt x="104521" y="283083"/>
                  </a:lnTo>
                  <a:lnTo>
                    <a:pt x="104521" y="80899"/>
                  </a:lnTo>
                  <a:close/>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87" name="Google Shape;387;g39b82a97786_0_15"/>
          <p:cNvSpPr txBox="1"/>
          <p:nvPr/>
        </p:nvSpPr>
        <p:spPr>
          <a:xfrm>
            <a:off x="5636700" y="2551650"/>
            <a:ext cx="1044900" cy="3696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200">
                <a:latin typeface="Calibri"/>
                <a:ea typeface="Calibri"/>
                <a:cs typeface="Calibri"/>
                <a:sym typeface="Calibri"/>
              </a:rPr>
              <a:t>Customer Information</a:t>
            </a:r>
            <a:endParaRPr sz="1200">
              <a:latin typeface="Calibri"/>
              <a:ea typeface="Calibri"/>
              <a:cs typeface="Calibri"/>
              <a:sym typeface="Calibri"/>
            </a:endParaRPr>
          </a:p>
        </p:txBody>
      </p:sp>
      <p:sp>
        <p:nvSpPr>
          <p:cNvPr id="388" name="Google Shape;388;g39b82a97786_0_15"/>
          <p:cNvSpPr/>
          <p:nvPr/>
        </p:nvSpPr>
        <p:spPr>
          <a:xfrm>
            <a:off x="3462401" y="4643501"/>
            <a:ext cx="1114425" cy="542289"/>
          </a:xfrm>
          <a:custGeom>
            <a:rect b="b" l="l" r="r" t="t"/>
            <a:pathLst>
              <a:path extrusionOk="0" h="542289" w="1114425">
                <a:moveTo>
                  <a:pt x="0" y="135636"/>
                </a:moveTo>
                <a:lnTo>
                  <a:pt x="6350" y="104012"/>
                </a:lnTo>
                <a:lnTo>
                  <a:pt x="23749" y="78105"/>
                </a:lnTo>
                <a:lnTo>
                  <a:pt x="49657" y="60706"/>
                </a:lnTo>
                <a:lnTo>
                  <a:pt x="81279" y="54356"/>
                </a:lnTo>
                <a:lnTo>
                  <a:pt x="185547" y="54356"/>
                </a:lnTo>
                <a:lnTo>
                  <a:pt x="127508" y="0"/>
                </a:lnTo>
                <a:lnTo>
                  <a:pt x="464058" y="54356"/>
                </a:lnTo>
                <a:lnTo>
                  <a:pt x="1032510" y="54356"/>
                </a:lnTo>
                <a:lnTo>
                  <a:pt x="1064133" y="60706"/>
                </a:lnTo>
                <a:lnTo>
                  <a:pt x="1090040" y="78105"/>
                </a:lnTo>
                <a:lnTo>
                  <a:pt x="1107439" y="104012"/>
                </a:lnTo>
                <a:lnTo>
                  <a:pt x="1113916" y="135636"/>
                </a:lnTo>
                <a:lnTo>
                  <a:pt x="1113916" y="257682"/>
                </a:lnTo>
                <a:lnTo>
                  <a:pt x="1113916" y="460882"/>
                </a:lnTo>
                <a:lnTo>
                  <a:pt x="1107439" y="492632"/>
                </a:lnTo>
                <a:lnTo>
                  <a:pt x="1090040" y="518413"/>
                </a:lnTo>
                <a:lnTo>
                  <a:pt x="1064133" y="535813"/>
                </a:lnTo>
                <a:lnTo>
                  <a:pt x="1032510" y="542290"/>
                </a:lnTo>
                <a:lnTo>
                  <a:pt x="464058" y="542290"/>
                </a:lnTo>
                <a:lnTo>
                  <a:pt x="185547" y="542290"/>
                </a:lnTo>
                <a:lnTo>
                  <a:pt x="81279" y="542290"/>
                </a:lnTo>
                <a:lnTo>
                  <a:pt x="49657" y="535813"/>
                </a:lnTo>
                <a:lnTo>
                  <a:pt x="23749" y="518413"/>
                </a:lnTo>
                <a:lnTo>
                  <a:pt x="6350" y="492632"/>
                </a:lnTo>
                <a:lnTo>
                  <a:pt x="0" y="460882"/>
                </a:lnTo>
                <a:lnTo>
                  <a:pt x="0" y="257682"/>
                </a:lnTo>
                <a:lnTo>
                  <a:pt x="0" y="135636"/>
                </a:lnTo>
                <a:close/>
              </a:path>
            </a:pathLst>
          </a:custGeom>
          <a:noFill/>
          <a:ln cap="flat" cmpd="sng" w="12675">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9" name="Google Shape;389;g39b82a97786_0_15"/>
          <p:cNvSpPr txBox="1"/>
          <p:nvPr/>
        </p:nvSpPr>
        <p:spPr>
          <a:xfrm>
            <a:off x="3548925" y="4734500"/>
            <a:ext cx="939600" cy="369600"/>
          </a:xfrm>
          <a:prstGeom prst="rect">
            <a:avLst/>
          </a:prstGeom>
          <a:noFill/>
          <a:ln>
            <a:noFill/>
          </a:ln>
        </p:spPr>
        <p:txBody>
          <a:bodyPr anchorCtr="0" anchor="ctr" bIns="0" lIns="18275" spcFirstLastPara="1" rIns="18275" wrap="square" tIns="0">
            <a:noAutofit/>
          </a:bodyPr>
          <a:lstStyle/>
          <a:p>
            <a:pPr indent="-139700" lvl="0" marL="152400" marR="5080" rtl="0" algn="ctr">
              <a:lnSpc>
                <a:spcPct val="102499"/>
              </a:lnSpc>
              <a:spcBef>
                <a:spcPts val="0"/>
              </a:spcBef>
              <a:spcAft>
                <a:spcPts val="0"/>
              </a:spcAft>
              <a:buNone/>
            </a:pPr>
            <a:r>
              <a:rPr lang="en-US" sz="1200">
                <a:latin typeface="Calibri"/>
                <a:ea typeface="Calibri"/>
                <a:cs typeface="Calibri"/>
                <a:sym typeface="Calibri"/>
              </a:rPr>
              <a:t>Cashback</a:t>
            </a:r>
            <a:endParaRPr sz="1200">
              <a:latin typeface="Calibri"/>
              <a:ea typeface="Calibri"/>
              <a:cs typeface="Calibri"/>
              <a:sym typeface="Calibri"/>
            </a:endParaRPr>
          </a:p>
        </p:txBody>
      </p:sp>
      <p:sp>
        <p:nvSpPr>
          <p:cNvPr id="390" name="Google Shape;390;g39b82a97786_0_15"/>
          <p:cNvSpPr/>
          <p:nvPr/>
        </p:nvSpPr>
        <p:spPr>
          <a:xfrm>
            <a:off x="1266825" y="2552700"/>
            <a:ext cx="1209675" cy="485775"/>
          </a:xfrm>
          <a:custGeom>
            <a:rect b="b" l="l" r="r" t="t"/>
            <a:pathLst>
              <a:path extrusionOk="0" h="485775" w="1209675">
                <a:moveTo>
                  <a:pt x="0" y="80899"/>
                </a:moveTo>
                <a:lnTo>
                  <a:pt x="6350" y="49402"/>
                </a:lnTo>
                <a:lnTo>
                  <a:pt x="23621" y="23749"/>
                </a:lnTo>
                <a:lnTo>
                  <a:pt x="49275" y="6350"/>
                </a:lnTo>
                <a:lnTo>
                  <a:pt x="80772" y="0"/>
                </a:lnTo>
                <a:lnTo>
                  <a:pt x="644906" y="0"/>
                </a:lnTo>
                <a:lnTo>
                  <a:pt x="921257" y="0"/>
                </a:lnTo>
                <a:lnTo>
                  <a:pt x="1024763" y="0"/>
                </a:lnTo>
                <a:lnTo>
                  <a:pt x="1056258" y="6350"/>
                </a:lnTo>
                <a:lnTo>
                  <a:pt x="1081913" y="23749"/>
                </a:lnTo>
                <a:lnTo>
                  <a:pt x="1099185" y="49402"/>
                </a:lnTo>
                <a:lnTo>
                  <a:pt x="1105535" y="80899"/>
                </a:lnTo>
                <a:lnTo>
                  <a:pt x="1209548" y="26670"/>
                </a:lnTo>
                <a:lnTo>
                  <a:pt x="1105535" y="202311"/>
                </a:lnTo>
                <a:lnTo>
                  <a:pt x="1105535" y="404622"/>
                </a:lnTo>
                <a:lnTo>
                  <a:pt x="1099185" y="436117"/>
                </a:lnTo>
                <a:lnTo>
                  <a:pt x="1081913" y="461772"/>
                </a:lnTo>
                <a:lnTo>
                  <a:pt x="1056258" y="479171"/>
                </a:lnTo>
                <a:lnTo>
                  <a:pt x="1024763" y="485521"/>
                </a:lnTo>
                <a:lnTo>
                  <a:pt x="921257" y="485521"/>
                </a:lnTo>
                <a:lnTo>
                  <a:pt x="644906" y="485521"/>
                </a:lnTo>
                <a:lnTo>
                  <a:pt x="80772" y="485521"/>
                </a:lnTo>
                <a:lnTo>
                  <a:pt x="49275" y="479171"/>
                </a:lnTo>
                <a:lnTo>
                  <a:pt x="23621" y="461772"/>
                </a:lnTo>
                <a:lnTo>
                  <a:pt x="6350" y="436117"/>
                </a:lnTo>
                <a:lnTo>
                  <a:pt x="0" y="404622"/>
                </a:lnTo>
                <a:lnTo>
                  <a:pt x="0" y="202311"/>
                </a:lnTo>
                <a:lnTo>
                  <a:pt x="0" y="80899"/>
                </a:lnTo>
                <a:close/>
              </a:path>
            </a:pathLst>
          </a:custGeom>
          <a:noFill/>
          <a:ln cap="flat" cmpd="sng" w="19050">
            <a:solidFill>
              <a:srgbClr val="EC7C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1" name="Google Shape;391;g39b82a97786_0_15"/>
          <p:cNvSpPr txBox="1"/>
          <p:nvPr/>
        </p:nvSpPr>
        <p:spPr>
          <a:xfrm>
            <a:off x="1330900" y="2632275"/>
            <a:ext cx="939600" cy="3096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200">
                <a:latin typeface="Calibri"/>
                <a:ea typeface="Calibri"/>
                <a:cs typeface="Calibri"/>
                <a:sym typeface="Calibri"/>
              </a:rPr>
              <a:t>AI Purchase Analysis</a:t>
            </a:r>
            <a:endParaRPr sz="1200">
              <a:latin typeface="Calibri"/>
              <a:ea typeface="Calibri"/>
              <a:cs typeface="Calibri"/>
              <a:sym typeface="Calibri"/>
            </a:endParaRPr>
          </a:p>
        </p:txBody>
      </p:sp>
      <p:sp>
        <p:nvSpPr>
          <p:cNvPr id="392" name="Google Shape;392;g39b82a97786_0_15"/>
          <p:cNvSpPr/>
          <p:nvPr/>
        </p:nvSpPr>
        <p:spPr>
          <a:xfrm>
            <a:off x="2557526" y="2881376"/>
            <a:ext cx="2457450" cy="1390650"/>
          </a:xfrm>
          <a:custGeom>
            <a:rect b="b" l="l" r="r" t="t"/>
            <a:pathLst>
              <a:path extrusionOk="0" h="1390650" w="2457450">
                <a:moveTo>
                  <a:pt x="1238250" y="80899"/>
                </a:moveTo>
                <a:lnTo>
                  <a:pt x="1244600" y="49402"/>
                </a:lnTo>
                <a:lnTo>
                  <a:pt x="1261999" y="23622"/>
                </a:lnTo>
                <a:lnTo>
                  <a:pt x="1287907" y="6350"/>
                </a:lnTo>
                <a:lnTo>
                  <a:pt x="1319529" y="0"/>
                </a:lnTo>
                <a:lnTo>
                  <a:pt x="1888109" y="0"/>
                </a:lnTo>
                <a:lnTo>
                  <a:pt x="2166747" y="0"/>
                </a:lnTo>
                <a:lnTo>
                  <a:pt x="2271014" y="0"/>
                </a:lnTo>
                <a:lnTo>
                  <a:pt x="2302764" y="6350"/>
                </a:lnTo>
                <a:lnTo>
                  <a:pt x="2328672" y="23622"/>
                </a:lnTo>
                <a:lnTo>
                  <a:pt x="2346071" y="49402"/>
                </a:lnTo>
                <a:lnTo>
                  <a:pt x="2352421" y="80899"/>
                </a:lnTo>
                <a:lnTo>
                  <a:pt x="2457196" y="26670"/>
                </a:lnTo>
                <a:lnTo>
                  <a:pt x="2352421" y="202184"/>
                </a:lnTo>
                <a:lnTo>
                  <a:pt x="2352421" y="404495"/>
                </a:lnTo>
                <a:lnTo>
                  <a:pt x="2346071" y="435990"/>
                </a:lnTo>
                <a:lnTo>
                  <a:pt x="2328672" y="461772"/>
                </a:lnTo>
                <a:lnTo>
                  <a:pt x="2302764" y="479044"/>
                </a:lnTo>
                <a:lnTo>
                  <a:pt x="2271014" y="485394"/>
                </a:lnTo>
                <a:lnTo>
                  <a:pt x="2166747" y="485394"/>
                </a:lnTo>
                <a:lnTo>
                  <a:pt x="1888109" y="485394"/>
                </a:lnTo>
                <a:lnTo>
                  <a:pt x="1319529" y="485394"/>
                </a:lnTo>
                <a:lnTo>
                  <a:pt x="1287907" y="479044"/>
                </a:lnTo>
                <a:lnTo>
                  <a:pt x="1261999" y="461772"/>
                </a:lnTo>
                <a:lnTo>
                  <a:pt x="1244600" y="435990"/>
                </a:lnTo>
                <a:lnTo>
                  <a:pt x="1238250" y="404495"/>
                </a:lnTo>
                <a:lnTo>
                  <a:pt x="1238250" y="202184"/>
                </a:lnTo>
                <a:lnTo>
                  <a:pt x="1238250" y="80899"/>
                </a:lnTo>
                <a:close/>
              </a:path>
              <a:path extrusionOk="0" h="1390650" w="2457450">
                <a:moveTo>
                  <a:pt x="1266825" y="795655"/>
                </a:moveTo>
                <a:lnTo>
                  <a:pt x="1273175" y="763905"/>
                </a:lnTo>
                <a:lnTo>
                  <a:pt x="1290574" y="738124"/>
                </a:lnTo>
                <a:lnTo>
                  <a:pt x="1316482" y="720725"/>
                </a:lnTo>
                <a:lnTo>
                  <a:pt x="1348104" y="714375"/>
                </a:lnTo>
                <a:lnTo>
                  <a:pt x="1452372" y="714375"/>
                </a:lnTo>
                <a:lnTo>
                  <a:pt x="1730883" y="714375"/>
                </a:lnTo>
                <a:lnTo>
                  <a:pt x="2299335" y="714375"/>
                </a:lnTo>
                <a:lnTo>
                  <a:pt x="2330958" y="720725"/>
                </a:lnTo>
                <a:lnTo>
                  <a:pt x="2356866" y="738124"/>
                </a:lnTo>
                <a:lnTo>
                  <a:pt x="2374265" y="763905"/>
                </a:lnTo>
                <a:lnTo>
                  <a:pt x="2380741" y="795655"/>
                </a:lnTo>
                <a:lnTo>
                  <a:pt x="2380741" y="998855"/>
                </a:lnTo>
                <a:lnTo>
                  <a:pt x="2380741" y="1120775"/>
                </a:lnTo>
                <a:lnTo>
                  <a:pt x="2374265" y="1152398"/>
                </a:lnTo>
                <a:lnTo>
                  <a:pt x="2356866" y="1178179"/>
                </a:lnTo>
                <a:lnTo>
                  <a:pt x="2330958" y="1195578"/>
                </a:lnTo>
                <a:lnTo>
                  <a:pt x="2299335" y="1202055"/>
                </a:lnTo>
                <a:lnTo>
                  <a:pt x="1730883" y="1202055"/>
                </a:lnTo>
                <a:lnTo>
                  <a:pt x="1719326" y="1390523"/>
                </a:lnTo>
                <a:lnTo>
                  <a:pt x="1452372" y="1202055"/>
                </a:lnTo>
                <a:lnTo>
                  <a:pt x="1348104" y="1202055"/>
                </a:lnTo>
                <a:lnTo>
                  <a:pt x="1316482" y="1195578"/>
                </a:lnTo>
                <a:lnTo>
                  <a:pt x="1290574" y="1178179"/>
                </a:lnTo>
                <a:lnTo>
                  <a:pt x="1273175" y="1152398"/>
                </a:lnTo>
                <a:lnTo>
                  <a:pt x="1266825" y="1120775"/>
                </a:lnTo>
                <a:lnTo>
                  <a:pt x="1266825" y="998855"/>
                </a:lnTo>
                <a:lnTo>
                  <a:pt x="1266825" y="795655"/>
                </a:lnTo>
                <a:close/>
              </a:path>
              <a:path extrusionOk="0" h="1390650" w="2457450">
                <a:moveTo>
                  <a:pt x="115950" y="461899"/>
                </a:moveTo>
                <a:lnTo>
                  <a:pt x="122300" y="430402"/>
                </a:lnTo>
                <a:lnTo>
                  <a:pt x="139826" y="404622"/>
                </a:lnTo>
                <a:lnTo>
                  <a:pt x="165607" y="387350"/>
                </a:lnTo>
                <a:lnTo>
                  <a:pt x="197231" y="381000"/>
                </a:lnTo>
                <a:lnTo>
                  <a:pt x="301371" y="381000"/>
                </a:lnTo>
                <a:lnTo>
                  <a:pt x="579501" y="381000"/>
                </a:lnTo>
                <a:lnTo>
                  <a:pt x="1147190" y="381000"/>
                </a:lnTo>
                <a:lnTo>
                  <a:pt x="1178814" y="387350"/>
                </a:lnTo>
                <a:lnTo>
                  <a:pt x="1204722" y="404622"/>
                </a:lnTo>
                <a:lnTo>
                  <a:pt x="1222121" y="430402"/>
                </a:lnTo>
                <a:lnTo>
                  <a:pt x="1228471" y="461899"/>
                </a:lnTo>
                <a:lnTo>
                  <a:pt x="1228471" y="664083"/>
                </a:lnTo>
                <a:lnTo>
                  <a:pt x="1228471" y="785494"/>
                </a:lnTo>
                <a:lnTo>
                  <a:pt x="1222121" y="816991"/>
                </a:lnTo>
                <a:lnTo>
                  <a:pt x="1204722" y="842772"/>
                </a:lnTo>
                <a:lnTo>
                  <a:pt x="1178814" y="860044"/>
                </a:lnTo>
                <a:lnTo>
                  <a:pt x="1147190" y="866394"/>
                </a:lnTo>
                <a:lnTo>
                  <a:pt x="579501" y="866394"/>
                </a:lnTo>
                <a:lnTo>
                  <a:pt x="301371" y="866394"/>
                </a:lnTo>
                <a:lnTo>
                  <a:pt x="197231" y="866394"/>
                </a:lnTo>
                <a:lnTo>
                  <a:pt x="165607" y="860044"/>
                </a:lnTo>
                <a:lnTo>
                  <a:pt x="139826" y="842772"/>
                </a:lnTo>
                <a:lnTo>
                  <a:pt x="122300" y="816991"/>
                </a:lnTo>
                <a:lnTo>
                  <a:pt x="115950" y="785494"/>
                </a:lnTo>
                <a:lnTo>
                  <a:pt x="0" y="753999"/>
                </a:lnTo>
                <a:lnTo>
                  <a:pt x="115950" y="664083"/>
                </a:lnTo>
                <a:lnTo>
                  <a:pt x="115950" y="461899"/>
                </a:lnTo>
                <a:close/>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393" name="Google Shape;393;g39b82a97786_0_15"/>
          <p:cNvGrpSpPr/>
          <p:nvPr/>
        </p:nvGrpSpPr>
        <p:grpSpPr>
          <a:xfrm>
            <a:off x="602486" y="1619250"/>
            <a:ext cx="6798438" cy="3162300"/>
            <a:chOff x="602486" y="1619250"/>
            <a:chExt cx="6798438" cy="3162300"/>
          </a:xfrm>
        </p:grpSpPr>
        <p:pic>
          <p:nvPicPr>
            <p:cNvPr id="394" name="Google Shape;394;g39b82a97786_0_15"/>
            <p:cNvPicPr preferRelativeResize="0"/>
            <p:nvPr/>
          </p:nvPicPr>
          <p:blipFill rotWithShape="1">
            <a:blip r:embed="rId3">
              <a:alphaModFix/>
            </a:blip>
            <a:srcRect b="0" l="0" r="0" t="0"/>
            <a:stretch/>
          </p:blipFill>
          <p:spPr>
            <a:xfrm>
              <a:off x="6677024" y="4067175"/>
              <a:ext cx="723900" cy="714375"/>
            </a:xfrm>
            <a:prstGeom prst="rect">
              <a:avLst/>
            </a:prstGeom>
            <a:noFill/>
            <a:ln>
              <a:noFill/>
            </a:ln>
          </p:spPr>
        </p:pic>
        <p:pic>
          <p:nvPicPr>
            <p:cNvPr id="395" name="Google Shape;395;g39b82a97786_0_15"/>
            <p:cNvPicPr preferRelativeResize="0"/>
            <p:nvPr/>
          </p:nvPicPr>
          <p:blipFill rotWithShape="1">
            <a:blip r:embed="rId4">
              <a:alphaModFix/>
            </a:blip>
            <a:srcRect b="0" l="0" r="0" t="0"/>
            <a:stretch/>
          </p:blipFill>
          <p:spPr>
            <a:xfrm>
              <a:off x="602486" y="4204986"/>
              <a:ext cx="604777" cy="467327"/>
            </a:xfrm>
            <a:prstGeom prst="rect">
              <a:avLst/>
            </a:prstGeom>
            <a:noFill/>
            <a:ln>
              <a:noFill/>
            </a:ln>
          </p:spPr>
        </p:pic>
        <p:pic>
          <p:nvPicPr>
            <p:cNvPr id="396" name="Google Shape;396;g39b82a97786_0_15"/>
            <p:cNvPicPr preferRelativeResize="0"/>
            <p:nvPr/>
          </p:nvPicPr>
          <p:blipFill rotWithShape="1">
            <a:blip r:embed="rId5">
              <a:alphaModFix/>
            </a:blip>
            <a:srcRect b="0" l="0" r="0" t="0"/>
            <a:stretch/>
          </p:blipFill>
          <p:spPr>
            <a:xfrm>
              <a:off x="3162299" y="1619250"/>
              <a:ext cx="1638300" cy="923925"/>
            </a:xfrm>
            <a:prstGeom prst="rect">
              <a:avLst/>
            </a:prstGeom>
            <a:noFill/>
            <a:ln>
              <a:noFill/>
            </a:ln>
          </p:spPr>
        </p:pic>
      </p:grpSp>
      <p:sp>
        <p:nvSpPr>
          <p:cNvPr id="397" name="Google Shape;397;g39b82a97786_0_15"/>
          <p:cNvSpPr txBox="1"/>
          <p:nvPr/>
        </p:nvSpPr>
        <p:spPr>
          <a:xfrm>
            <a:off x="8479600" y="1129975"/>
            <a:ext cx="3334800" cy="2751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b="1" lang="en-US" sz="1500">
                <a:solidFill>
                  <a:srgbClr val="001F5F"/>
                </a:solidFill>
                <a:latin typeface="Calibri"/>
                <a:ea typeface="Calibri"/>
                <a:cs typeface="Calibri"/>
                <a:sym typeface="Calibri"/>
              </a:rPr>
              <a:t>Current state and issues of the industry</a:t>
            </a:r>
            <a:endParaRPr sz="1500">
              <a:latin typeface="Calibri"/>
              <a:ea typeface="Calibri"/>
              <a:cs typeface="Calibri"/>
              <a:sym typeface="Calibri"/>
            </a:endParaRPr>
          </a:p>
        </p:txBody>
      </p:sp>
      <p:sp>
        <p:nvSpPr>
          <p:cNvPr id="398" name="Google Shape;398;g39b82a97786_0_15"/>
          <p:cNvSpPr txBox="1"/>
          <p:nvPr/>
        </p:nvSpPr>
        <p:spPr>
          <a:xfrm>
            <a:off x="8391275" y="4289150"/>
            <a:ext cx="3334800" cy="1908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b="1" lang="en-US">
                <a:solidFill>
                  <a:srgbClr val="001F5F"/>
                </a:solidFill>
                <a:latin typeface="Calibri"/>
                <a:ea typeface="Calibri"/>
                <a:cs typeface="Calibri"/>
                <a:sym typeface="Calibri"/>
              </a:rPr>
              <a:t>Your company's revenue by loan type (2017)</a:t>
            </a:r>
            <a:endParaRPr>
              <a:latin typeface="Calibri"/>
              <a:ea typeface="Calibri"/>
              <a:cs typeface="Calibri"/>
              <a:sym typeface="Calibri"/>
            </a:endParaRPr>
          </a:p>
        </p:txBody>
      </p:sp>
      <p:sp>
        <p:nvSpPr>
          <p:cNvPr id="399" name="Google Shape;399;g39b82a97786_0_15"/>
          <p:cNvSpPr txBox="1"/>
          <p:nvPr/>
        </p:nvSpPr>
        <p:spPr>
          <a:xfrm>
            <a:off x="2788075" y="3298800"/>
            <a:ext cx="939600" cy="3696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200">
                <a:latin typeface="Calibri"/>
                <a:ea typeface="Calibri"/>
                <a:cs typeface="Calibri"/>
                <a:sym typeface="Calibri"/>
              </a:rPr>
              <a:t>Limited Plan </a:t>
            </a:r>
            <a:r>
              <a:rPr lang="en-US" sz="1200">
                <a:latin typeface="Calibri"/>
                <a:ea typeface="Calibri"/>
                <a:cs typeface="Calibri"/>
                <a:sym typeface="Calibri"/>
              </a:rPr>
              <a:t>Proposal</a:t>
            </a:r>
            <a:endParaRPr sz="1200">
              <a:latin typeface="Calibri"/>
              <a:ea typeface="Calibri"/>
              <a:cs typeface="Calibri"/>
              <a:sym typeface="Calibri"/>
            </a:endParaRPr>
          </a:p>
        </p:txBody>
      </p:sp>
      <p:sp>
        <p:nvSpPr>
          <p:cNvPr id="400" name="Google Shape;400;g39b82a97786_0_15"/>
          <p:cNvSpPr txBox="1"/>
          <p:nvPr/>
        </p:nvSpPr>
        <p:spPr>
          <a:xfrm>
            <a:off x="3906000" y="2936325"/>
            <a:ext cx="939600" cy="3696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200">
                <a:latin typeface="Calibri"/>
                <a:ea typeface="Calibri"/>
                <a:cs typeface="Calibri"/>
                <a:sym typeface="Calibri"/>
              </a:rPr>
              <a:t>Limited Plan Proposal</a:t>
            </a:r>
            <a:endParaRPr sz="1200">
              <a:latin typeface="Calibri"/>
              <a:ea typeface="Calibri"/>
              <a:cs typeface="Calibri"/>
              <a:sym typeface="Calibri"/>
            </a:endParaRPr>
          </a:p>
        </p:txBody>
      </p:sp>
      <p:sp>
        <p:nvSpPr>
          <p:cNvPr id="401" name="Google Shape;401;g39b82a97786_0_15"/>
          <p:cNvSpPr txBox="1"/>
          <p:nvPr/>
        </p:nvSpPr>
        <p:spPr>
          <a:xfrm>
            <a:off x="3906000" y="3642304"/>
            <a:ext cx="939600" cy="369600"/>
          </a:xfrm>
          <a:prstGeom prst="rect">
            <a:avLst/>
          </a:prstGeom>
          <a:noFill/>
          <a:ln>
            <a:noFill/>
          </a:ln>
        </p:spPr>
        <p:txBody>
          <a:bodyPr anchorCtr="0" anchor="t" bIns="0" lIns="18275" spcFirstLastPara="1" rIns="18275" wrap="square" tIns="0">
            <a:noAutofit/>
          </a:bodyPr>
          <a:lstStyle/>
          <a:p>
            <a:pPr indent="0" lvl="0" marL="12700" rtl="0" algn="ctr">
              <a:lnSpc>
                <a:spcPct val="100000"/>
              </a:lnSpc>
              <a:spcBef>
                <a:spcPts val="0"/>
              </a:spcBef>
              <a:spcAft>
                <a:spcPts val="0"/>
              </a:spcAft>
              <a:buNone/>
            </a:pPr>
            <a:r>
              <a:rPr lang="en-US" sz="1200">
                <a:latin typeface="Calibri"/>
                <a:ea typeface="Calibri"/>
                <a:cs typeface="Calibri"/>
                <a:sym typeface="Calibri"/>
              </a:rPr>
              <a:t>Loan Repayment</a:t>
            </a:r>
            <a:endParaRPr sz="1200">
              <a:latin typeface="Calibri"/>
              <a:ea typeface="Calibri"/>
              <a:cs typeface="Calibri"/>
              <a:sym typeface="Calibri"/>
            </a:endParaRPr>
          </a:p>
        </p:txBody>
      </p:sp>
      <p:pic>
        <p:nvPicPr>
          <p:cNvPr id="402" name="Google Shape;402;g39b82a97786_0_15"/>
          <p:cNvPicPr preferRelativeResize="0"/>
          <p:nvPr/>
        </p:nvPicPr>
        <p:blipFill rotWithShape="1">
          <a:blip r:embed="rId6">
            <a:alphaModFix/>
          </a:blip>
          <a:srcRect b="0" l="0" r="20804" t="0"/>
          <a:stretch/>
        </p:blipFill>
        <p:spPr>
          <a:xfrm>
            <a:off x="8952549" y="4560325"/>
            <a:ext cx="2132776" cy="1863675"/>
          </a:xfrm>
          <a:prstGeom prst="rect">
            <a:avLst/>
          </a:prstGeom>
          <a:noFill/>
          <a:ln>
            <a:noFill/>
          </a:ln>
        </p:spPr>
      </p:pic>
      <p:graphicFrame>
        <p:nvGraphicFramePr>
          <p:cNvPr id="403" name="Google Shape;403;g39b82a97786_0_15"/>
          <p:cNvGraphicFramePr/>
          <p:nvPr/>
        </p:nvGraphicFramePr>
        <p:xfrm>
          <a:off x="7915775" y="1479413"/>
          <a:ext cx="3000000" cy="3000000"/>
        </p:xfrm>
        <a:graphic>
          <a:graphicData uri="http://schemas.openxmlformats.org/drawingml/2006/table">
            <a:tbl>
              <a:tblPr>
                <a:noFill/>
                <a:tableStyleId>{97396D72-8856-479B-849B-58ECB45CE94D}</a:tableStyleId>
              </a:tblPr>
              <a:tblGrid>
                <a:gridCol w="1290925"/>
                <a:gridCol w="2795325"/>
              </a:tblGrid>
              <a:tr h="271300">
                <a:tc>
                  <a:txBody>
                    <a:bodyPr/>
                    <a:lstStyle/>
                    <a:p>
                      <a:pPr indent="0" lvl="0" marL="0" rtl="0" algn="ctr">
                        <a:lnSpc>
                          <a:spcPct val="115000"/>
                        </a:lnSpc>
                        <a:spcBef>
                          <a:spcPts val="0"/>
                        </a:spcBef>
                        <a:spcAft>
                          <a:spcPts val="0"/>
                        </a:spcAft>
                        <a:buNone/>
                      </a:pPr>
                      <a:r>
                        <a:rPr b="1" lang="en-US" sz="600"/>
                        <a:t>Category</a:t>
                      </a:r>
                      <a:endParaRPr b="1" sz="600"/>
                    </a:p>
                  </a:txBody>
                  <a:tcPr marT="91425" marB="91425" marR="91425" marL="91425">
                    <a:solidFill>
                      <a:srgbClr val="B6D7A8"/>
                    </a:solidFill>
                  </a:tcPr>
                </a:tc>
                <a:tc>
                  <a:txBody>
                    <a:bodyPr/>
                    <a:lstStyle/>
                    <a:p>
                      <a:pPr indent="0" lvl="0" marL="0" rtl="0" algn="ctr">
                        <a:lnSpc>
                          <a:spcPct val="115000"/>
                        </a:lnSpc>
                        <a:spcBef>
                          <a:spcPts val="0"/>
                        </a:spcBef>
                        <a:spcAft>
                          <a:spcPts val="0"/>
                        </a:spcAft>
                        <a:buNone/>
                      </a:pPr>
                      <a:r>
                        <a:rPr b="1" lang="en-US" sz="600"/>
                        <a:t>Findings from the Survey</a:t>
                      </a:r>
                      <a:endParaRPr b="1" sz="600"/>
                    </a:p>
                  </a:txBody>
                  <a:tcPr marT="91425" marB="91425" marR="91425" marL="91425">
                    <a:solidFill>
                      <a:srgbClr val="B6D7A8"/>
                    </a:solidFill>
                  </a:tcPr>
                </a:tc>
              </a:tr>
              <a:tr h="482350">
                <a:tc>
                  <a:txBody>
                    <a:bodyPr/>
                    <a:lstStyle/>
                    <a:p>
                      <a:pPr indent="0" lvl="0" marL="0" rtl="0" algn="l">
                        <a:spcBef>
                          <a:spcPts val="0"/>
                        </a:spcBef>
                        <a:spcAft>
                          <a:spcPts val="0"/>
                        </a:spcAft>
                        <a:buNone/>
                      </a:pPr>
                      <a:r>
                        <a:rPr b="1" lang="en-US" sz="500"/>
                        <a:t>Changes in the Macro Environment</a:t>
                      </a:r>
                      <a:r>
                        <a:rPr lang="en-US" sz="500"/>
                        <a:t> </a:t>
                      </a:r>
                      <a:br>
                        <a:rPr lang="en-US" sz="500"/>
                      </a:br>
                      <a:r>
                        <a:rPr lang="en-US" sz="500"/>
                        <a:t>・Widening economic disparities </a:t>
                      </a:r>
                      <a:br>
                        <a:rPr lang="en-US" sz="500"/>
                      </a:br>
                      <a:r>
                        <a:rPr lang="en-US" sz="500"/>
                        <a:t>・Advancement of the information society</a:t>
                      </a:r>
                      <a:endParaRPr sz="500"/>
                    </a:p>
                  </a:txBody>
                  <a:tcPr marT="91425" marB="91425" marR="91425" marL="91425" anchor="ctr">
                    <a:solidFill>
                      <a:srgbClr val="D9EAD3"/>
                    </a:solidFill>
                  </a:tcPr>
                </a:tc>
                <a:tc>
                  <a:txBody>
                    <a:bodyPr/>
                    <a:lstStyle/>
                    <a:p>
                      <a:pPr indent="0" lvl="0" marL="0" rtl="0" algn="l">
                        <a:spcBef>
                          <a:spcPts val="0"/>
                        </a:spcBef>
                        <a:spcAft>
                          <a:spcPts val="0"/>
                        </a:spcAft>
                        <a:buNone/>
                      </a:pPr>
                      <a:r>
                        <a:rPr lang="en-US" sz="500"/>
                        <a:t>・</a:t>
                      </a:r>
                      <a:r>
                        <a:rPr lang="en-US" sz="500"/>
                        <a:t>In response to changes in the social environment, it has become an urgent task to enhance credit assessment capabilities through the use of fintech and to improve user convenience by expanding new financial services.</a:t>
                      </a:r>
                      <a:endParaRPr sz="500"/>
                    </a:p>
                  </a:txBody>
                  <a:tcPr marT="91425" marB="91425" marR="91425" marL="91425" anchor="ctr">
                    <a:solidFill>
                      <a:srgbClr val="D9EAD3"/>
                    </a:solidFill>
                  </a:tcPr>
                </a:tc>
              </a:tr>
              <a:tr h="681125">
                <a:tc>
                  <a:txBody>
                    <a:bodyPr/>
                    <a:lstStyle/>
                    <a:p>
                      <a:pPr indent="0" lvl="0" marL="0" rtl="0" algn="l">
                        <a:spcBef>
                          <a:spcPts val="0"/>
                        </a:spcBef>
                        <a:spcAft>
                          <a:spcPts val="0"/>
                        </a:spcAft>
                        <a:buNone/>
                      </a:pPr>
                      <a:r>
                        <a:rPr b="1" lang="en-US" sz="500"/>
                        <a:t>Status of Borrowing Behavior</a:t>
                      </a:r>
                      <a:r>
                        <a:rPr lang="en-US" sz="500"/>
                        <a:t> </a:t>
                      </a:r>
                      <a:br>
                        <a:rPr lang="en-US" sz="600"/>
                      </a:br>
                      <a:r>
                        <a:rPr lang="en-US" sz="600"/>
                        <a:t>・</a:t>
                      </a:r>
                      <a:r>
                        <a:rPr lang="en-US" sz="500"/>
                        <a:t>Purpose of borrowing </a:t>
                      </a:r>
                      <a:br>
                        <a:rPr lang="en-US" sz="500"/>
                      </a:br>
                      <a:r>
                        <a:rPr lang="en-US" sz="500"/>
                        <a:t>・Motivation behind borrowing</a:t>
                      </a:r>
                      <a:endParaRPr sz="500"/>
                    </a:p>
                  </a:txBody>
                  <a:tcPr marT="91425" marB="91425" marR="91425" marL="91425" anchor="ctr">
                    <a:solidFill>
                      <a:srgbClr val="D9EAD3"/>
                    </a:solidFill>
                  </a:tcPr>
                </a:tc>
                <a:tc>
                  <a:txBody>
                    <a:bodyPr/>
                    <a:lstStyle/>
                    <a:p>
                      <a:pPr indent="0" lvl="0" marL="0" rtl="0" algn="l">
                        <a:spcBef>
                          <a:spcPts val="0"/>
                        </a:spcBef>
                        <a:spcAft>
                          <a:spcPts val="0"/>
                        </a:spcAft>
                        <a:buClr>
                          <a:schemeClr val="dk1"/>
                        </a:buClr>
                        <a:buSzPts val="1100"/>
                        <a:buFont typeface="Arial"/>
                        <a:buNone/>
                      </a:pPr>
                      <a:r>
                        <a:rPr lang="en-US" sz="500">
                          <a:solidFill>
                            <a:schemeClr val="dk1"/>
                          </a:solidFill>
                        </a:rPr>
                        <a:t>・Even as the business environment continues to change, there remains a steady demand for short-term borrowing such as temporary working capital.</a:t>
                      </a:r>
                      <a:endParaRPr sz="500">
                        <a:solidFill>
                          <a:schemeClr val="dk1"/>
                        </a:solidFill>
                      </a:endParaRPr>
                    </a:p>
                    <a:p>
                      <a:pPr indent="0" lvl="0" marL="0" rtl="0" algn="l">
                        <a:spcBef>
                          <a:spcPts val="0"/>
                        </a:spcBef>
                        <a:spcAft>
                          <a:spcPts val="0"/>
                        </a:spcAft>
                        <a:buClr>
                          <a:schemeClr val="dk1"/>
                        </a:buClr>
                        <a:buSzPts val="1100"/>
                        <a:buFont typeface="Arial"/>
                        <a:buNone/>
                      </a:pPr>
                      <a:r>
                        <a:rPr lang="en-US" sz="500">
                          <a:solidFill>
                            <a:schemeClr val="dk1"/>
                          </a:solidFill>
                        </a:rPr>
                        <a:t>・Various funding needs exist depending on the business conditions and circumstances of borrowers.</a:t>
                      </a:r>
                      <a:endParaRPr sz="500">
                        <a:solidFill>
                          <a:schemeClr val="dk1"/>
                        </a:solidFill>
                      </a:endParaRPr>
                    </a:p>
                    <a:p>
                      <a:pPr indent="0" lvl="0" marL="0" rtl="0" algn="l">
                        <a:spcBef>
                          <a:spcPts val="0"/>
                        </a:spcBef>
                        <a:spcAft>
                          <a:spcPts val="0"/>
                        </a:spcAft>
                        <a:buNone/>
                      </a:pPr>
                      <a:r>
                        <a:rPr lang="en-US" sz="500">
                          <a:solidFill>
                            <a:schemeClr val="dk1"/>
                          </a:solidFill>
                        </a:rPr>
                        <a:t>・Lenders play an important role in supporting the continuity of borrowers’ business activities, and are expected to provide consultation and assistance that respond flexibly to sudden changes in their situations.</a:t>
                      </a:r>
                      <a:endParaRPr sz="500"/>
                    </a:p>
                  </a:txBody>
                  <a:tcPr marT="91425" marB="91425" marR="91425" marL="91425" anchor="ctr">
                    <a:solidFill>
                      <a:srgbClr val="D9EAD3"/>
                    </a:solidFill>
                  </a:tcPr>
                </a:tc>
              </a:tr>
              <a:tr h="633050">
                <a:tc>
                  <a:txBody>
                    <a:bodyPr/>
                    <a:lstStyle/>
                    <a:p>
                      <a:pPr indent="0" lvl="0" marL="0" rtl="0" algn="ctr">
                        <a:spcBef>
                          <a:spcPts val="0"/>
                        </a:spcBef>
                        <a:spcAft>
                          <a:spcPts val="0"/>
                        </a:spcAft>
                        <a:buNone/>
                      </a:pPr>
                      <a:r>
                        <a:rPr b="1" lang="en-US" sz="500"/>
                        <a:t>Safety Net</a:t>
                      </a:r>
                      <a:endParaRPr b="1" sz="500"/>
                    </a:p>
                  </a:txBody>
                  <a:tcPr marT="91425" marB="91425" marR="91425" marL="91425" anchor="ctr">
                    <a:solidFill>
                      <a:srgbClr val="D9EAD3"/>
                    </a:solidFill>
                  </a:tcPr>
                </a:tc>
                <a:tc>
                  <a:txBody>
                    <a:bodyPr/>
                    <a:lstStyle/>
                    <a:p>
                      <a:pPr indent="0" lvl="0" marL="0" rtl="0" algn="l">
                        <a:spcBef>
                          <a:spcPts val="0"/>
                        </a:spcBef>
                        <a:spcAft>
                          <a:spcPts val="0"/>
                        </a:spcAft>
                        <a:buNone/>
                      </a:pPr>
                      <a:r>
                        <a:rPr lang="en-US" sz="500"/>
                        <a:t>・Counseling services provided by lenders regarding repayment are highly beneficial.</a:t>
                      </a:r>
                      <a:br>
                        <a:rPr lang="en-US" sz="500"/>
                      </a:br>
                      <a:r>
                        <a:rPr lang="en-US" sz="500"/>
                        <a:t>・Efforts to improve public awareness of available consultation services and support desks remain a key challenge.</a:t>
                      </a:r>
                      <a:endParaRPr sz="500"/>
                    </a:p>
                    <a:p>
                      <a:pPr indent="0" lvl="0" marL="0" rtl="0" algn="l">
                        <a:spcBef>
                          <a:spcPts val="0"/>
                        </a:spcBef>
                        <a:spcAft>
                          <a:spcPts val="0"/>
                        </a:spcAft>
                        <a:buNone/>
                      </a:pPr>
                      <a:r>
                        <a:rPr lang="en-US" sz="500"/>
                        <a:t>・There is growing concern about an increase in cases where borrowers who are unable to obtain legitimate loans resort to borrowing from illegal lenders.</a:t>
                      </a:r>
                      <a:endParaRPr sz="500"/>
                    </a:p>
                  </a:txBody>
                  <a:tcPr marT="91425" marB="91425" marR="91425" marL="91425" anchor="ctr">
                    <a:solidFill>
                      <a:srgbClr val="D9EAD3"/>
                    </a:solidFill>
                  </a:tcPr>
                </a:tc>
              </a:tr>
              <a:tr h="504975">
                <a:tc>
                  <a:txBody>
                    <a:bodyPr/>
                    <a:lstStyle/>
                    <a:p>
                      <a:pPr indent="0" lvl="0" marL="0" rtl="0" algn="l">
                        <a:spcBef>
                          <a:spcPts val="0"/>
                        </a:spcBef>
                        <a:spcAft>
                          <a:spcPts val="0"/>
                        </a:spcAft>
                        <a:buNone/>
                      </a:pPr>
                      <a:r>
                        <a:rPr b="1" lang="en-US" sz="500"/>
                        <a:t>Expectations Toward Lenders</a:t>
                      </a:r>
                      <a:r>
                        <a:rPr lang="en-US" sz="500"/>
                        <a:t> </a:t>
                      </a:r>
                      <a:br>
                        <a:rPr lang="en-US" sz="500"/>
                      </a:br>
                      <a:r>
                        <a:rPr lang="en-US" sz="500"/>
                        <a:t>・Reasons for choosing a lender </a:t>
                      </a:r>
                      <a:br>
                        <a:rPr lang="en-US" sz="500"/>
                      </a:br>
                      <a:r>
                        <a:rPr lang="en-US" sz="500"/>
                        <a:t>・Requests toward lenders</a:t>
                      </a:r>
                      <a:endParaRPr sz="500"/>
                    </a:p>
                  </a:txBody>
                  <a:tcPr marT="91425" marB="91425" marR="91425" marL="91425" anchor="ctr">
                    <a:solidFill>
                      <a:srgbClr val="D9EAD3"/>
                    </a:solidFill>
                  </a:tcPr>
                </a:tc>
                <a:tc>
                  <a:txBody>
                    <a:bodyPr/>
                    <a:lstStyle/>
                    <a:p>
                      <a:pPr indent="0" lvl="0" marL="0" rtl="0" algn="l">
                        <a:spcBef>
                          <a:spcPts val="0"/>
                        </a:spcBef>
                        <a:spcAft>
                          <a:spcPts val="0"/>
                        </a:spcAft>
                        <a:buNone/>
                      </a:pPr>
                      <a:r>
                        <a:rPr lang="en-US" sz="500"/>
                        <a:t>・Borrowers place a high value on the convenience offered by lenders.</a:t>
                      </a:r>
                      <a:endParaRPr sz="500"/>
                    </a:p>
                    <a:p>
                      <a:pPr indent="0" lvl="0" marL="0" rtl="0" algn="l">
                        <a:spcBef>
                          <a:spcPts val="0"/>
                        </a:spcBef>
                        <a:spcAft>
                          <a:spcPts val="0"/>
                        </a:spcAft>
                        <a:buNone/>
                      </a:pPr>
                      <a:r>
                        <a:rPr lang="en-US" sz="500"/>
                        <a:t>・As the social environment surrounding borrowers continues to change significantly, the value of lenders as familiar financial institutions has been increasing more than ever before.</a:t>
                      </a:r>
                      <a:endParaRPr sz="500"/>
                    </a:p>
                  </a:txBody>
                  <a:tcPr marT="91425" marB="91425" marR="91425" marL="91425" anchor="ctr">
                    <a:solidFill>
                      <a:srgbClr val="D9EAD3"/>
                    </a:solidFill>
                  </a:tcPr>
                </a:tc>
              </a:tr>
            </a:tbl>
          </a:graphicData>
        </a:graphic>
      </p:graphicFrame>
      <p:sp>
        <p:nvSpPr>
          <p:cNvPr id="404" name="Google Shape;404;g39b82a97786_0_15"/>
          <p:cNvSpPr/>
          <p:nvPr/>
        </p:nvSpPr>
        <p:spPr>
          <a:xfrm>
            <a:off x="9587174" y="4610350"/>
            <a:ext cx="891600" cy="1242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500"/>
              <a:t>Revenue by Loan Type</a:t>
            </a:r>
            <a:endParaRPr sz="500"/>
          </a:p>
        </p:txBody>
      </p:sp>
      <p:sp>
        <p:nvSpPr>
          <p:cNvPr id="405" name="Google Shape;405;g39b82a97786_0_15"/>
          <p:cNvSpPr/>
          <p:nvPr/>
        </p:nvSpPr>
        <p:spPr>
          <a:xfrm>
            <a:off x="10226224" y="5812375"/>
            <a:ext cx="426000" cy="57900"/>
          </a:xfrm>
          <a:prstGeom prst="rect">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00">
                <a:solidFill>
                  <a:schemeClr val="lt1"/>
                </a:solidFill>
              </a:rPr>
              <a:t>Cash Loan</a:t>
            </a:r>
            <a:endParaRPr sz="300">
              <a:solidFill>
                <a:schemeClr val="lt1"/>
              </a:solidFill>
            </a:endParaRPr>
          </a:p>
        </p:txBody>
      </p:sp>
      <p:sp>
        <p:nvSpPr>
          <p:cNvPr id="406" name="Google Shape;406;g39b82a97786_0_15"/>
          <p:cNvSpPr/>
          <p:nvPr/>
        </p:nvSpPr>
        <p:spPr>
          <a:xfrm>
            <a:off x="9858249" y="4754175"/>
            <a:ext cx="185400" cy="96600"/>
          </a:xfrm>
          <a:prstGeom prst="rect">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
              <a:solidFill>
                <a:schemeClr val="lt1"/>
              </a:solidFill>
            </a:endParaRPr>
          </a:p>
        </p:txBody>
      </p:sp>
      <p:sp>
        <p:nvSpPr>
          <p:cNvPr id="407" name="Google Shape;407;g39b82a97786_0_15"/>
          <p:cNvSpPr txBox="1"/>
          <p:nvPr/>
        </p:nvSpPr>
        <p:spPr>
          <a:xfrm>
            <a:off x="9803224" y="4688816"/>
            <a:ext cx="319500" cy="1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50">
                <a:solidFill>
                  <a:schemeClr val="lt1"/>
                </a:solidFill>
              </a:rPr>
              <a:t>others</a:t>
            </a:r>
            <a:endParaRPr sz="350">
              <a:solidFill>
                <a:schemeClr val="lt1"/>
              </a:solidFill>
            </a:endParaRPr>
          </a:p>
        </p:txBody>
      </p:sp>
      <p:sp>
        <p:nvSpPr>
          <p:cNvPr id="408" name="Google Shape;408;g39b82a97786_0_15"/>
          <p:cNvSpPr/>
          <p:nvPr/>
        </p:nvSpPr>
        <p:spPr>
          <a:xfrm>
            <a:off x="9291074" y="4805825"/>
            <a:ext cx="483000" cy="57900"/>
          </a:xfrm>
          <a:prstGeom prst="rect">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00">
                <a:solidFill>
                  <a:schemeClr val="lt1"/>
                </a:solidFill>
              </a:rPr>
              <a:t>Revolving Loan</a:t>
            </a:r>
            <a:endParaRPr sz="300">
              <a:solidFill>
                <a:schemeClr val="lt1"/>
              </a:solidFill>
            </a:endParaRPr>
          </a:p>
        </p:txBody>
      </p:sp>
      <p:sp>
        <p:nvSpPr>
          <p:cNvPr id="409" name="Google Shape;409;g39b82a97786_0_15"/>
          <p:cNvSpPr/>
          <p:nvPr/>
        </p:nvSpPr>
        <p:spPr>
          <a:xfrm>
            <a:off x="9423449" y="5342000"/>
            <a:ext cx="271500" cy="57900"/>
          </a:xfrm>
          <a:prstGeom prst="rect">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
              <a:solidFill>
                <a:schemeClr val="lt1"/>
              </a:solidFill>
            </a:endParaRPr>
          </a:p>
        </p:txBody>
      </p:sp>
      <p:sp>
        <p:nvSpPr>
          <p:cNvPr id="410" name="Google Shape;410;g39b82a97786_0_15"/>
          <p:cNvSpPr txBox="1"/>
          <p:nvPr/>
        </p:nvSpPr>
        <p:spPr>
          <a:xfrm>
            <a:off x="9367502" y="5256950"/>
            <a:ext cx="392700" cy="1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50">
                <a:solidFill>
                  <a:schemeClr val="lt1"/>
                </a:solidFill>
              </a:rPr>
              <a:t>POS Loan</a:t>
            </a:r>
            <a:endParaRPr sz="35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9821493b04_0_252"/>
          <p:cNvSpPr txBox="1"/>
          <p:nvPr>
            <p:ph type="title"/>
          </p:nvPr>
        </p:nvSpPr>
        <p:spPr>
          <a:xfrm>
            <a:off x="586740" y="387603"/>
            <a:ext cx="2565300" cy="628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Quotation</a:t>
            </a:r>
            <a:endParaRPr/>
          </a:p>
        </p:txBody>
      </p:sp>
      <p:sp>
        <p:nvSpPr>
          <p:cNvPr id="416" name="Google Shape;416;g39821493b04_0_252"/>
          <p:cNvSpPr/>
          <p:nvPr/>
        </p:nvSpPr>
        <p:spPr>
          <a:xfrm>
            <a:off x="0" y="1095152"/>
            <a:ext cx="12192000" cy="0"/>
          </a:xfrm>
          <a:custGeom>
            <a:rect b="b" l="l" r="r" t="t"/>
            <a:pathLst>
              <a:path extrusionOk="0" h="120000" w="12192000">
                <a:moveTo>
                  <a:pt x="0" y="0"/>
                </a:moveTo>
                <a:lnTo>
                  <a:pt x="12192000"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7" name="Google Shape;417;g39821493b04_0_252"/>
          <p:cNvSpPr/>
          <p:nvPr/>
        </p:nvSpPr>
        <p:spPr>
          <a:xfrm>
            <a:off x="5984575" y="1717450"/>
            <a:ext cx="5559425" cy="5103686"/>
          </a:xfrm>
          <a:custGeom>
            <a:rect b="b" l="l" r="r" t="t"/>
            <a:pathLst>
              <a:path extrusionOk="0" h="5562600" w="5559425">
                <a:moveTo>
                  <a:pt x="0" y="463170"/>
                </a:moveTo>
                <a:lnTo>
                  <a:pt x="2391" y="415813"/>
                </a:lnTo>
                <a:lnTo>
                  <a:pt x="9409" y="369825"/>
                </a:lnTo>
                <a:lnTo>
                  <a:pt x="20823" y="325437"/>
                </a:lnTo>
                <a:lnTo>
                  <a:pt x="36398" y="282883"/>
                </a:lnTo>
                <a:lnTo>
                  <a:pt x="55902" y="242395"/>
                </a:lnTo>
                <a:lnTo>
                  <a:pt x="79102" y="204207"/>
                </a:lnTo>
                <a:lnTo>
                  <a:pt x="105765" y="168550"/>
                </a:lnTo>
                <a:lnTo>
                  <a:pt x="135659" y="135659"/>
                </a:lnTo>
                <a:lnTo>
                  <a:pt x="168550" y="105765"/>
                </a:lnTo>
                <a:lnTo>
                  <a:pt x="204207" y="79102"/>
                </a:lnTo>
                <a:lnTo>
                  <a:pt x="242395" y="55902"/>
                </a:lnTo>
                <a:lnTo>
                  <a:pt x="282883" y="36398"/>
                </a:lnTo>
                <a:lnTo>
                  <a:pt x="325437" y="20823"/>
                </a:lnTo>
                <a:lnTo>
                  <a:pt x="369825" y="9409"/>
                </a:lnTo>
                <a:lnTo>
                  <a:pt x="415813" y="2391"/>
                </a:lnTo>
                <a:lnTo>
                  <a:pt x="463170" y="0"/>
                </a:lnTo>
                <a:lnTo>
                  <a:pt x="5095773" y="0"/>
                </a:lnTo>
                <a:lnTo>
                  <a:pt x="5143129" y="2391"/>
                </a:lnTo>
                <a:lnTo>
                  <a:pt x="5189118" y="9409"/>
                </a:lnTo>
                <a:lnTo>
                  <a:pt x="5233505" y="20823"/>
                </a:lnTo>
                <a:lnTo>
                  <a:pt x="5276059" y="36398"/>
                </a:lnTo>
                <a:lnTo>
                  <a:pt x="5316547" y="55902"/>
                </a:lnTo>
                <a:lnTo>
                  <a:pt x="5354735" y="79102"/>
                </a:lnTo>
                <a:lnTo>
                  <a:pt x="5390392" y="105765"/>
                </a:lnTo>
                <a:lnTo>
                  <a:pt x="5423283" y="135659"/>
                </a:lnTo>
                <a:lnTo>
                  <a:pt x="5453177" y="168550"/>
                </a:lnTo>
                <a:lnTo>
                  <a:pt x="5479840" y="204207"/>
                </a:lnTo>
                <a:lnTo>
                  <a:pt x="5503041" y="242395"/>
                </a:lnTo>
                <a:lnTo>
                  <a:pt x="5522544" y="282883"/>
                </a:lnTo>
                <a:lnTo>
                  <a:pt x="5538119" y="325437"/>
                </a:lnTo>
                <a:lnTo>
                  <a:pt x="5549533" y="369825"/>
                </a:lnTo>
                <a:lnTo>
                  <a:pt x="5556551" y="415813"/>
                </a:lnTo>
                <a:lnTo>
                  <a:pt x="5558943" y="463170"/>
                </a:lnTo>
                <a:lnTo>
                  <a:pt x="5558943" y="5099251"/>
                </a:lnTo>
                <a:lnTo>
                  <a:pt x="5556551" y="5146607"/>
                </a:lnTo>
                <a:lnTo>
                  <a:pt x="5549533" y="5192595"/>
                </a:lnTo>
                <a:lnTo>
                  <a:pt x="5538119" y="5236983"/>
                </a:lnTo>
                <a:lnTo>
                  <a:pt x="5522544" y="5279537"/>
                </a:lnTo>
                <a:lnTo>
                  <a:pt x="5503041" y="5320025"/>
                </a:lnTo>
                <a:lnTo>
                  <a:pt x="5479840" y="5358213"/>
                </a:lnTo>
                <a:lnTo>
                  <a:pt x="5453177" y="5393869"/>
                </a:lnTo>
                <a:lnTo>
                  <a:pt x="5423283" y="5426761"/>
                </a:lnTo>
                <a:lnTo>
                  <a:pt x="5390392" y="5456655"/>
                </a:lnTo>
                <a:lnTo>
                  <a:pt x="5354735" y="5483318"/>
                </a:lnTo>
                <a:lnTo>
                  <a:pt x="5316547" y="5506518"/>
                </a:lnTo>
                <a:lnTo>
                  <a:pt x="5276059" y="5526022"/>
                </a:lnTo>
                <a:lnTo>
                  <a:pt x="5233505" y="5541597"/>
                </a:lnTo>
                <a:lnTo>
                  <a:pt x="5189118" y="5553011"/>
                </a:lnTo>
                <a:lnTo>
                  <a:pt x="5143129" y="5560029"/>
                </a:lnTo>
                <a:lnTo>
                  <a:pt x="5095773" y="5562421"/>
                </a:lnTo>
                <a:lnTo>
                  <a:pt x="463170" y="5562421"/>
                </a:lnTo>
                <a:lnTo>
                  <a:pt x="415813" y="5560029"/>
                </a:lnTo>
                <a:lnTo>
                  <a:pt x="369825" y="5553011"/>
                </a:lnTo>
                <a:lnTo>
                  <a:pt x="325437" y="5541597"/>
                </a:lnTo>
                <a:lnTo>
                  <a:pt x="282883" y="5526022"/>
                </a:lnTo>
                <a:lnTo>
                  <a:pt x="242395" y="5506518"/>
                </a:lnTo>
                <a:lnTo>
                  <a:pt x="204207" y="5483318"/>
                </a:lnTo>
                <a:lnTo>
                  <a:pt x="168550" y="5456655"/>
                </a:lnTo>
                <a:lnTo>
                  <a:pt x="135659" y="5426761"/>
                </a:lnTo>
                <a:lnTo>
                  <a:pt x="105765" y="5393869"/>
                </a:lnTo>
                <a:lnTo>
                  <a:pt x="79102" y="5358213"/>
                </a:lnTo>
                <a:lnTo>
                  <a:pt x="55902" y="5320025"/>
                </a:lnTo>
                <a:lnTo>
                  <a:pt x="36398" y="5279537"/>
                </a:lnTo>
                <a:lnTo>
                  <a:pt x="20823" y="5236983"/>
                </a:lnTo>
                <a:lnTo>
                  <a:pt x="9409" y="5192595"/>
                </a:lnTo>
                <a:lnTo>
                  <a:pt x="2391" y="5146607"/>
                </a:lnTo>
                <a:lnTo>
                  <a:pt x="0" y="5099251"/>
                </a:lnTo>
                <a:lnTo>
                  <a:pt x="0" y="463170"/>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8" name="Google Shape;418;g39821493b04_0_252"/>
          <p:cNvSpPr/>
          <p:nvPr/>
        </p:nvSpPr>
        <p:spPr>
          <a:xfrm>
            <a:off x="218888" y="1767950"/>
            <a:ext cx="5559425" cy="5048060"/>
          </a:xfrm>
          <a:custGeom>
            <a:rect b="b" l="l" r="r" t="t"/>
            <a:pathLst>
              <a:path extrusionOk="0" h="5562600" w="5559425">
                <a:moveTo>
                  <a:pt x="0" y="463170"/>
                </a:moveTo>
                <a:lnTo>
                  <a:pt x="2391" y="415813"/>
                </a:lnTo>
                <a:lnTo>
                  <a:pt x="9409" y="369825"/>
                </a:lnTo>
                <a:lnTo>
                  <a:pt x="20823" y="325437"/>
                </a:lnTo>
                <a:lnTo>
                  <a:pt x="36398" y="282883"/>
                </a:lnTo>
                <a:lnTo>
                  <a:pt x="55902" y="242395"/>
                </a:lnTo>
                <a:lnTo>
                  <a:pt x="79102" y="204207"/>
                </a:lnTo>
                <a:lnTo>
                  <a:pt x="105765" y="168550"/>
                </a:lnTo>
                <a:lnTo>
                  <a:pt x="135659" y="135659"/>
                </a:lnTo>
                <a:lnTo>
                  <a:pt x="168550" y="105765"/>
                </a:lnTo>
                <a:lnTo>
                  <a:pt x="204207" y="79102"/>
                </a:lnTo>
                <a:lnTo>
                  <a:pt x="242395" y="55902"/>
                </a:lnTo>
                <a:lnTo>
                  <a:pt x="282883" y="36398"/>
                </a:lnTo>
                <a:lnTo>
                  <a:pt x="325437" y="20823"/>
                </a:lnTo>
                <a:lnTo>
                  <a:pt x="369825" y="9409"/>
                </a:lnTo>
                <a:lnTo>
                  <a:pt x="415813" y="2391"/>
                </a:lnTo>
                <a:lnTo>
                  <a:pt x="463170" y="0"/>
                </a:lnTo>
                <a:lnTo>
                  <a:pt x="5095773" y="0"/>
                </a:lnTo>
                <a:lnTo>
                  <a:pt x="5143129" y="2391"/>
                </a:lnTo>
                <a:lnTo>
                  <a:pt x="5189118" y="9409"/>
                </a:lnTo>
                <a:lnTo>
                  <a:pt x="5233505" y="20823"/>
                </a:lnTo>
                <a:lnTo>
                  <a:pt x="5276059" y="36398"/>
                </a:lnTo>
                <a:lnTo>
                  <a:pt x="5316547" y="55902"/>
                </a:lnTo>
                <a:lnTo>
                  <a:pt x="5354735" y="79102"/>
                </a:lnTo>
                <a:lnTo>
                  <a:pt x="5390392" y="105765"/>
                </a:lnTo>
                <a:lnTo>
                  <a:pt x="5423283" y="135659"/>
                </a:lnTo>
                <a:lnTo>
                  <a:pt x="5453177" y="168550"/>
                </a:lnTo>
                <a:lnTo>
                  <a:pt x="5479840" y="204207"/>
                </a:lnTo>
                <a:lnTo>
                  <a:pt x="5503041" y="242395"/>
                </a:lnTo>
                <a:lnTo>
                  <a:pt x="5522544" y="282883"/>
                </a:lnTo>
                <a:lnTo>
                  <a:pt x="5538119" y="325437"/>
                </a:lnTo>
                <a:lnTo>
                  <a:pt x="5549533" y="369825"/>
                </a:lnTo>
                <a:lnTo>
                  <a:pt x="5556551" y="415813"/>
                </a:lnTo>
                <a:lnTo>
                  <a:pt x="5558943" y="463170"/>
                </a:lnTo>
                <a:lnTo>
                  <a:pt x="5558943" y="5099251"/>
                </a:lnTo>
                <a:lnTo>
                  <a:pt x="5556551" y="5146607"/>
                </a:lnTo>
                <a:lnTo>
                  <a:pt x="5549533" y="5192595"/>
                </a:lnTo>
                <a:lnTo>
                  <a:pt x="5538119" y="5236983"/>
                </a:lnTo>
                <a:lnTo>
                  <a:pt x="5522544" y="5279537"/>
                </a:lnTo>
                <a:lnTo>
                  <a:pt x="5503041" y="5320025"/>
                </a:lnTo>
                <a:lnTo>
                  <a:pt x="5479840" y="5358213"/>
                </a:lnTo>
                <a:lnTo>
                  <a:pt x="5453177" y="5393869"/>
                </a:lnTo>
                <a:lnTo>
                  <a:pt x="5423283" y="5426761"/>
                </a:lnTo>
                <a:lnTo>
                  <a:pt x="5390392" y="5456655"/>
                </a:lnTo>
                <a:lnTo>
                  <a:pt x="5354735" y="5483318"/>
                </a:lnTo>
                <a:lnTo>
                  <a:pt x="5316547" y="5506518"/>
                </a:lnTo>
                <a:lnTo>
                  <a:pt x="5276059" y="5526022"/>
                </a:lnTo>
                <a:lnTo>
                  <a:pt x="5233505" y="5541597"/>
                </a:lnTo>
                <a:lnTo>
                  <a:pt x="5189118" y="5553011"/>
                </a:lnTo>
                <a:lnTo>
                  <a:pt x="5143129" y="5560029"/>
                </a:lnTo>
                <a:lnTo>
                  <a:pt x="5095773" y="5562421"/>
                </a:lnTo>
                <a:lnTo>
                  <a:pt x="463170" y="5562421"/>
                </a:lnTo>
                <a:lnTo>
                  <a:pt x="415813" y="5560029"/>
                </a:lnTo>
                <a:lnTo>
                  <a:pt x="369825" y="5553011"/>
                </a:lnTo>
                <a:lnTo>
                  <a:pt x="325437" y="5541597"/>
                </a:lnTo>
                <a:lnTo>
                  <a:pt x="282883" y="5526022"/>
                </a:lnTo>
                <a:lnTo>
                  <a:pt x="242395" y="5506518"/>
                </a:lnTo>
                <a:lnTo>
                  <a:pt x="204207" y="5483318"/>
                </a:lnTo>
                <a:lnTo>
                  <a:pt x="168550" y="5456655"/>
                </a:lnTo>
                <a:lnTo>
                  <a:pt x="135659" y="5426761"/>
                </a:lnTo>
                <a:lnTo>
                  <a:pt x="105765" y="5393869"/>
                </a:lnTo>
                <a:lnTo>
                  <a:pt x="79102" y="5358213"/>
                </a:lnTo>
                <a:lnTo>
                  <a:pt x="55902" y="5320025"/>
                </a:lnTo>
                <a:lnTo>
                  <a:pt x="36398" y="5279537"/>
                </a:lnTo>
                <a:lnTo>
                  <a:pt x="20823" y="5236983"/>
                </a:lnTo>
                <a:lnTo>
                  <a:pt x="9409" y="5192595"/>
                </a:lnTo>
                <a:lnTo>
                  <a:pt x="2391" y="5146607"/>
                </a:lnTo>
                <a:lnTo>
                  <a:pt x="0" y="5099251"/>
                </a:lnTo>
                <a:lnTo>
                  <a:pt x="0" y="463170"/>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9" name="Google Shape;419;g39821493b04_0_252"/>
          <p:cNvSpPr/>
          <p:nvPr/>
        </p:nvSpPr>
        <p:spPr>
          <a:xfrm>
            <a:off x="562528" y="1889206"/>
            <a:ext cx="972185" cy="396239"/>
          </a:xfrm>
          <a:custGeom>
            <a:rect b="b" l="l" r="r" t="t"/>
            <a:pathLst>
              <a:path extrusionOk="0" h="396239" w="972185">
                <a:moveTo>
                  <a:pt x="905998" y="0"/>
                </a:moveTo>
                <a:lnTo>
                  <a:pt x="66001" y="0"/>
                </a:lnTo>
                <a:lnTo>
                  <a:pt x="40310" y="5186"/>
                </a:lnTo>
                <a:lnTo>
                  <a:pt x="19331" y="19330"/>
                </a:lnTo>
                <a:lnTo>
                  <a:pt x="5186" y="40310"/>
                </a:lnTo>
                <a:lnTo>
                  <a:pt x="0" y="66000"/>
                </a:lnTo>
                <a:lnTo>
                  <a:pt x="0" y="329998"/>
                </a:lnTo>
                <a:lnTo>
                  <a:pt x="5186" y="355688"/>
                </a:lnTo>
                <a:lnTo>
                  <a:pt x="19331" y="376668"/>
                </a:lnTo>
                <a:lnTo>
                  <a:pt x="40310" y="390813"/>
                </a:lnTo>
                <a:lnTo>
                  <a:pt x="66001" y="395999"/>
                </a:lnTo>
                <a:lnTo>
                  <a:pt x="905998" y="395999"/>
                </a:lnTo>
                <a:lnTo>
                  <a:pt x="931689" y="390813"/>
                </a:lnTo>
                <a:lnTo>
                  <a:pt x="952668" y="376668"/>
                </a:lnTo>
                <a:lnTo>
                  <a:pt x="966813" y="355688"/>
                </a:lnTo>
                <a:lnTo>
                  <a:pt x="972000" y="329998"/>
                </a:lnTo>
                <a:lnTo>
                  <a:pt x="972000" y="66000"/>
                </a:lnTo>
                <a:lnTo>
                  <a:pt x="966813" y="40310"/>
                </a:lnTo>
                <a:lnTo>
                  <a:pt x="952668" y="19330"/>
                </a:lnTo>
                <a:lnTo>
                  <a:pt x="931689" y="5186"/>
                </a:lnTo>
                <a:lnTo>
                  <a:pt x="905998" y="0"/>
                </a:lnTo>
                <a:close/>
              </a:path>
            </a:pathLst>
          </a:custGeom>
          <a:solidFill>
            <a:srgbClr val="002060">
              <a:alpha val="50199"/>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0" name="Google Shape;420;g39821493b04_0_252"/>
          <p:cNvSpPr txBox="1"/>
          <p:nvPr/>
        </p:nvSpPr>
        <p:spPr>
          <a:xfrm>
            <a:off x="586750" y="1939025"/>
            <a:ext cx="888900" cy="2592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1600">
                <a:solidFill>
                  <a:srgbClr val="FFFFFF"/>
                </a:solidFill>
              </a:rPr>
              <a:t>Content</a:t>
            </a:r>
            <a:endParaRPr sz="1600">
              <a:latin typeface="Arial"/>
              <a:ea typeface="Arial"/>
              <a:cs typeface="Arial"/>
              <a:sym typeface="Arial"/>
            </a:endParaRPr>
          </a:p>
        </p:txBody>
      </p:sp>
      <p:sp>
        <p:nvSpPr>
          <p:cNvPr id="421" name="Google Shape;421;g39821493b04_0_252"/>
          <p:cNvSpPr/>
          <p:nvPr/>
        </p:nvSpPr>
        <p:spPr>
          <a:xfrm>
            <a:off x="562528" y="3678819"/>
            <a:ext cx="972185" cy="396239"/>
          </a:xfrm>
          <a:custGeom>
            <a:rect b="b" l="l" r="r" t="t"/>
            <a:pathLst>
              <a:path extrusionOk="0" h="396239" w="972185">
                <a:moveTo>
                  <a:pt x="905998" y="0"/>
                </a:moveTo>
                <a:lnTo>
                  <a:pt x="66001" y="0"/>
                </a:lnTo>
                <a:lnTo>
                  <a:pt x="40310" y="5186"/>
                </a:lnTo>
                <a:lnTo>
                  <a:pt x="19331" y="19330"/>
                </a:lnTo>
                <a:lnTo>
                  <a:pt x="5186" y="40310"/>
                </a:lnTo>
                <a:lnTo>
                  <a:pt x="0" y="66000"/>
                </a:lnTo>
                <a:lnTo>
                  <a:pt x="0" y="329998"/>
                </a:lnTo>
                <a:lnTo>
                  <a:pt x="5186" y="355688"/>
                </a:lnTo>
                <a:lnTo>
                  <a:pt x="19331" y="376668"/>
                </a:lnTo>
                <a:lnTo>
                  <a:pt x="40310" y="390813"/>
                </a:lnTo>
                <a:lnTo>
                  <a:pt x="66001" y="395999"/>
                </a:lnTo>
                <a:lnTo>
                  <a:pt x="905998" y="395999"/>
                </a:lnTo>
                <a:lnTo>
                  <a:pt x="931689" y="390813"/>
                </a:lnTo>
                <a:lnTo>
                  <a:pt x="952668" y="376668"/>
                </a:lnTo>
                <a:lnTo>
                  <a:pt x="966813" y="355688"/>
                </a:lnTo>
                <a:lnTo>
                  <a:pt x="972000" y="329998"/>
                </a:lnTo>
                <a:lnTo>
                  <a:pt x="972000" y="66000"/>
                </a:lnTo>
                <a:lnTo>
                  <a:pt x="966813" y="40310"/>
                </a:lnTo>
                <a:lnTo>
                  <a:pt x="952668" y="19330"/>
                </a:lnTo>
                <a:lnTo>
                  <a:pt x="931689" y="5186"/>
                </a:lnTo>
                <a:lnTo>
                  <a:pt x="905998" y="0"/>
                </a:lnTo>
                <a:close/>
              </a:path>
            </a:pathLst>
          </a:custGeom>
          <a:solidFill>
            <a:srgbClr val="002060">
              <a:alpha val="50199"/>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2" name="Google Shape;422;g39821493b04_0_252"/>
          <p:cNvSpPr txBox="1"/>
          <p:nvPr/>
        </p:nvSpPr>
        <p:spPr>
          <a:xfrm>
            <a:off x="586626" y="3728200"/>
            <a:ext cx="888900" cy="2592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1600">
                <a:solidFill>
                  <a:srgbClr val="FFFFFF"/>
                </a:solidFill>
              </a:rPr>
              <a:t>Price</a:t>
            </a:r>
            <a:endParaRPr sz="1600">
              <a:latin typeface="Arial"/>
              <a:ea typeface="Arial"/>
              <a:cs typeface="Arial"/>
              <a:sym typeface="Arial"/>
            </a:endParaRPr>
          </a:p>
        </p:txBody>
      </p:sp>
      <p:sp>
        <p:nvSpPr>
          <p:cNvPr id="423" name="Google Shape;423;g39821493b04_0_252"/>
          <p:cNvSpPr txBox="1"/>
          <p:nvPr/>
        </p:nvSpPr>
        <p:spPr>
          <a:xfrm>
            <a:off x="6768185" y="1939035"/>
            <a:ext cx="431700" cy="259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solidFill>
                  <a:srgbClr val="FFFFFF"/>
                </a:solidFill>
                <a:latin typeface="Arial"/>
                <a:ea typeface="Arial"/>
                <a:cs typeface="Arial"/>
                <a:sym typeface="Arial"/>
              </a:rPr>
              <a:t>内容</a:t>
            </a:r>
            <a:endParaRPr sz="1600">
              <a:latin typeface="Arial"/>
              <a:ea typeface="Arial"/>
              <a:cs typeface="Arial"/>
              <a:sym typeface="Arial"/>
            </a:endParaRPr>
          </a:p>
        </p:txBody>
      </p:sp>
      <p:sp>
        <p:nvSpPr>
          <p:cNvPr id="424" name="Google Shape;424;g39821493b04_0_252"/>
          <p:cNvSpPr txBox="1"/>
          <p:nvPr/>
        </p:nvSpPr>
        <p:spPr>
          <a:xfrm>
            <a:off x="614637" y="1342025"/>
            <a:ext cx="4767900" cy="3003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b="1" lang="en-US">
                <a:solidFill>
                  <a:srgbClr val="001F5F"/>
                </a:solidFill>
                <a:latin typeface="Calibri"/>
                <a:ea typeface="Calibri"/>
                <a:cs typeface="Calibri"/>
                <a:sym typeface="Calibri"/>
              </a:rPr>
              <a:t>Sale of Default Customer Prediction and Default Trend Analysis</a:t>
            </a:r>
            <a:endParaRPr>
              <a:latin typeface="Calibri"/>
              <a:ea typeface="Calibri"/>
              <a:cs typeface="Calibri"/>
              <a:sym typeface="Calibri"/>
            </a:endParaRPr>
          </a:p>
        </p:txBody>
      </p:sp>
      <p:sp>
        <p:nvSpPr>
          <p:cNvPr id="425" name="Google Shape;425;g39821493b04_0_252"/>
          <p:cNvSpPr txBox="1"/>
          <p:nvPr/>
        </p:nvSpPr>
        <p:spPr>
          <a:xfrm>
            <a:off x="1788160" y="1889823"/>
            <a:ext cx="3756000" cy="1521600"/>
          </a:xfrm>
          <a:prstGeom prst="rect">
            <a:avLst/>
          </a:prstGeom>
          <a:noFill/>
          <a:ln>
            <a:noFill/>
          </a:ln>
        </p:spPr>
        <p:txBody>
          <a:bodyPr anchorCtr="0" anchor="t" bIns="0" lIns="18275" spcFirstLastPara="1" rIns="18275" wrap="square" tIns="0">
            <a:noAutofit/>
          </a:bodyPr>
          <a:lstStyle/>
          <a:p>
            <a:pPr indent="-285750" lvl="0" marL="457200" marR="12065" rtl="0" algn="l">
              <a:lnSpc>
                <a:spcPct val="137500"/>
              </a:lnSpc>
              <a:spcBef>
                <a:spcPts val="0"/>
              </a:spcBef>
              <a:spcAft>
                <a:spcPts val="0"/>
              </a:spcAft>
              <a:buSzPts val="900"/>
              <a:buChar char="•"/>
            </a:pPr>
            <a:r>
              <a:rPr lang="en-US" sz="900">
                <a:solidFill>
                  <a:schemeClr val="dk1"/>
                </a:solidFill>
              </a:rPr>
              <a:t>Automatically identify customers with a high likelihood of default based on the provided customer data.</a:t>
            </a:r>
            <a:endParaRPr sz="900">
              <a:solidFill>
                <a:schemeClr val="dk1"/>
              </a:solidFill>
            </a:endParaRPr>
          </a:p>
          <a:p>
            <a:pPr indent="-285750" lvl="0" marL="457200" marR="12065" rtl="0" algn="l">
              <a:lnSpc>
                <a:spcPct val="137500"/>
              </a:lnSpc>
              <a:spcBef>
                <a:spcPts val="0"/>
              </a:spcBef>
              <a:spcAft>
                <a:spcPts val="0"/>
              </a:spcAft>
              <a:buSzPts val="900"/>
              <a:buChar char="•"/>
            </a:pPr>
            <a:r>
              <a:rPr lang="en-US" sz="900">
                <a:solidFill>
                  <a:schemeClr val="dk1"/>
                </a:solidFill>
              </a:rPr>
              <a:t>Using these predictions, the system automatically determines the optimal default threshold to maximize profitability and support management decisions (PMS).</a:t>
            </a:r>
            <a:endParaRPr sz="900">
              <a:solidFill>
                <a:schemeClr val="dk1"/>
              </a:solidFill>
            </a:endParaRPr>
          </a:p>
          <a:p>
            <a:pPr indent="-285750" lvl="0" marL="457200" marR="12065" rtl="0" algn="l">
              <a:lnSpc>
                <a:spcPct val="137500"/>
              </a:lnSpc>
              <a:spcBef>
                <a:spcPts val="0"/>
              </a:spcBef>
              <a:spcAft>
                <a:spcPts val="0"/>
              </a:spcAft>
              <a:buSzPts val="900"/>
              <a:buChar char="•"/>
            </a:pPr>
            <a:r>
              <a:rPr lang="en-US" sz="900">
                <a:solidFill>
                  <a:schemeClr val="dk1"/>
                </a:solidFill>
              </a:rPr>
              <a:t>By analyzing the trends of defaulting customers, the system enables early detection and prompt resolution of potential issues.</a:t>
            </a:r>
            <a:endParaRPr sz="900"/>
          </a:p>
        </p:txBody>
      </p:sp>
      <p:sp>
        <p:nvSpPr>
          <p:cNvPr id="426" name="Google Shape;426;g39821493b04_0_252"/>
          <p:cNvSpPr txBox="1"/>
          <p:nvPr/>
        </p:nvSpPr>
        <p:spPr>
          <a:xfrm>
            <a:off x="1892675" y="3681403"/>
            <a:ext cx="3770700" cy="7659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lang="en-US">
                <a:latin typeface="Calibri"/>
                <a:ea typeface="Calibri"/>
                <a:cs typeface="Calibri"/>
                <a:sym typeface="Calibri"/>
              </a:rPr>
              <a:t>We are offering the complete AI-based system, including PMS, for a total price of</a:t>
            </a:r>
            <a:endParaRPr>
              <a:latin typeface="Calibri"/>
              <a:ea typeface="Calibri"/>
              <a:cs typeface="Calibri"/>
              <a:sym typeface="Calibri"/>
            </a:endParaRPr>
          </a:p>
          <a:p>
            <a:pPr indent="0" lvl="0" marL="12700" rtl="0" algn="l">
              <a:lnSpc>
                <a:spcPct val="100000"/>
              </a:lnSpc>
              <a:spcBef>
                <a:spcPts val="0"/>
              </a:spcBef>
              <a:spcAft>
                <a:spcPts val="0"/>
              </a:spcAft>
              <a:buNone/>
            </a:pPr>
            <a:r>
              <a:rPr lang="en-US">
                <a:latin typeface="Calibri"/>
                <a:ea typeface="Calibri"/>
                <a:cs typeface="Calibri"/>
                <a:sym typeface="Calibri"/>
              </a:rPr>
              <a:t>			</a:t>
            </a:r>
            <a:r>
              <a:rPr b="1" lang="en-US" sz="1700">
                <a:solidFill>
                  <a:srgbClr val="FF0000"/>
                </a:solidFill>
                <a:latin typeface="Calibri"/>
                <a:ea typeface="Calibri"/>
                <a:cs typeface="Calibri"/>
                <a:sym typeface="Calibri"/>
              </a:rPr>
              <a:t>150 million yen</a:t>
            </a:r>
            <a:endParaRPr b="1" sz="1700">
              <a:solidFill>
                <a:srgbClr val="FF0000"/>
              </a:solidFill>
              <a:latin typeface="Calibri"/>
              <a:ea typeface="Calibri"/>
              <a:cs typeface="Calibri"/>
              <a:sym typeface="Calibri"/>
            </a:endParaRPr>
          </a:p>
        </p:txBody>
      </p:sp>
      <p:sp>
        <p:nvSpPr>
          <p:cNvPr id="427" name="Google Shape;427;g39821493b04_0_252"/>
          <p:cNvSpPr txBox="1"/>
          <p:nvPr/>
        </p:nvSpPr>
        <p:spPr>
          <a:xfrm>
            <a:off x="1884425" y="4447288"/>
            <a:ext cx="3787200" cy="1713000"/>
          </a:xfrm>
          <a:prstGeom prst="rect">
            <a:avLst/>
          </a:prstGeom>
          <a:noFill/>
          <a:ln>
            <a:noFill/>
          </a:ln>
        </p:spPr>
        <p:txBody>
          <a:bodyPr anchorCtr="0" anchor="t" bIns="0" lIns="18275" spcFirstLastPara="1" rIns="18275" wrap="square" tIns="0">
            <a:noAutofit/>
          </a:bodyPr>
          <a:lstStyle/>
          <a:p>
            <a:pPr indent="0" lvl="0" marL="12700" marR="5080" rtl="0" algn="l">
              <a:lnSpc>
                <a:spcPct val="150000"/>
              </a:lnSpc>
              <a:spcBef>
                <a:spcPts val="0"/>
              </a:spcBef>
              <a:spcAft>
                <a:spcPts val="0"/>
              </a:spcAft>
              <a:buNone/>
            </a:pPr>
            <a:r>
              <a:rPr lang="en-US" sz="1100">
                <a:latin typeface="Calibri"/>
                <a:ea typeface="Calibri"/>
                <a:cs typeface="Calibri"/>
                <a:sym typeface="Calibri"/>
              </a:rPr>
              <a:t>For the PMS system targeting cash loans alone, an annual profit increase of approximately 30 to 100 million yen is expected. Taking into account its various potential applications and strong future prospects, we have set the price at this level.</a:t>
            </a:r>
            <a:endParaRPr sz="1100">
              <a:latin typeface="Calibri"/>
              <a:ea typeface="Calibri"/>
              <a:cs typeface="Calibri"/>
              <a:sym typeface="Calibri"/>
            </a:endParaRPr>
          </a:p>
          <a:p>
            <a:pPr indent="0" lvl="0" marL="12700" marR="5080" rtl="0" algn="just">
              <a:lnSpc>
                <a:spcPct val="137500"/>
              </a:lnSpc>
              <a:spcBef>
                <a:spcPts val="0"/>
              </a:spcBef>
              <a:spcAft>
                <a:spcPts val="0"/>
              </a:spcAft>
              <a:buNone/>
            </a:pPr>
            <a:r>
              <a:rPr lang="en-US" sz="1100">
                <a:solidFill>
                  <a:schemeClr val="dk1"/>
                </a:solidFill>
                <a:latin typeface="Calibri"/>
                <a:ea typeface="Calibri"/>
                <a:cs typeface="Calibri"/>
                <a:sym typeface="Calibri"/>
              </a:rPr>
              <a:t>Also, </a:t>
            </a:r>
            <a:r>
              <a:rPr lang="en-US" sz="1100" u="sng">
                <a:solidFill>
                  <a:schemeClr val="dk1"/>
                </a:solidFill>
                <a:latin typeface="Calibri"/>
                <a:ea typeface="Calibri"/>
                <a:cs typeface="Calibri"/>
                <a:sym typeface="Calibri"/>
              </a:rPr>
              <a:t>for three years after signing, we will provide the consulting contract shown on the right free of charge.</a:t>
            </a:r>
            <a:r>
              <a:rPr lang="en-US" sz="1100">
                <a:solidFill>
                  <a:schemeClr val="dk1"/>
                </a:solidFill>
                <a:latin typeface="Calibri"/>
                <a:ea typeface="Calibri"/>
                <a:cs typeface="Calibri"/>
                <a:sym typeface="Calibri"/>
              </a:rPr>
              <a:t> Renewal will be required from the next fiscal year.</a:t>
            </a:r>
            <a:endParaRPr sz="1100">
              <a:latin typeface="Calibri"/>
              <a:ea typeface="Calibri"/>
              <a:cs typeface="Calibri"/>
              <a:sym typeface="Calibri"/>
            </a:endParaRPr>
          </a:p>
        </p:txBody>
      </p:sp>
      <p:sp>
        <p:nvSpPr>
          <p:cNvPr id="428" name="Google Shape;428;g39821493b04_0_252"/>
          <p:cNvSpPr txBox="1"/>
          <p:nvPr/>
        </p:nvSpPr>
        <p:spPr>
          <a:xfrm>
            <a:off x="7701925" y="1893000"/>
            <a:ext cx="3787200" cy="1045200"/>
          </a:xfrm>
          <a:prstGeom prst="rect">
            <a:avLst/>
          </a:prstGeom>
          <a:noFill/>
          <a:ln>
            <a:noFill/>
          </a:ln>
        </p:spPr>
        <p:txBody>
          <a:bodyPr anchorCtr="0" anchor="t" bIns="0" lIns="18275" spcFirstLastPara="1" rIns="18275" wrap="square" tIns="0">
            <a:noAutofit/>
          </a:bodyPr>
          <a:lstStyle/>
          <a:p>
            <a:pPr indent="-285115" lvl="0" marL="297815" rtl="0" algn="l">
              <a:lnSpc>
                <a:spcPct val="100000"/>
              </a:lnSpc>
              <a:spcBef>
                <a:spcPts val="0"/>
              </a:spcBef>
              <a:spcAft>
                <a:spcPts val="0"/>
              </a:spcAft>
              <a:buSzPts val="1100"/>
              <a:buFont typeface="Arial"/>
              <a:buChar char="•"/>
            </a:pPr>
            <a:r>
              <a:rPr lang="en-US" sz="1100">
                <a:latin typeface="Calibri"/>
                <a:ea typeface="Calibri"/>
                <a:cs typeface="Calibri"/>
                <a:sym typeface="Calibri"/>
              </a:rPr>
              <a:t>Training and education for in-house system personnel</a:t>
            </a:r>
            <a:endParaRPr sz="1100">
              <a:latin typeface="Calibri"/>
              <a:ea typeface="Calibri"/>
              <a:cs typeface="Calibri"/>
              <a:sym typeface="Calibri"/>
            </a:endParaRPr>
          </a:p>
          <a:p>
            <a:pPr indent="-285115" lvl="0" marL="297815" rtl="0" algn="l">
              <a:lnSpc>
                <a:spcPct val="100000"/>
              </a:lnSpc>
              <a:spcBef>
                <a:spcPts val="0"/>
              </a:spcBef>
              <a:spcAft>
                <a:spcPts val="0"/>
              </a:spcAft>
              <a:buSzPts val="1100"/>
              <a:buFont typeface="Arial"/>
              <a:buChar char="•"/>
            </a:pPr>
            <a:r>
              <a:rPr lang="en-US" sz="1100">
                <a:latin typeface="Calibri"/>
                <a:ea typeface="Calibri"/>
                <a:cs typeface="Calibri"/>
                <a:sym typeface="Calibri"/>
              </a:rPr>
              <a:t>Development of new models on a case-by-case basis</a:t>
            </a:r>
            <a:endParaRPr sz="1100">
              <a:latin typeface="Calibri"/>
              <a:ea typeface="Calibri"/>
              <a:cs typeface="Calibri"/>
              <a:sym typeface="Calibri"/>
            </a:endParaRPr>
          </a:p>
          <a:p>
            <a:pPr indent="-285115" lvl="0" marL="297815" rtl="0" algn="l">
              <a:lnSpc>
                <a:spcPct val="100000"/>
              </a:lnSpc>
              <a:spcBef>
                <a:spcPts val="0"/>
              </a:spcBef>
              <a:spcAft>
                <a:spcPts val="0"/>
              </a:spcAft>
              <a:buSzPts val="1100"/>
              <a:buFont typeface="Arial"/>
              <a:buChar char="•"/>
            </a:pPr>
            <a:r>
              <a:rPr lang="en-US" sz="1100">
                <a:latin typeface="Calibri"/>
                <a:ea typeface="Calibri"/>
                <a:cs typeface="Calibri"/>
                <a:sym typeface="Calibri"/>
              </a:rPr>
              <a:t>Comprehensive management consulting</a:t>
            </a:r>
            <a:endParaRPr sz="1100">
              <a:latin typeface="Calibri"/>
              <a:ea typeface="Calibri"/>
              <a:cs typeface="Calibri"/>
              <a:sym typeface="Calibri"/>
            </a:endParaRPr>
          </a:p>
          <a:p>
            <a:pPr indent="-285115" lvl="0" marL="297815" rtl="0" algn="l">
              <a:lnSpc>
                <a:spcPct val="100000"/>
              </a:lnSpc>
              <a:spcBef>
                <a:spcPts val="0"/>
              </a:spcBef>
              <a:spcAft>
                <a:spcPts val="0"/>
              </a:spcAft>
              <a:buSzPts val="1100"/>
              <a:buFont typeface="Arial"/>
              <a:buChar char="•"/>
            </a:pPr>
            <a:r>
              <a:rPr lang="en-US" sz="1100">
                <a:latin typeface="Calibri"/>
                <a:ea typeface="Calibri"/>
                <a:cs typeface="Calibri"/>
                <a:sym typeface="Calibri"/>
              </a:rPr>
              <a:t>Proposals for joint new business ventures</a:t>
            </a:r>
            <a:endParaRPr sz="1100">
              <a:latin typeface="Calibri"/>
              <a:ea typeface="Calibri"/>
              <a:cs typeface="Calibri"/>
              <a:sym typeface="Calibri"/>
            </a:endParaRPr>
          </a:p>
        </p:txBody>
      </p:sp>
      <p:sp>
        <p:nvSpPr>
          <p:cNvPr id="429" name="Google Shape;429;g39821493b04_0_252"/>
          <p:cNvSpPr txBox="1"/>
          <p:nvPr/>
        </p:nvSpPr>
        <p:spPr>
          <a:xfrm>
            <a:off x="7863915" y="3643011"/>
            <a:ext cx="2821800" cy="640200"/>
          </a:xfrm>
          <a:prstGeom prst="rect">
            <a:avLst/>
          </a:prstGeom>
          <a:noFill/>
          <a:ln>
            <a:noFill/>
          </a:ln>
        </p:spPr>
        <p:txBody>
          <a:bodyPr anchorCtr="0" anchor="t" bIns="0" lIns="18275" spcFirstLastPara="1" rIns="18275" wrap="square" tIns="0">
            <a:noAutofit/>
          </a:bodyPr>
          <a:lstStyle/>
          <a:p>
            <a:pPr indent="0" lvl="0" marL="12700" marR="5080" rtl="0" algn="l">
              <a:lnSpc>
                <a:spcPct val="100000"/>
              </a:lnSpc>
              <a:spcBef>
                <a:spcPts val="0"/>
              </a:spcBef>
              <a:spcAft>
                <a:spcPts val="0"/>
              </a:spcAft>
              <a:buNone/>
            </a:pPr>
            <a:r>
              <a:rPr b="1" lang="en-US" sz="1300">
                <a:solidFill>
                  <a:srgbClr val="FF0000"/>
                </a:solidFill>
                <a:latin typeface="Calibri"/>
                <a:ea typeface="Calibri"/>
                <a:cs typeface="Calibri"/>
                <a:sym typeface="Calibri"/>
              </a:rPr>
              <a:t>The monthly contract is set at 1 million yen, and the annual contract at 10 million yen.</a:t>
            </a:r>
            <a:endParaRPr b="1" sz="1300">
              <a:solidFill>
                <a:srgbClr val="FF0000"/>
              </a:solidFill>
              <a:latin typeface="Calibri"/>
              <a:ea typeface="Calibri"/>
              <a:cs typeface="Calibri"/>
              <a:sym typeface="Calibri"/>
            </a:endParaRPr>
          </a:p>
        </p:txBody>
      </p:sp>
      <p:sp>
        <p:nvSpPr>
          <p:cNvPr id="430" name="Google Shape;430;g39821493b04_0_252"/>
          <p:cNvSpPr txBox="1"/>
          <p:nvPr/>
        </p:nvSpPr>
        <p:spPr>
          <a:xfrm>
            <a:off x="7904865" y="4748188"/>
            <a:ext cx="3381300" cy="1111200"/>
          </a:xfrm>
          <a:prstGeom prst="rect">
            <a:avLst/>
          </a:prstGeom>
          <a:noFill/>
          <a:ln>
            <a:noFill/>
          </a:ln>
        </p:spPr>
        <p:txBody>
          <a:bodyPr anchorCtr="0" anchor="t" bIns="0" lIns="18275" spcFirstLastPara="1" rIns="18275" wrap="square" tIns="0">
            <a:noAutofit/>
          </a:bodyPr>
          <a:lstStyle/>
          <a:p>
            <a:pPr indent="0" lvl="0" marL="12700" marR="5080" rtl="0" algn="l">
              <a:lnSpc>
                <a:spcPct val="137500"/>
              </a:lnSpc>
              <a:spcBef>
                <a:spcPts val="0"/>
              </a:spcBef>
              <a:spcAft>
                <a:spcPts val="0"/>
              </a:spcAft>
              <a:buNone/>
            </a:pPr>
            <a:r>
              <a:rPr lang="en-US" sz="1200">
                <a:latin typeface="Calibri"/>
                <a:ea typeface="Calibri"/>
                <a:cs typeface="Calibri"/>
                <a:sym typeface="Calibri"/>
              </a:rPr>
              <a:t>Regarding the new business proposals introduced above, in principle, all joint business projects can be undertaken based on the pricing indicated here as the standard fee. </a:t>
            </a:r>
            <a:endParaRPr sz="1200">
              <a:latin typeface="Calibri"/>
              <a:ea typeface="Calibri"/>
              <a:cs typeface="Calibri"/>
              <a:sym typeface="Calibri"/>
            </a:endParaRPr>
          </a:p>
          <a:p>
            <a:pPr indent="0" lvl="0" marL="12700" marR="5080" rtl="0" algn="l">
              <a:lnSpc>
                <a:spcPct val="137500"/>
              </a:lnSpc>
              <a:spcBef>
                <a:spcPts val="0"/>
              </a:spcBef>
              <a:spcAft>
                <a:spcPts val="0"/>
              </a:spcAft>
              <a:buNone/>
            </a:pPr>
            <a:r>
              <a:rPr lang="en-US" sz="1200">
                <a:latin typeface="Calibri"/>
                <a:ea typeface="Calibri"/>
                <a:cs typeface="Calibri"/>
                <a:sym typeface="Calibri"/>
              </a:rPr>
              <a:t>(Additional performance-based compensation may be applied depending on the circumstances.)</a:t>
            </a:r>
            <a:endParaRPr sz="1200">
              <a:latin typeface="Calibri"/>
              <a:ea typeface="Calibri"/>
              <a:cs typeface="Calibri"/>
              <a:sym typeface="Calibri"/>
            </a:endParaRPr>
          </a:p>
        </p:txBody>
      </p:sp>
      <p:sp>
        <p:nvSpPr>
          <p:cNvPr id="431" name="Google Shape;431;g39821493b04_0_252"/>
          <p:cNvSpPr txBox="1"/>
          <p:nvPr/>
        </p:nvSpPr>
        <p:spPr>
          <a:xfrm>
            <a:off x="6224610" y="1366950"/>
            <a:ext cx="4396200" cy="3003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None/>
            </a:pPr>
            <a:r>
              <a:rPr b="1" lang="en-US" sz="1300">
                <a:solidFill>
                  <a:srgbClr val="001F5F"/>
                </a:solidFill>
                <a:latin typeface="Calibri"/>
                <a:ea typeface="Calibri"/>
                <a:cs typeface="Calibri"/>
                <a:sym typeface="Calibri"/>
              </a:rPr>
              <a:t>Consulting Contract</a:t>
            </a:r>
            <a:endParaRPr sz="1400">
              <a:latin typeface="Calibri"/>
              <a:ea typeface="Calibri"/>
              <a:cs typeface="Calibri"/>
              <a:sym typeface="Calibri"/>
            </a:endParaRPr>
          </a:p>
        </p:txBody>
      </p:sp>
      <p:sp>
        <p:nvSpPr>
          <p:cNvPr id="432" name="Google Shape;432;g39821493b04_0_252"/>
          <p:cNvSpPr txBox="1"/>
          <p:nvPr/>
        </p:nvSpPr>
        <p:spPr>
          <a:xfrm>
            <a:off x="6278238" y="1939025"/>
            <a:ext cx="888900" cy="2592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1600">
                <a:solidFill>
                  <a:srgbClr val="FFFFFF"/>
                </a:solidFill>
              </a:rPr>
              <a:t>Content</a:t>
            </a:r>
            <a:endParaRPr sz="1600">
              <a:latin typeface="Arial"/>
              <a:ea typeface="Arial"/>
              <a:cs typeface="Arial"/>
              <a:sym typeface="Arial"/>
            </a:endParaRPr>
          </a:p>
        </p:txBody>
      </p:sp>
      <p:sp>
        <p:nvSpPr>
          <p:cNvPr id="433" name="Google Shape;433;g39821493b04_0_252"/>
          <p:cNvSpPr/>
          <p:nvPr/>
        </p:nvSpPr>
        <p:spPr>
          <a:xfrm>
            <a:off x="6254016" y="3678819"/>
            <a:ext cx="972185" cy="396239"/>
          </a:xfrm>
          <a:custGeom>
            <a:rect b="b" l="l" r="r" t="t"/>
            <a:pathLst>
              <a:path extrusionOk="0" h="396239" w="972185">
                <a:moveTo>
                  <a:pt x="905998" y="0"/>
                </a:moveTo>
                <a:lnTo>
                  <a:pt x="66001" y="0"/>
                </a:lnTo>
                <a:lnTo>
                  <a:pt x="40310" y="5186"/>
                </a:lnTo>
                <a:lnTo>
                  <a:pt x="19331" y="19330"/>
                </a:lnTo>
                <a:lnTo>
                  <a:pt x="5186" y="40310"/>
                </a:lnTo>
                <a:lnTo>
                  <a:pt x="0" y="66000"/>
                </a:lnTo>
                <a:lnTo>
                  <a:pt x="0" y="329998"/>
                </a:lnTo>
                <a:lnTo>
                  <a:pt x="5186" y="355688"/>
                </a:lnTo>
                <a:lnTo>
                  <a:pt x="19331" y="376668"/>
                </a:lnTo>
                <a:lnTo>
                  <a:pt x="40310" y="390813"/>
                </a:lnTo>
                <a:lnTo>
                  <a:pt x="66001" y="395999"/>
                </a:lnTo>
                <a:lnTo>
                  <a:pt x="905998" y="395999"/>
                </a:lnTo>
                <a:lnTo>
                  <a:pt x="931689" y="390813"/>
                </a:lnTo>
                <a:lnTo>
                  <a:pt x="952668" y="376668"/>
                </a:lnTo>
                <a:lnTo>
                  <a:pt x="966813" y="355688"/>
                </a:lnTo>
                <a:lnTo>
                  <a:pt x="972000" y="329998"/>
                </a:lnTo>
                <a:lnTo>
                  <a:pt x="972000" y="66000"/>
                </a:lnTo>
                <a:lnTo>
                  <a:pt x="966813" y="40310"/>
                </a:lnTo>
                <a:lnTo>
                  <a:pt x="952668" y="19330"/>
                </a:lnTo>
                <a:lnTo>
                  <a:pt x="931689" y="5186"/>
                </a:lnTo>
                <a:lnTo>
                  <a:pt x="905998" y="0"/>
                </a:lnTo>
                <a:close/>
              </a:path>
            </a:pathLst>
          </a:custGeom>
          <a:solidFill>
            <a:srgbClr val="002060">
              <a:alpha val="50199"/>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4" name="Google Shape;434;g39821493b04_0_252"/>
          <p:cNvSpPr txBox="1"/>
          <p:nvPr/>
        </p:nvSpPr>
        <p:spPr>
          <a:xfrm>
            <a:off x="6278113" y="3728200"/>
            <a:ext cx="888900" cy="2592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1600">
                <a:solidFill>
                  <a:srgbClr val="FFFFFF"/>
                </a:solidFill>
              </a:rPr>
              <a:t>Price</a:t>
            </a:r>
            <a:endParaRPr sz="1600">
              <a:latin typeface="Arial"/>
              <a:ea typeface="Arial"/>
              <a:cs typeface="Arial"/>
              <a:sym typeface="Arial"/>
            </a:endParaRPr>
          </a:p>
        </p:txBody>
      </p:sp>
      <p:sp>
        <p:nvSpPr>
          <p:cNvPr id="435" name="Google Shape;435;g39821493b04_0_252"/>
          <p:cNvSpPr/>
          <p:nvPr/>
        </p:nvSpPr>
        <p:spPr>
          <a:xfrm>
            <a:off x="6254016" y="1939031"/>
            <a:ext cx="972185" cy="396239"/>
          </a:xfrm>
          <a:custGeom>
            <a:rect b="b" l="l" r="r" t="t"/>
            <a:pathLst>
              <a:path extrusionOk="0" h="396239" w="972185">
                <a:moveTo>
                  <a:pt x="905998" y="0"/>
                </a:moveTo>
                <a:lnTo>
                  <a:pt x="66001" y="0"/>
                </a:lnTo>
                <a:lnTo>
                  <a:pt x="40310" y="5186"/>
                </a:lnTo>
                <a:lnTo>
                  <a:pt x="19331" y="19330"/>
                </a:lnTo>
                <a:lnTo>
                  <a:pt x="5186" y="40310"/>
                </a:lnTo>
                <a:lnTo>
                  <a:pt x="0" y="66000"/>
                </a:lnTo>
                <a:lnTo>
                  <a:pt x="0" y="329998"/>
                </a:lnTo>
                <a:lnTo>
                  <a:pt x="5186" y="355688"/>
                </a:lnTo>
                <a:lnTo>
                  <a:pt x="19331" y="376668"/>
                </a:lnTo>
                <a:lnTo>
                  <a:pt x="40310" y="390813"/>
                </a:lnTo>
                <a:lnTo>
                  <a:pt x="66001" y="395999"/>
                </a:lnTo>
                <a:lnTo>
                  <a:pt x="905998" y="395999"/>
                </a:lnTo>
                <a:lnTo>
                  <a:pt x="931689" y="390813"/>
                </a:lnTo>
                <a:lnTo>
                  <a:pt x="952668" y="376668"/>
                </a:lnTo>
                <a:lnTo>
                  <a:pt x="966813" y="355688"/>
                </a:lnTo>
                <a:lnTo>
                  <a:pt x="972000" y="329998"/>
                </a:lnTo>
                <a:lnTo>
                  <a:pt x="972000" y="66000"/>
                </a:lnTo>
                <a:lnTo>
                  <a:pt x="966813" y="40310"/>
                </a:lnTo>
                <a:lnTo>
                  <a:pt x="952668" y="19330"/>
                </a:lnTo>
                <a:lnTo>
                  <a:pt x="931689" y="5186"/>
                </a:lnTo>
                <a:lnTo>
                  <a:pt x="905998" y="0"/>
                </a:lnTo>
                <a:close/>
              </a:path>
            </a:pathLst>
          </a:custGeom>
          <a:solidFill>
            <a:srgbClr val="002060">
              <a:alpha val="50199"/>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6" name="Google Shape;436;g39821493b04_0_252"/>
          <p:cNvSpPr txBox="1"/>
          <p:nvPr/>
        </p:nvSpPr>
        <p:spPr>
          <a:xfrm>
            <a:off x="6295663" y="2007550"/>
            <a:ext cx="888900" cy="2592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1600">
                <a:solidFill>
                  <a:srgbClr val="FFFFFF"/>
                </a:solidFill>
              </a:rPr>
              <a:t>Content</a:t>
            </a:r>
            <a:endParaRPr sz="16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2025-10-20T22:29:04Z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2025-10-20T00:00:00Z</vt:filetime>
  </property>
  <property fmtid="{D5CDD505-2E9C-101B-9397-08002B2CF9AE}" pid="3" name="LastSaved">
    <vt:filetime>2025-10-20T00:00:00Z</vt:filetime>
  </property>
</Properties>
</file>