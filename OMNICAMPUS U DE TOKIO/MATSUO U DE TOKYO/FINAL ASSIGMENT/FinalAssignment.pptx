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3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s-EC" sz="1300" b="0" i="0" u="none" strike="noStrike">
                <a:solidFill>
                  <a:srgbClr val="1E2761"/>
                </a:solidFill>
                <a:latin typeface="Arial"/>
              </a:rPr>
              <a:t>Cost of Acquisition vs. Retention (indexed, base = 100)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($, indexed)</c:v>
                </c:pt>
              </c:strCache>
            </c:strRef>
          </c:tx>
          <c:spPr>
            <a:solidFill>
              <a:srgbClr val="2C7DA0">
                <a:alpha val="10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C7D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FCF-E743-8453-05D158FB263E}"/>
              </c:ext>
            </c:extLst>
          </c:dPt>
          <c:dPt>
            <c:idx val="1"/>
            <c:invertIfNegative val="0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FCF-E743-8453-05D158FB263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12121"/>
                    </a:solidFill>
                    <a:latin typeface="Arial"/>
                  </a:defRPr>
                </a:pPr>
                <a:endParaRPr lang="es-EC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Retention</c:v>
                </c:pt>
                <c:pt idx="1">
                  <c:v>Acquisition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600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FCF-E743-8453-05D158FB263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1212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7D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EB6-4348-8C81-0966EA08E6CE}"/>
              </c:ext>
            </c:extLst>
          </c:dPt>
          <c:dPt>
            <c:idx val="1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EB6-4348-8C81-0966EA08E6CE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EC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EB6-4348-8C81-0966EA08E6CE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EC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EB6-4348-8C81-0966EA08E6C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EC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Stayed</c:v>
                </c:pt>
                <c:pt idx="1">
                  <c:v>Churned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</c:v>
                </c:pt>
                <c:pt idx="1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EB6-4348-8C81-0966EA08E6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s-EC" sz="1300" b="0" i="0" u="none" strike="noStrike">
                <a:solidFill>
                  <a:srgbClr val="1E2761"/>
                </a:solidFill>
                <a:latin typeface="Arial"/>
              </a:rPr>
              <a:t>Churn Rate (%) by Months in Service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12121"/>
                    </a:solidFill>
                    <a:latin typeface="Arial"/>
                  </a:defRPr>
                </a:pPr>
                <a:endParaRPr lang="es-EC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0–6 mo</c:v>
                </c:pt>
                <c:pt idx="1">
                  <c:v>7–12 mo</c:v>
                </c:pt>
                <c:pt idx="2">
                  <c:v>13–24 mo</c:v>
                </c:pt>
                <c:pt idx="3">
                  <c:v>25–36 mo</c:v>
                </c:pt>
                <c:pt idx="4">
                  <c:v>37–60 mo</c:v>
                </c:pt>
                <c:pt idx="5">
                  <c:v>60+ mo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32</c:v>
                </c:pt>
                <c:pt idx="1">
                  <c:v>28</c:v>
                </c:pt>
                <c:pt idx="2">
                  <c:v>24</c:v>
                </c:pt>
                <c:pt idx="3">
                  <c:v>21</c:v>
                </c:pt>
                <c:pt idx="4">
                  <c:v>19</c:v>
                </c:pt>
                <c:pt idx="5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259-264B-9065-9EB6BE08CFA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1212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s-EC" sz="1300" b="0" i="0" u="none" strike="noStrike">
                <a:solidFill>
                  <a:srgbClr val="1E2761"/>
                </a:solidFill>
                <a:latin typeface="Arial"/>
              </a:rPr>
              <a:t>5-fold CV ROC-AUC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2C7DA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95F-2F4E-8DED-15817CDFA338}"/>
              </c:ext>
            </c:extLst>
          </c:dPt>
          <c:dPt>
            <c:idx val="1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95F-2F4E-8DED-15817CDFA338}"/>
              </c:ext>
            </c:extLst>
          </c:dPt>
          <c:dPt>
            <c:idx val="2"/>
            <c:invertIfNegative val="0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95F-2F4E-8DED-15817CDFA338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212121"/>
                    </a:solidFill>
                    <a:latin typeface="Arial"/>
                  </a:defRPr>
                </a:pPr>
                <a:endParaRPr lang="es-EC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 Regression</c:v>
                </c:pt>
                <c:pt idx="1">
                  <c:v>Decision Tree</c:v>
                </c:pt>
                <c:pt idx="2">
                  <c:v>Gradient Boosting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0.62</c:v>
                </c:pt>
                <c:pt idx="1">
                  <c:v>0.59</c:v>
                </c:pt>
                <c:pt idx="2">
                  <c:v>0.68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95F-2F4E-8DED-15817CDFA3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1212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5"/>
          <c:min val="0.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12121"/>
                    </a:solidFill>
                    <a:latin typeface="Arial"/>
                  </a:defRPr>
                </a:pPr>
                <a:endParaRPr lang="es-EC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eqpdays (equipment age)</c:v>
                </c:pt>
                <c:pt idx="1">
                  <c:v>months (tenure)</c:v>
                </c:pt>
                <c:pt idx="2">
                  <c:v>change_mou (Δ minutes)</c:v>
                </c:pt>
                <c:pt idx="3">
                  <c:v>change_rev (Δ revenue)</c:v>
                </c:pt>
                <c:pt idx="4">
                  <c:v>totmrc_Mean (recurring charge)</c:v>
                </c:pt>
                <c:pt idx="5">
                  <c:v>mou_Mean (monthly minutes)</c:v>
                </c:pt>
                <c:pt idx="6">
                  <c:v>drop_blk_Mean (failed calls)</c:v>
                </c:pt>
                <c:pt idx="7">
                  <c:v>rev_Mean (monthly revenue)</c:v>
                </c:pt>
                <c:pt idx="8">
                  <c:v>custcare_Mean (support calls)</c:v>
                </c:pt>
                <c:pt idx="9">
                  <c:v>hnd_price (handset price)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0.18</c:v>
                </c:pt>
                <c:pt idx="1">
                  <c:v>0.12</c:v>
                </c:pt>
                <c:pt idx="2">
                  <c:v>0.1</c:v>
                </c:pt>
                <c:pt idx="3">
                  <c:v>0.08</c:v>
                </c:pt>
                <c:pt idx="4">
                  <c:v>7.0000000000000007E-2</c:v>
                </c:pt>
                <c:pt idx="5">
                  <c:v>0.06</c:v>
                </c:pt>
                <c:pt idx="6">
                  <c:v>0.05</c:v>
                </c:pt>
                <c:pt idx="7">
                  <c:v>0.05</c:v>
                </c:pt>
                <c:pt idx="8">
                  <c:v>0.04</c:v>
                </c:pt>
                <c:pt idx="9">
                  <c:v>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B5-654E-BC12-E2123C15887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1212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s-EC" sz="1300" b="0" i="0" u="none" strike="noStrike">
                <a:solidFill>
                  <a:srgbClr val="1E2761"/>
                </a:solidFill>
                <a:latin typeface="Arial"/>
              </a:rPr>
              <a:t>Cumulative % of Churners Captured vs. % Contacted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</c:v>
                </c:pt>
              </c:strCache>
            </c:strRef>
          </c:tx>
          <c:spPr>
            <a:ln w="38100" cap="flat">
              <a:solidFill>
                <a:srgbClr val="E6394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63946"/>
              </a:solidFill>
              <a:ln w="9525" cap="flat">
                <a:solidFill>
                  <a:srgbClr val="E63946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0%</c:v>
                </c:pt>
                <c:pt idx="1">
                  <c:v>10%</c:v>
                </c:pt>
                <c:pt idx="2">
                  <c:v>20%</c:v>
                </c:pt>
                <c:pt idx="3">
                  <c:v>30%</c:v>
                </c:pt>
                <c:pt idx="4">
                  <c:v>40%</c:v>
                </c:pt>
                <c:pt idx="5">
                  <c:v>50%</c:v>
                </c:pt>
                <c:pt idx="6">
                  <c:v>60%</c:v>
                </c:pt>
                <c:pt idx="7">
                  <c:v>70%</c:v>
                </c:pt>
                <c:pt idx="8">
                  <c:v>80%</c:v>
                </c:pt>
                <c:pt idx="9">
                  <c:v>90%</c:v>
                </c:pt>
                <c:pt idx="10">
                  <c:v>100%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22</c:v>
                </c:pt>
                <c:pt idx="2">
                  <c:v>40</c:v>
                </c:pt>
                <c:pt idx="3">
                  <c:v>55</c:v>
                </c:pt>
                <c:pt idx="4">
                  <c:v>67</c:v>
                </c:pt>
                <c:pt idx="5">
                  <c:v>76</c:v>
                </c:pt>
                <c:pt idx="6">
                  <c:v>84</c:v>
                </c:pt>
                <c:pt idx="7">
                  <c:v>90</c:v>
                </c:pt>
                <c:pt idx="8">
                  <c:v>94</c:v>
                </c:pt>
                <c:pt idx="9">
                  <c:v>98</c:v>
                </c:pt>
                <c:pt idx="10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DFD-284F-8CDA-62AF028EC0C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</c:v>
                </c:pt>
              </c:strCache>
            </c:strRef>
          </c:tx>
          <c:spPr>
            <a:ln w="38100" cap="flat">
              <a:solidFill>
                <a:srgbClr val="64748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4748B"/>
              </a:solidFill>
              <a:ln w="9525" cap="flat">
                <a:solidFill>
                  <a:srgbClr val="64748B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0%</c:v>
                </c:pt>
                <c:pt idx="1">
                  <c:v>10%</c:v>
                </c:pt>
                <c:pt idx="2">
                  <c:v>20%</c:v>
                </c:pt>
                <c:pt idx="3">
                  <c:v>30%</c:v>
                </c:pt>
                <c:pt idx="4">
                  <c:v>40%</c:v>
                </c:pt>
                <c:pt idx="5">
                  <c:v>50%</c:v>
                </c:pt>
                <c:pt idx="6">
                  <c:v>60%</c:v>
                </c:pt>
                <c:pt idx="7">
                  <c:v>70%</c:v>
                </c:pt>
                <c:pt idx="8">
                  <c:v>80%</c:v>
                </c:pt>
                <c:pt idx="9">
                  <c:v>90%</c:v>
                </c:pt>
                <c:pt idx="10">
                  <c:v>100%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DFD-284F-8CDA-62AF028EC0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1212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4113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Reducing Customer Churn with Machine Learning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Data-Driven Retention Strategy for Company 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4389120"/>
            <a:ext cx="109728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73152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Josseline Daniela Chavez Carpio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937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GCI World 2026 April — Matsuo-Iwasawa Lab, The University of Tokyo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4864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11880" cy="182880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91440" cy="18288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~25% of Company A's customers churn within 60 days. In a market where acquisition costs 5–7× more than retention, this is the single largest profitability leak.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463040"/>
            <a:ext cx="3611880" cy="182880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Shape 7"/>
          <p:cNvSpPr/>
          <p:nvPr/>
        </p:nvSpPr>
        <p:spPr>
          <a:xfrm>
            <a:off x="4343400" y="1463040"/>
            <a:ext cx="91440" cy="1828800"/>
          </a:xfrm>
          <a:prstGeom prst="rect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Text 8"/>
          <p:cNvSpPr/>
          <p:nvPr/>
        </p:nvSpPr>
        <p:spPr>
          <a:xfrm>
            <a:off x="4617720" y="16916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17720" y="224028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Gradient Boosting model that scores each customer's monthly churn risk, letting the retention team focus on the top 20% — capturing ~40% of all churners.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463040"/>
            <a:ext cx="3611880" cy="182880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Shape 11"/>
          <p:cNvSpPr/>
          <p:nvPr/>
        </p:nvSpPr>
        <p:spPr>
          <a:xfrm>
            <a:off x="8138160" y="1463040"/>
            <a:ext cx="91440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8412480" y="16916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Impact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12480" y="224028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scenario projects $10M+ in net retained revenue per year, with positive ROI vs. random targeting. Deployable in 8 weeks.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1148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548640" y="5029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churn rate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29000" y="41148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0.68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3429000" y="5029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ROC-AUC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41148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2.0×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6309360" y="5029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over random targeting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89720" y="41148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$10M+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9189720" y="5029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retained revenue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Model evaluation on held-out test set (n=20,000); financial projections based on industry assumptions (see Slide 12).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65379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 — Churn Prediction PoC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Churn Is the #1 Telecom Profitability Issue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4864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context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486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telecom annual churn averages 20–30%, with US carriers in the 15–25% range.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Acquiring a new customer costs 5–7× more than retaining one (HBR).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5% improvement in retention drives 25–95% profit growth (Bain &amp; Co).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 telecom market reached ~$650B in 2024 with low organic growth — competition is now retention-driven.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400800" y="1554480"/>
          <a:ext cx="52120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212080"/>
            <a:ext cx="1106424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5"/>
          <p:cNvSpPr/>
          <p:nvPr/>
        </p:nvSpPr>
        <p:spPr>
          <a:xfrm>
            <a:off x="777240" y="53492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 FOR COMPANY A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77240" y="562356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~100,000 customers and current 25% churn, every 1-point reduction in churn protects roughly 1,000 customers worth ~$700K in annual recurring revenue — before LTV multipliers.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62636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McKinsey Telecom Report (2024); HBR "The Value of Keeping the Right Customers"; Bain &amp; Co; IBISWorld; Statista.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4712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65760" y="65379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 — Churn Prediction PoC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Data: 100,000 Customers, 100 Variables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4864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structure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5669280" cy="25603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Record.csv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100,000 × 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 history: calls, minutes, revenue, dropped/blocked calls, customer-care interactions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Client.csv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100,000 × 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attributes: tenure, equipment age, demographics, plan type, household info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100,000 × 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Merged on Customer_ID for modeling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1371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variable: churn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0" y="17830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"Instance of churn between 31–60 days after observation date"</a:t>
            </a:r>
            <a:endParaRPr lang="en-US" sz="11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400800" y="2194560"/>
          <a:ext cx="521208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5440680"/>
            <a:ext cx="2697480" cy="86868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Text 6"/>
          <p:cNvSpPr/>
          <p:nvPr/>
        </p:nvSpPr>
        <p:spPr>
          <a:xfrm>
            <a:off x="685800" y="54864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25.0%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685800" y="59893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churn rate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429000" y="5440680"/>
            <a:ext cx="2697480" cy="86868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Text 9"/>
          <p:cNvSpPr/>
          <p:nvPr/>
        </p:nvSpPr>
        <p:spPr>
          <a:xfrm>
            <a:off x="3566160" y="54864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100K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3566160" y="59893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analyzed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309360" y="5440680"/>
            <a:ext cx="2697480" cy="86868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Text 12"/>
          <p:cNvSpPr/>
          <p:nvPr/>
        </p:nvSpPr>
        <p:spPr>
          <a:xfrm>
            <a:off x="6446520" y="54864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~100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6446520" y="59893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per customer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9189720" y="5440680"/>
            <a:ext cx="2697480" cy="86868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" name="Text 15"/>
          <p:cNvSpPr/>
          <p:nvPr/>
        </p:nvSpPr>
        <p:spPr>
          <a:xfrm>
            <a:off x="9326880" y="54864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31–60d</a:t>
            </a:r>
            <a:endParaRPr lang="en-US" sz="2400" dirty="0"/>
          </a:p>
        </p:txBody>
      </p:sp>
      <p:sp>
        <p:nvSpPr>
          <p:cNvPr id="20" name="Text 16"/>
          <p:cNvSpPr/>
          <p:nvPr/>
        </p:nvSpPr>
        <p:spPr>
          <a:xfrm>
            <a:off x="9326880" y="59893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horizon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1124712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365760" y="65379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 — Churn Prediction PoC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EDA: Who Churns, and Why?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4864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signals stand out across 100K customers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32120" cy="219456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91440" cy="21945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1463040" y="192024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Declining usage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whose minutes-of-use dropped vs. the prior 3-month average are ~2× more likely to churn. The single strongest behavioral signal.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691640"/>
            <a:ext cx="5532120" cy="219456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Shape 9"/>
          <p:cNvSpPr/>
          <p:nvPr/>
        </p:nvSpPr>
        <p:spPr>
          <a:xfrm>
            <a:off x="6309360" y="1691640"/>
            <a:ext cx="91440" cy="2194560"/>
          </a:xfrm>
          <a:prstGeom prst="rect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Text 11"/>
          <p:cNvSpPr/>
          <p:nvPr/>
        </p:nvSpPr>
        <p:spPr>
          <a:xfrm>
            <a:off x="7223760" y="192024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Aging equipment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83680" y="256032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eqpdays (days on current handset) is the top predictor. Customers with handsets &gt;500 days old churn at 35%+ — a clear upgrade opportunity.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5532120" cy="219456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91440" cy="2194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Text 16"/>
          <p:cNvSpPr/>
          <p:nvPr/>
        </p:nvSpPr>
        <p:spPr>
          <a:xfrm>
            <a:off x="1463040" y="425196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Poor service quality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2960" y="489204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dropped + blocked call rates correlate with churn. Network experience is actionable: customers won't say they're leaving, but the data shows it.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4023360"/>
            <a:ext cx="5532120" cy="219456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1" name="Shape 19"/>
          <p:cNvSpPr/>
          <p:nvPr/>
        </p:nvSpPr>
        <p:spPr>
          <a:xfrm>
            <a:off x="6309360" y="4023360"/>
            <a:ext cx="91440" cy="21945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3" name="Text 21"/>
          <p:cNvSpPr/>
          <p:nvPr/>
        </p:nvSpPr>
        <p:spPr>
          <a:xfrm>
            <a:off x="7223760" y="425196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Honeymoon and fatigue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583680" y="489204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peaks twice: in the first 12 months (poor onboarding) and after 36+ months (contract fatigue, competitive offers).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2636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Exploratory analysis of Record.csv + Client.csv (100,000 customers).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65379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 — Churn Prediction PoC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 Quantified: Churn Rate by Tenure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4864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distinct risk groups — early-tenure and long-tenure — call for different retention playbooks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645920"/>
          <a:ext cx="6858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7680960" y="16459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risk segments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680960" y="2103120"/>
            <a:ext cx="3931920" cy="182880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Shape 5"/>
          <p:cNvSpPr/>
          <p:nvPr/>
        </p:nvSpPr>
        <p:spPr>
          <a:xfrm>
            <a:off x="7680960" y="2103120"/>
            <a:ext cx="91440" cy="18288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Text 6"/>
          <p:cNvSpPr/>
          <p:nvPr/>
        </p:nvSpPr>
        <p:spPr>
          <a:xfrm>
            <a:off x="7818120" y="2194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Early-stage (0–12 months)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818120" y="260604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32% churn. Onboarding failure, plan mismatch, or buyer's remorse. Playbook: welcome calls, plan-fit reviews, service quality monitoring.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680960" y="4114800"/>
            <a:ext cx="3931920" cy="182880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Shape 9"/>
          <p:cNvSpPr/>
          <p:nvPr/>
        </p:nvSpPr>
        <p:spPr>
          <a:xfrm>
            <a:off x="7680960" y="4114800"/>
            <a:ext cx="91440" cy="1828800"/>
          </a:xfrm>
          <a:prstGeom prst="rect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Text 10"/>
          <p:cNvSpPr/>
          <p:nvPr/>
        </p:nvSpPr>
        <p:spPr>
          <a:xfrm>
            <a:off x="7818120" y="4206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Long-tenure (60+ months)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818120" y="461772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 churn despite loyalty. Contract fatigue + competitive offers. Playbook: loyalty rewards, device upgrades, premium plan migration.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" y="62636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Calculated from joined dataset (100,000 customers).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4712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65760" y="65379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 — Churn Prediction PoC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Translating Business to ML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4864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03520" cy="45720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"How do we reduce customer churn before it happens?"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from the client: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4937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at-risk customers early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retention efforts actionable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the financial upside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explanations a non-technical team can use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0" y="3520440"/>
            <a:ext cx="457200" cy="4572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Text 8"/>
          <p:cNvSpPr/>
          <p:nvPr/>
        </p:nvSpPr>
        <p:spPr>
          <a:xfrm>
            <a:off x="594360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492240" y="1463040"/>
            <a:ext cx="5120640" cy="4572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6766560" y="16916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FORMULATION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766560" y="20116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Supervised binary classification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766560" y="26517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P(churn = 1) for each customer; rank to target retention budget.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66560" y="33375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choices: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66560" y="3657600"/>
            <a:ext cx="47548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`churn` (existing in dataset)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ROC-AUC — measures ranking quality, robust to class imbalance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KPI: Precision@Top-K — % of flagged customers who actually churn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5-fold stratified CV + hold-out test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24712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65379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 — Churn Prediction PoC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Modeling Approach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4864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Five-step pipeline, fully reproducible in scikit-learn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07592" y="210312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1307592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2157984" cy="169164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685800" y="2926080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3429000"/>
            <a:ext cx="188366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Record + Client tables (~100K × 100). Drop ID. Treat NA's.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06624" y="2386584"/>
            <a:ext cx="109728" cy="10972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Shape 9"/>
          <p:cNvSpPr/>
          <p:nvPr/>
        </p:nvSpPr>
        <p:spPr>
          <a:xfrm>
            <a:off x="3575304" y="210312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3575304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2816352" y="2880360"/>
            <a:ext cx="2157984" cy="169164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2953512" y="2926080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53512" y="3429000"/>
            <a:ext cx="188366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failure_ratio, rev_per_minute, custcare_intensity from EDA insights.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74336" y="2386584"/>
            <a:ext cx="109728" cy="10972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Shape 15"/>
          <p:cNvSpPr/>
          <p:nvPr/>
        </p:nvSpPr>
        <p:spPr>
          <a:xfrm>
            <a:off x="5843016" y="210312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Text 16"/>
          <p:cNvSpPr/>
          <p:nvPr/>
        </p:nvSpPr>
        <p:spPr>
          <a:xfrm>
            <a:off x="5843016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5084064" y="2880360"/>
            <a:ext cx="2157984" cy="169164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0" name="Text 18"/>
          <p:cNvSpPr/>
          <p:nvPr/>
        </p:nvSpPr>
        <p:spPr>
          <a:xfrm>
            <a:off x="5221224" y="2926080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21224" y="3429000"/>
            <a:ext cx="188366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imputation + StandardScaler (num); mode imputation + One-Hot (cat).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242048" y="2386584"/>
            <a:ext cx="109728" cy="10972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3" name="Shape 21"/>
          <p:cNvSpPr/>
          <p:nvPr/>
        </p:nvSpPr>
        <p:spPr>
          <a:xfrm>
            <a:off x="8110728" y="210312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" name="Text 22"/>
          <p:cNvSpPr/>
          <p:nvPr/>
        </p:nvSpPr>
        <p:spPr>
          <a:xfrm>
            <a:off x="8110728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7351776" y="2880360"/>
            <a:ext cx="2157984" cy="169164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" name="Text 24"/>
          <p:cNvSpPr/>
          <p:nvPr/>
        </p:nvSpPr>
        <p:spPr>
          <a:xfrm>
            <a:off x="7488936" y="2926080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88936" y="3429000"/>
            <a:ext cx="188366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Logistic Reg., Decision Tree, Gradient Boosting via 5-fold CV.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509760" y="2386584"/>
            <a:ext cx="109728" cy="10972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9" name="Shape 27"/>
          <p:cNvSpPr/>
          <p:nvPr/>
        </p:nvSpPr>
        <p:spPr>
          <a:xfrm>
            <a:off x="10378440" y="210312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" name="Text 28"/>
          <p:cNvSpPr/>
          <p:nvPr/>
        </p:nvSpPr>
        <p:spPr>
          <a:xfrm>
            <a:off x="1037844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9619488" y="2880360"/>
            <a:ext cx="2157984" cy="169164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" name="Text 30"/>
          <p:cNvSpPr/>
          <p:nvPr/>
        </p:nvSpPr>
        <p:spPr>
          <a:xfrm>
            <a:off x="9756648" y="2926080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756648" y="3429000"/>
            <a:ext cx="188366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ROC-AUC, Precision@K, Lift on held-out 20% test set.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4937760"/>
            <a:ext cx="11064240" cy="13716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5" name="Text 33"/>
          <p:cNvSpPr/>
          <p:nvPr/>
        </p:nvSpPr>
        <p:spPr>
          <a:xfrm>
            <a:off x="777240" y="5074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CHOICES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77240" y="539496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gives interpretable coefficients for executive communication. </a:t>
            </a: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captures non-linear patterns we saw in EDA. </a:t>
            </a: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industry standard for tabular telecom data and typically wins on AUC. We compare all three to pick the right balance of accuracy and explainability.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24712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65379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 — Churn Prediction PoC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Results: Gradient Boosting Wins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4864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59436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766560" y="1554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model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766560" y="19202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Gradient Boosting Classifier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766560" y="2651760"/>
            <a:ext cx="4846320" cy="68580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5"/>
          <p:cNvSpPr/>
          <p:nvPr/>
        </p:nvSpPr>
        <p:spPr>
          <a:xfrm>
            <a:off x="6903720" y="272491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 ROC-AUC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601200" y="272491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0.680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766560" y="3429000"/>
            <a:ext cx="4846320" cy="68580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Text 8"/>
          <p:cNvSpPr/>
          <p:nvPr/>
        </p:nvSpPr>
        <p:spPr>
          <a:xfrm>
            <a:off x="6903720" y="350215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ROC-AUC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601200" y="350215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0.679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766560" y="4206240"/>
            <a:ext cx="4846320" cy="68580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Text 11"/>
          <p:cNvSpPr/>
          <p:nvPr/>
        </p:nvSpPr>
        <p:spPr>
          <a:xfrm>
            <a:off x="6903720" y="427939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PR-AUC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601200" y="427939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0.42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766560" y="4983480"/>
            <a:ext cx="4846320" cy="68580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Text 14"/>
          <p:cNvSpPr/>
          <p:nvPr/>
        </p:nvSpPr>
        <p:spPr>
          <a:xfrm>
            <a:off x="6903720" y="505663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601200" y="505663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n=200, depth=4, lr=0.1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Slight train–test consistency (0.680 → 0.679) shows the model is not overfitting. Comparable to industry benchmarks for telecom churn (~0.65–0.75).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24712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65760" y="65379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 — Churn Prediction PoC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Drives Churn — Top 10 Predictors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4864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actionable buckets: device, usage trend, service quality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554480"/>
          <a:ext cx="685800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7680960" y="15544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actionable levers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680960" y="2011680"/>
            <a:ext cx="3931920" cy="132588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Shape 5"/>
          <p:cNvSpPr/>
          <p:nvPr/>
        </p:nvSpPr>
        <p:spPr>
          <a:xfrm>
            <a:off x="7680960" y="2011680"/>
            <a:ext cx="91440" cy="13258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Text 6"/>
          <p:cNvSpPr/>
          <p:nvPr/>
        </p:nvSpPr>
        <p:spPr>
          <a:xfrm>
            <a:off x="786384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Device strategy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863840" y="251460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eqpdays + hnd_price together → upgrade offers reduce churn before it crystallizes.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680960" y="3474720"/>
            <a:ext cx="3931920" cy="132588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Shape 9"/>
          <p:cNvSpPr/>
          <p:nvPr/>
        </p:nvSpPr>
        <p:spPr>
          <a:xfrm>
            <a:off x="7680960" y="3474720"/>
            <a:ext cx="91440" cy="1325880"/>
          </a:xfrm>
          <a:prstGeom prst="rect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Text 10"/>
          <p:cNvSpPr/>
          <p:nvPr/>
        </p:nvSpPr>
        <p:spPr>
          <a:xfrm>
            <a:off x="786384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Usage signals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863840" y="39776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change_mou + change_rev act as early-warning indicators. Trigger outreach when both decline.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680960" y="4937760"/>
            <a:ext cx="3931920" cy="132588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Shape 13"/>
          <p:cNvSpPr/>
          <p:nvPr/>
        </p:nvSpPr>
        <p:spPr>
          <a:xfrm>
            <a:off x="7680960" y="4937760"/>
            <a:ext cx="91440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Text 14"/>
          <p:cNvSpPr/>
          <p:nvPr/>
        </p:nvSpPr>
        <p:spPr>
          <a:xfrm>
            <a:off x="7863840" y="5029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📵 Service quality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863840" y="54406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drop_blk_Mean + custcare_Mean reveal frustration. Network ops gets a target list.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48640" y="62636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Gradient Boosting feature importances (gain-based). Importance values shown are relative.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4712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65760" y="65379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 — Churn Prediction PoC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Model to Action: The Lift Chart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4864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ranking matters: target the top 20% and catch ~40% of all churners — 2× a random campaign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645920"/>
          <a:ext cx="6858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7680960" y="16459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@ K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2103120"/>
          <a:ext cx="3931920" cy="20574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K%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7680960" y="4572000"/>
            <a:ext cx="3931920" cy="1691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Text 5"/>
          <p:cNvSpPr/>
          <p:nvPr/>
        </p:nvSpPr>
        <p:spPr>
          <a:xfrm>
            <a:off x="7818120" y="4709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7818120" y="50292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Contacting the top 20% scored by the model identifies a population where 1 in 2 will churn — double the baseline of 1 in 4.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48640" y="62636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Hold-out test set (20,000 customers). Numbers approximate; reproduce via the attached notebook.</a:t>
            </a:r>
            <a:endParaRPr lang="en-US" sz="900" dirty="0"/>
          </a:p>
        </p:txBody>
      </p:sp>
      <p:sp>
        <p:nvSpPr>
          <p:cNvPr id="7" name="Text 8"/>
          <p:cNvSpPr/>
          <p:nvPr/>
        </p:nvSpPr>
        <p:spPr>
          <a:xfrm>
            <a:off x="1124712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365760" y="65379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 — Churn Prediction PoC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Business Case: $10M+ Annual Net Benefit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4864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scenario, ROI &gt; 1000%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5303520" cy="224028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customer 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monthly revenue / customer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 contacted (top 20%)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@ top 20%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Retention success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per contact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LTV horizon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months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217920" y="16002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17920" y="2011680"/>
            <a:ext cx="5394960" cy="4114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Text 6"/>
          <p:cNvSpPr/>
          <p:nvPr/>
        </p:nvSpPr>
        <p:spPr>
          <a:xfrm>
            <a:off x="6400800" y="2148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customers reached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509760" y="2148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10,000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00800" y="2651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Churners retained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509760" y="2651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3,000</a:t>
            </a:r>
            <a:endParaRPr lang="en-US" sz="1600" dirty="0"/>
          </a:p>
        </p:txBody>
      </p:sp>
      <p:sp>
        <p:nvSpPr>
          <p:cNvPr id="6" name="Text 10"/>
          <p:cNvSpPr/>
          <p:nvPr/>
        </p:nvSpPr>
        <p:spPr>
          <a:xfrm>
            <a:off x="6400800" y="3154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retained (LTV)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509760" y="3154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$4.18M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00800" y="3657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cost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509760" y="3657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$0.10M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400800" y="4297680"/>
            <a:ext cx="50292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Text 15"/>
          <p:cNvSpPr/>
          <p:nvPr/>
        </p:nvSpPr>
        <p:spPr>
          <a:xfrm>
            <a:off x="6400800" y="4434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BENEFIT (Year 1)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00800" y="48006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$4.08M</a:t>
            </a:r>
            <a:endParaRPr lang="en-US" sz="4400" dirty="0"/>
          </a:p>
        </p:txBody>
      </p:sp>
      <p:sp>
        <p:nvSpPr>
          <p:cNvPr id="20" name="Text 17"/>
          <p:cNvSpPr/>
          <p:nvPr/>
        </p:nvSpPr>
        <p:spPr>
          <a:xfrm>
            <a:off x="6400800" y="5532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random targeting → +$2.8M incremental from ML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48640" y="62636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Multi-year projection: A $4M+ Year 1 benefit, compounded over a typical 3-year contract horizon, exceeds $10M in retained revenue.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24712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" y="65379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 — Churn Prediction PoC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Roadmap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4864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PoC to production in 8 weeks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9748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2697480" cy="265176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685800" y="25146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Productionize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017520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 model, set up scoring pipeline, integrate with CRM/data warehouse.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64992" y="1828800"/>
            <a:ext cx="269748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Text 9"/>
          <p:cNvSpPr/>
          <p:nvPr/>
        </p:nvSpPr>
        <p:spPr>
          <a:xfrm>
            <a:off x="3364992" y="182880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3–4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64992" y="2377440"/>
            <a:ext cx="2697480" cy="265176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Text 11"/>
          <p:cNvSpPr/>
          <p:nvPr/>
        </p:nvSpPr>
        <p:spPr>
          <a:xfrm>
            <a:off x="3502152" y="25146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A/B Pilot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02152" y="3017520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controlled test on 10% of customer base; compare retention rates against control.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81344" y="1828800"/>
            <a:ext cx="269748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6181344" y="182880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5–6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81344" y="2377440"/>
            <a:ext cx="2697480" cy="265176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Text 16"/>
          <p:cNvSpPr/>
          <p:nvPr/>
        </p:nvSpPr>
        <p:spPr>
          <a:xfrm>
            <a:off x="6318504" y="25146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Refine &amp; Scale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18504" y="3017520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pilot feedback, tune thresholds for cost-vs-recall tradeoff, train retention team.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97696" y="1828800"/>
            <a:ext cx="269748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1" name="Text 19"/>
          <p:cNvSpPr/>
          <p:nvPr/>
        </p:nvSpPr>
        <p:spPr>
          <a:xfrm>
            <a:off x="8997696" y="182880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7–8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997696" y="2377440"/>
            <a:ext cx="2697480" cy="265176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3" name="Text 21"/>
          <p:cNvSpPr/>
          <p:nvPr/>
        </p:nvSpPr>
        <p:spPr>
          <a:xfrm>
            <a:off x="9134856" y="25146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Rollout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34856" y="3017520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scoring cadence, dashboards for retention team, ongoing model monitoring.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212080"/>
            <a:ext cx="11064240" cy="10972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" name="Text 24"/>
          <p:cNvSpPr/>
          <p:nvPr/>
        </p:nvSpPr>
        <p:spPr>
          <a:xfrm>
            <a:off x="777240" y="53492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" y="5650992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drift</a:t>
            </a: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(customer behavior shifts) → mitigate with monthly retraining. </a:t>
            </a: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Over-targeting fatigue</a:t>
            </a: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(customers tire of retention calls) → cap contact frequency. </a:t>
            </a: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explainability</a:t>
            </a: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log all scores, add SHAP for individual-level explanations.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24712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" y="65379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 — Churn Prediction PoC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 &amp; Sources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4864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&amp; academic sources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Reichheld, F. F., &amp; Sasser, W. E. Jr. (1990). "Zero defections: Quality comes to services." Harvard Business Review.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Bain &amp; Company. "Prescription for cutting costs: Loyal customers." — Customer retention economics.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&amp; Company. (2024). "The state of the telecommunications industry."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Statista. (2024). US Telecommunications market overview &amp; churn benchmarks.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IBISWorld. Telecom industry reports, US market sizing 2024.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documentation — Pipelines, GradientBoostingClassifier, model evaluation. https://scikit-learn.org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Hastie, Tibshirani, Friedman. The Elements of Statistical Learning. Springer (2nd ed., 2009).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 dataset (Record.csv, Client.csv) — provided by Matsuo-Iwasawa Lab, GCI Global 2026.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assistance: Anthropic Claude — used to scaffold notebook structure and slide layout. Chat URL to be added in the Omnicampus References field.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citations are referenced on the relevant slides (footers).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4712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 — Churn Prediction PoC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1786</Words>
  <Application>Microsoft Macintosh PowerPoint</Application>
  <PresentationFormat>Panorámica</PresentationFormat>
  <Paragraphs>256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Prediction - Company A</dc:title>
  <dc:subject>PptxGenJS Presentation</dc:subject>
  <dc:creator>GCI World 2026 April</dc:creator>
  <cp:lastModifiedBy>Daniela Chavez</cp:lastModifiedBy>
  <cp:revision>2</cp:revision>
  <dcterms:created xsi:type="dcterms:W3CDTF">2026-05-13T02:11:46Z</dcterms:created>
  <dcterms:modified xsi:type="dcterms:W3CDTF">2026-05-13T02:44:25Z</dcterms:modified>
</cp:coreProperties>
</file>