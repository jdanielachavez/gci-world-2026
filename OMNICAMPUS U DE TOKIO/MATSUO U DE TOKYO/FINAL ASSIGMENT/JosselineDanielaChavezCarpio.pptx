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68FAF"/>
                </a:solidFill>
                <a:latin typeface="Calibri"/>
              </a:rPr>
              <a:t>GCI WORLD 2026 APRIL  ·  FINAL ASSIGNMENT  ·  PoC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Turning Customer Data into Retained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8F1F5"/>
                </a:solidFill>
                <a:latin typeface="Calibri"/>
              </a:rPr>
              <a:t>A machine-learning churn-prevention proposal for Company A (Telecom)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Prepared by:  Daniela Chavez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C757D"/>
                </a:solidFill>
                <a:latin typeface="Calibri"/>
              </a:rPr>
              <a:t>IT Consulting — Data Science Associate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C757D"/>
                </a:solidFill>
                <a:latin typeface="Calibri"/>
              </a:rPr>
              <a:t>Matsuo–Iwasawa Laboratory, The University of Tokyo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THE BOTTOM LINE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B2545"/>
                </a:solidFill>
                <a:latin typeface="Calibri"/>
              </a:rPr>
              <a:t>Company A loses nearly half its customers. A data-driven, ML-targeted retention program can recover ~$6M in revenue at almost no incremental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2606040" cy="1554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260604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63946"/>
                </a:solidFill>
                <a:latin typeface="Calibri"/>
              </a:rPr>
              <a:t>49.6%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6C757D"/>
                </a:solidFill>
                <a:latin typeface="Calibri"/>
              </a:rPr>
              <a:t>Customer churn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468880"/>
            <a:ext cx="2606040" cy="1554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468880"/>
            <a:ext cx="260604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633472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9D8F"/>
                </a:solidFill>
                <a:latin typeface="Calibri"/>
              </a:rPr>
              <a:t>0.69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5643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6C757D"/>
                </a:solidFill>
                <a:latin typeface="Calibri"/>
              </a:rPr>
              <a:t>Model 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468880"/>
            <a:ext cx="2606040" cy="1554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468880"/>
            <a:ext cx="260604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633472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C7DA0"/>
                </a:solidFill>
                <a:latin typeface="Calibri"/>
              </a:rPr>
              <a:t>1.67x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45643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6C757D"/>
                </a:solidFill>
                <a:latin typeface="Calibri"/>
              </a:rPr>
              <a:t>Lift in top 5% at-risk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468880"/>
            <a:ext cx="2606040" cy="1554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468880"/>
            <a:ext cx="260604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633472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B2545"/>
                </a:solidFill>
                <a:latin typeface="Calibri"/>
              </a:rPr>
              <a:t>$6.0M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5643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6C757D"/>
                </a:solidFill>
                <a:latin typeface="Calibri"/>
              </a:rPr>
              <a:t>Net benefit (24-mo)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Problem:  </a:t>
            </a:r>
            <a:r>
              <a:rPr sz="1500" b="0">
                <a:solidFill>
                  <a:srgbClr val="212529"/>
                </a:solidFill>
                <a:latin typeface="Calibri"/>
              </a:rPr>
              <a:t>≈49.6% of ~100,000 customers churn within the 31–60 day window — a major recurring revenue leak.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Solution:  </a:t>
            </a:r>
            <a:r>
              <a:rPr sz="1500" b="0">
                <a:solidFill>
                  <a:srgbClr val="212529"/>
                </a:solidFill>
                <a:latin typeface="Calibri"/>
              </a:rPr>
              <a:t>A monthly churn-risk scoring engine ranks customers so the retention team targets the highest-risk segment first.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Evidence:  </a:t>
            </a:r>
            <a:r>
              <a:rPr sz="1500" b="0">
                <a:solidFill>
                  <a:srgbClr val="212529"/>
                </a:solidFill>
                <a:latin typeface="Calibri"/>
              </a:rPr>
              <a:t>Gradient Boosting (ROC-AUC 0.69) identifies churners 1.5–1.7× better than random targeting.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Impact:  </a:t>
            </a:r>
            <a:r>
              <a:rPr sz="1500" b="0">
                <a:solidFill>
                  <a:srgbClr val="212529"/>
                </a:solidFill>
                <a:latin typeface="Calibri"/>
              </a:rPr>
              <a:t>Targeting the top 20% yields ~$6.0M net benefit and ~$2.0M more than untargeted outreach.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Market Context: Why Churn Is the Battleground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US telecom is a ~$650B market </a:t>
            </a:r>
            <a:r>
              <a:rPr sz="1500" b="0">
                <a:solidFill>
                  <a:srgbClr val="212529"/>
                </a:solidFill>
                <a:latin typeface="Calibri"/>
              </a:rPr>
              <a:t>[1] — mature, saturated, and fiercely competitive.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Annual churn averages 20–30% </a:t>
            </a:r>
            <a:r>
              <a:rPr sz="1500" b="0">
                <a:solidFill>
                  <a:srgbClr val="212529"/>
                </a:solidFill>
                <a:latin typeface="Calibri"/>
              </a:rPr>
              <a:t>across wireless carriers [2]; acquisition is largely zero-sum.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Acquiring a new customer costs 5–7× </a:t>
            </a:r>
            <a:r>
              <a:rPr sz="1500" b="0">
                <a:solidFill>
                  <a:srgbClr val="212529"/>
                </a:solidFill>
                <a:latin typeface="Calibri"/>
              </a:rPr>
              <a:t>more than retaining an existing one [3].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A 5% lift in retention can raise profits 25–95% </a:t>
            </a:r>
            <a:r>
              <a:rPr sz="1500" b="0">
                <a:solidFill>
                  <a:srgbClr val="212529"/>
                </a:solidFill>
                <a:latin typeface="Calibri"/>
              </a:rPr>
              <a:t>(Reichheld &amp; Sasser) [4].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Implication: </a:t>
            </a:r>
            <a:r>
              <a:rPr sz="1500" b="0">
                <a:solidFill>
                  <a:srgbClr val="212529"/>
                </a:solidFill>
                <a:latin typeface="Calibri"/>
              </a:rPr>
              <a:t>with little room to grow the pie, defending the existing base is the highest-ROI lever available to Company 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463040"/>
            <a:ext cx="4937760" cy="4206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463040"/>
            <a:ext cx="493776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THE RETENTION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3172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63946"/>
                </a:solidFill>
                <a:latin typeface="Calibri"/>
              </a:rPr>
              <a:t>5–7×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004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cost to acquire vs. retain a 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93192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A9D8F"/>
                </a:solidFill>
                <a:latin typeface="Calibri"/>
              </a:rPr>
              <a:t>25–95%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75488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potential profit increase from a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5% improvement in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Sources: [1] IBISWorld/Statista 2024  ·  [2] McKinsey Telecom  ·  [3] HBR  ·  [4] Bain &amp; Co. — full list on References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PROOF OF CONCEPT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Data We Were Given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Two tables, joined on Customer_ID:</a:t>
            </a:r>
            <a:r>
              <a:rPr sz="1500" b="0">
                <a:solidFill>
                  <a:srgbClr val="212529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  • Client.csv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100,000 customers × 50 demographic/account columns.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  • Record.csv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100,000 rows × 51 usage/behavioral columns.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Merged view: </a:t>
            </a:r>
            <a:r>
              <a:rPr sz="1500" b="0">
                <a:solidFill>
                  <a:srgbClr val="212529"/>
                </a:solidFill>
                <a:latin typeface="Calibri"/>
              </a:rPr>
              <a:t>100,000 customers × 100 features.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Target variable: </a:t>
            </a:r>
            <a:r>
              <a:rPr sz="1500" b="0">
                <a:solidFill>
                  <a:srgbClr val="212529"/>
                </a:solidFill>
                <a:latin typeface="Calibri"/>
              </a:rPr>
              <a:t>churn (1 = left within 31–60 days, 0 = stayed).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Real-world messiness: </a:t>
            </a:r>
            <a:r>
              <a:rPr sz="1500" b="0">
                <a:solidFill>
                  <a:srgbClr val="212529"/>
                </a:solidFill>
                <a:latin typeface="Calibri"/>
              </a:rPr>
              <a:t>many columns have missing values and ambiguous definitions — handled explicitly in preprocessing.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417320"/>
            <a:ext cx="5029200" cy="44805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FEATURE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1488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Usage: </a:t>
            </a:r>
            <a:r>
              <a:rPr sz="1350" b="0">
                <a:solidFill>
                  <a:srgbClr val="212529"/>
                </a:solidFill>
                <a:latin typeface="Calibri"/>
              </a:rPr>
              <a:t>minutes of use, calls placed/received, peak vs off-peak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Revenue: </a:t>
            </a:r>
            <a:r>
              <a:rPr sz="1350" b="0">
                <a:solidFill>
                  <a:srgbClr val="212529"/>
                </a:solidFill>
                <a:latin typeface="Calibri"/>
              </a:rPr>
              <a:t>monthly charge, overage, billing-adjusted totals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Service quality: </a:t>
            </a:r>
            <a:r>
              <a:rPr sz="1350" b="0">
                <a:solidFill>
                  <a:srgbClr val="212529"/>
                </a:solidFill>
                <a:latin typeface="Calibri"/>
              </a:rPr>
              <a:t>dropped / blocked / unanswered calls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Equipment: </a:t>
            </a:r>
            <a:r>
              <a:rPr sz="1350" b="0">
                <a:solidFill>
                  <a:srgbClr val="212529"/>
                </a:solidFill>
                <a:latin typeface="Calibri"/>
              </a:rPr>
              <a:t>handset price, equipment age, web capability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Account: </a:t>
            </a:r>
            <a:r>
              <a:rPr sz="1350" b="0">
                <a:solidFill>
                  <a:srgbClr val="212529"/>
                </a:solidFill>
                <a:latin typeface="Calibri"/>
              </a:rPr>
              <a:t>tenure (months), # subscribers, credit class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Demographics: </a:t>
            </a:r>
            <a:r>
              <a:rPr sz="1350" b="0">
                <a:solidFill>
                  <a:srgbClr val="212529"/>
                </a:solidFill>
                <a:latin typeface="Calibri"/>
              </a:rPr>
              <a:t>income, region, dwelling, household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Source: Company A PoC dataset (anonymized telecom provider), provided in course materials.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Finding 1: Half the Base Is Walking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01_chur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315200" cy="27606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2440" y="1554480"/>
            <a:ext cx="3611880" cy="4206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2440" y="1554480"/>
            <a:ext cx="361188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SO WHAT?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▪  49.6% churn is extreme — almost a coin-flip on every customer.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▪  Even a small, well-targeted reduction protects millions in recurring revenue.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▪  The base is balanced, so the modeling challenge is ranking risk, not finding a rare event.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Analysis of merged Company A dataset (n = 100,000).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Finding 2: What Separates Churners From Stayers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02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035040" cy="3304253"/>
          </a:xfrm>
          <a:prstGeom prst="rect">
            <a:avLst/>
          </a:prstGeom>
        </p:spPr>
      </p:pic>
      <p:pic>
        <p:nvPicPr>
          <p:cNvPr id="8" name="Picture 7" descr="03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394960" cy="19775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572000"/>
            <a:ext cx="5394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12529"/>
                </a:solidFill>
                <a:latin typeface="Calibri"/>
              </a:rPr>
              <a:t>Equipment age and handset price are the strongest signals: customers on older, cheaper phones — and those with declining usage — are the most likely to leave. These map directly to actionable retention offers (device upgrades, loyalty perks).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Left: top correlations with churn. Right: distributions of equipment age and tenure by churn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FROM INSIGHT TO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 Definition &amp; ML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20116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BUSINESS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212529"/>
                </a:solidFill>
                <a:latin typeface="Calibri"/>
              </a:rPr>
              <a:t>Reduce revenue lost to churn by identifying — in advance — which customers are about to leave, so retention can act before they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486400" cy="20116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MACHINE-LEARNING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212529"/>
                </a:solidFill>
                <a:latin typeface="Calibri"/>
              </a:rPr>
              <a:t>Binary classification of churn, optimized to RANK customers by risk probability rather than to label them yes/no.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Calibri"/>
              </a:rPr>
              <a:t>Why this framing?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Target = churn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directly ties to the client's core profitability problem (validated in EDA).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Metric = ROC-AUC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measures how well we RANK risk; insensitive to threshold, ideal when the plan is to contact a top-N list.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Ranking &gt; hard labels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the retention budget is finite, so we prioritize the customers most likely to churn AND worth saving.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HOW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Modeling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Preprocessing pipeline (leak-free):</a:t>
            </a:r>
            <a:r>
              <a:rPr sz="1400" b="0">
                <a:solidFill>
                  <a:srgbClr val="212529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  • Numeric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median imputation + standardization.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  • Categorical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most-frequent imputation + one-hot encoding.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  • Dropped </a:t>
            </a:r>
            <a:r>
              <a:rPr sz="1400" b="0">
                <a:solidFill>
                  <a:srgbClr val="212529"/>
                </a:solidFill>
                <a:latin typeface="Calibri"/>
              </a:rPr>
              <a:t>high-cardinality / identifier columns.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Feature engineering:</a:t>
            </a:r>
            <a:r>
              <a:rPr sz="1400" b="0">
                <a:solidFill>
                  <a:srgbClr val="212529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  • failure_ratio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dropped+blocked ÷ attempted calls (service quality).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  • rev_per_minute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revenue efficiency.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  • custcare_intensity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support-call rate (dissatisfaction proxy).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Validation: </a:t>
            </a:r>
            <a:r>
              <a:rPr sz="1400" b="0">
                <a:solidFill>
                  <a:srgbClr val="212529"/>
                </a:solidFill>
                <a:latin typeface="Calibri"/>
              </a:rPr>
              <a:t>stratified 80/20 split + 5-fold cross-validation, fixed random seed (reproducible).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5623560" cy="44805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MODELS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Logistic Regression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interpretable, transparent baseline.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Decision Tree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captures simple non-linear rules.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Gradient Boosting </a:t>
            </a:r>
            <a:r>
              <a:rPr sz="1400" b="0">
                <a:solidFill>
                  <a:srgbClr val="212529"/>
                </a:solidFill>
                <a:latin typeface="Calibri"/>
              </a:rPr>
              <a:t>— ensemble of trees; strongest on tabular telecom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16052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12529"/>
                </a:solidFill>
                <a:latin typeface="Calibri"/>
              </a:rPr>
              <a:t>Each model handles class balance and is scored on identical folds, so the comparison is apples-to-apples.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Reproducible analysis in accompanying notebook (.ipynb).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Results: Gradient Boosting Is the Clear Winner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04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387012"/>
          </a:xfrm>
          <a:prstGeom prst="rect">
            <a:avLst/>
          </a:prstGeom>
        </p:spPr>
      </p:pic>
      <p:pic>
        <p:nvPicPr>
          <p:cNvPr id="8" name="Picture 7" descr="05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4023360" cy="37060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5896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Calibri"/>
              </a:rPr>
              <a:t>Model: Gradient Boosting Classifier   ·   Metric: ROC-AUC   ·   Score: 0.69 (test)   —   ~38% better than a random baseline (0.50).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5-fold CV: LogReg 0.629, Decision Tree 0.641, Gradient Boosting 0.690. Held-out test AUC: 0.690.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OPERATIONALIZING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Prediction to Action: Who to Call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06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27919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83879" y="1554480"/>
            <a:ext cx="3520440" cy="4206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554480"/>
            <a:ext cx="352044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READING THE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4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Top 5%: </a:t>
            </a:r>
            <a:r>
              <a:rPr sz="1350" b="0">
                <a:solidFill>
                  <a:srgbClr val="212529"/>
                </a:solidFill>
                <a:latin typeface="Calibri"/>
              </a:rPr>
              <a:t>83% are real churners — 1.67× better than random.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Top 20%: </a:t>
            </a:r>
            <a:r>
              <a:rPr sz="1350" b="0">
                <a:solidFill>
                  <a:srgbClr val="212529"/>
                </a:solidFill>
                <a:latin typeface="Calibri"/>
              </a:rPr>
              <a:t>73% precision, capturing ~29% of all churners.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212529"/>
                </a:solidFill>
                <a:latin typeface="Calibri"/>
              </a:rPr>
              <a:t>▪  Takeaway: </a:t>
            </a:r>
            <a:r>
              <a:rPr sz="1350" b="0">
                <a:solidFill>
                  <a:srgbClr val="212529"/>
                </a:solidFill>
                <a:latin typeface="Calibri"/>
              </a:rPr>
              <a:t>a small, focused campaign captures a large share of churn risk cheaply.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Lift and precision/recall computed on the 20,000-customer held-out test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RECOMMENDED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Proposal: A Monthly Churn-Risk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2286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611880" cy="548640"/>
          </a:xfrm>
          <a:prstGeom prst="rect">
            <a:avLst/>
          </a:prstGeom>
          <a:solidFill>
            <a:srgbClr val="2C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1. 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Every month, score all customers 0–1 for churn risk using the Gradient Boosting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1" y="1463040"/>
            <a:ext cx="3611880" cy="2286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1" y="1463040"/>
            <a:ext cx="3611880" cy="548640"/>
          </a:xfrm>
          <a:prstGeom prst="rect">
            <a:avLst/>
          </a:prstGeom>
          <a:solidFill>
            <a:srgbClr val="468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1" y="1481328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2.  RANK &amp;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1" y="2194560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Send the retention team a ranked list; focus on the top 20% highest-risk customers.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2" y="1463040"/>
            <a:ext cx="3611880" cy="2286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2" y="1463040"/>
            <a:ext cx="361188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2" y="1481328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3.  INTERVENE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2" y="2194560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Trigger tailored offers — device upgrades, loyalty discounts, proactive support — by risk driver.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Calibri"/>
              </a:rPr>
              <a:t>Why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Targets the right people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EDA-validated drivers (old handsets, declining usage) map to concrete offers.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Fits existing operations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plugs into the current retention team; no new infrastructure needed for the PoC.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Spends efficiently </a:t>
            </a:r>
            <a:r>
              <a:rPr sz="1500" b="0">
                <a:solidFill>
                  <a:srgbClr val="212529"/>
                </a:solidFill>
                <a:latin typeface="Calibri"/>
              </a:rPr>
              <a:t>— contacting 20% instead of 100% cuts campaign cost 5× while keeping most of the upside.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Quantified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07_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583680" cy="3604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1417320"/>
            <a:ext cx="4389120" cy="44805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60020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TOP-20% CAMPAIGN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0312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20,000 </a:t>
            </a:r>
            <a:r>
              <a:rPr sz="1400" b="0">
                <a:solidFill>
                  <a:srgbClr val="212529"/>
                </a:solidFill>
                <a:latin typeface="Calibri"/>
              </a:rPr>
              <a:t>customers contacted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73% </a:t>
            </a:r>
            <a:r>
              <a:rPr sz="1400" b="0">
                <a:solidFill>
                  <a:srgbClr val="212529"/>
                </a:solidFill>
                <a:latin typeface="Calibri"/>
              </a:rPr>
              <a:t>precision → 14,560 churners reached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30% </a:t>
            </a:r>
            <a:r>
              <a:rPr sz="1400" b="0">
                <a:solidFill>
                  <a:srgbClr val="212529"/>
                </a:solidFill>
                <a:latin typeface="Calibri"/>
              </a:rPr>
              <a:t>save rate → ~4,368 retained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$58.72 </a:t>
            </a:r>
            <a:r>
              <a:rPr sz="1400" b="0">
                <a:solidFill>
                  <a:srgbClr val="212529"/>
                </a:solidFill>
                <a:latin typeface="Calibri"/>
              </a:rPr>
              <a:t>avg monthly revenue / customer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212529"/>
                </a:solidFill>
                <a:latin typeface="Calibri"/>
              </a:rPr>
              <a:t>▪  24-month </a:t>
            </a:r>
            <a:r>
              <a:rPr sz="1400" b="0">
                <a:solidFill>
                  <a:srgbClr val="212529"/>
                </a:solidFill>
                <a:latin typeface="Calibri"/>
              </a:rPr>
              <a:t>lifetime-value horizon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5074920"/>
            <a:ext cx="4389120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5120640"/>
            <a:ext cx="4389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$6.0M net benefit  ·  +$2.0M vs. 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C757D"/>
                </a:solidFill>
                <a:latin typeface="Calibri"/>
              </a:rPr>
              <a:t>Assumptions: 30% campaign success, $5/contact, 24-mo LTV, avg revenue from data. Conservative, stated for transparency.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FROM POC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Next Steps &amp;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Calibri"/>
              </a:rPr>
              <a:t>Phased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Phase 1 (0–1 mo): </a:t>
            </a:r>
            <a:r>
              <a:rPr sz="1500" b="0">
                <a:solidFill>
                  <a:srgbClr val="212529"/>
                </a:solidFill>
                <a:latin typeface="Calibri"/>
              </a:rPr>
              <a:t>A/B test the top-20% campaign on a hold-out segment to measure true save-rate.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Phase 2 (1–3 mo): </a:t>
            </a:r>
            <a:r>
              <a:rPr sz="1500" b="0">
                <a:solidFill>
                  <a:srgbClr val="212529"/>
                </a:solidFill>
                <a:latin typeface="Calibri"/>
              </a:rPr>
              <a:t>Feed results back; tune offers by churn driver; add SHAP for per-customer explanations.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Phase 3 (3–6 mo): </a:t>
            </a:r>
            <a:r>
              <a:rPr sz="1500" b="0">
                <a:solidFill>
                  <a:srgbClr val="212529"/>
                </a:solidFill>
                <a:latin typeface="Calibri"/>
              </a:rPr>
              <a:t>Automate monthly scoring; try XGBoost/LightGBM &amp; uplift modeling; retrain to counter drift.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Calibri"/>
              </a:rPr>
              <a:t>Risks &amp; mitigations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Model drift </a:t>
            </a:r>
            <a:r>
              <a:rPr sz="1500" b="0">
                <a:solidFill>
                  <a:srgbClr val="212529"/>
                </a:solidFill>
                <a:latin typeface="Calibri"/>
              </a:rPr>
              <a:t>→ scheduled monthly retraining.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Save-rate uncertainty </a:t>
            </a:r>
            <a:r>
              <a:rPr sz="1500" b="0">
                <a:solidFill>
                  <a:srgbClr val="212529"/>
                </a:solidFill>
                <a:latin typeface="Calibri"/>
              </a:rPr>
              <a:t>→ validate via controlled A/B test before scaling.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Offer cannibalization </a:t>
            </a:r>
            <a:r>
              <a:rPr sz="1500" b="0">
                <a:solidFill>
                  <a:srgbClr val="212529"/>
                </a:solidFill>
                <a:latin typeface="Calibri"/>
              </a:rPr>
              <a:t>→ cap discounts; target by risk driver, not blanket.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12529"/>
                </a:solidFill>
                <a:latin typeface="Calibri"/>
              </a:rPr>
              <a:t>▪  Data quality / privacy </a:t>
            </a:r>
            <a:r>
              <a:rPr sz="1500" b="0">
                <a:solidFill>
                  <a:srgbClr val="212529"/>
                </a:solidFill>
                <a:latin typeface="Calibri"/>
              </a:rPr>
              <a:t>→ governance review; the model uses only provided, consented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5"/>
                </a:solidFill>
                <a:latin typeface="Calibri"/>
              </a:rPr>
              <a:t>SOURCES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57D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[1] IBISWorld / Statista (2024). U.S. Wireless Telecommunications Carriers — Market Size.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[2] McKinsey &amp; Company. Reducing churn in telecom through advanced analytics.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[3] Harvard Business Review. The Value of Keeping the Right Customers (Gallo, 2014).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[4] Reichheld, F. &amp; Sasser, W. E. Zero Defections: Quality Comes to Services, HBR; Bain &amp; Company.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[5] Dataset: Company A (anonymized telecom) PoC dataset — GCI World 2026 course materials.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[6] Pedregosa et al. (2011). Scikit-learn: Machine Learning in Python. JMLR 12.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[7] Friedman, J. (2001). Greedy Function Approximation: A Gradient Boosting Machine. Annals of Statistics.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[8] Course lecture notebooks, Matsuo–Iwasawa Lab (GCI World 2026 April).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C757D"/>
                </a:solidFill>
                <a:latin typeface="Calibri"/>
              </a:rPr>
              <a:t>Generative AI (Claude, Anthropic) was used to assist with structuring and visualization; chat URL listed in the Omnicampus References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